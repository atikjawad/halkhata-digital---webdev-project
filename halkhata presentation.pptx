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8" r:id="rId2"/>
    <p:sldId id="257" r:id="rId3"/>
    <p:sldId id="259" r:id="rId4"/>
    <p:sldId id="260" r:id="rId5"/>
    <p:sldId id="262" r:id="rId6"/>
    <p:sldId id="261" r:id="rId7"/>
    <p:sldId id="263" r:id="rId8"/>
    <p:sldId id="264" r:id="rId9"/>
    <p:sldId id="266" r:id="rId10"/>
    <p:sldId id="267" r:id="rId11"/>
    <p:sldId id="268" r:id="rId12"/>
    <p:sldId id="265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6E3"/>
    <a:srgbClr val="1A472A"/>
    <a:srgbClr val="FBF4E2"/>
    <a:srgbClr val="40916C"/>
    <a:srgbClr val="FEFDF0"/>
    <a:srgbClr val="F4F6E3"/>
    <a:srgbClr val="1BA4B7"/>
    <a:srgbClr val="EDEB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2326" autoAdjust="0"/>
  </p:normalViewPr>
  <p:slideViewPr>
    <p:cSldViewPr snapToGrid="0">
      <p:cViewPr varScale="1">
        <p:scale>
          <a:sx n="101" d="100"/>
          <a:sy n="101" d="100"/>
        </p:scale>
        <p:origin x="8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238DF-C69B-4AB9-B8CA-845F06FECF8D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6B2BA2-87DC-4869-8DCA-6B7605AFB60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430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445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417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51956-434E-0730-CF1E-0001668EA3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B15581-84FE-7DBE-E127-5F8A779FDB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ADFD7-4F55-4F40-3BE7-002B16166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11E29-027F-87A9-A4F1-D620666B6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989D5-15D2-4768-E47A-2D40B1C06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0D61D-D7D6-4098-A7BD-47CDD72B6E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8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D5775-2399-87AA-CA39-C7EABB75E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C3D3C-F6DF-B1ED-8A39-4CCAB3EC8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C3A97-4843-A5FD-C077-3C056D93F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DEBE5-BA16-D180-A945-C9E2DA958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9154E-6B51-E9A1-4C8B-1AEF14C97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0D61D-D7D6-4098-A7BD-47CDD72B6E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884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7F041-03E0-B9C4-F297-82551A630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6B506-0408-7F32-CB9F-3B08CB407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B7746-1B82-FB10-B3E5-789EF3835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87E7E-96AF-183D-900D-93BA95083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FD2B9-8A44-F8EB-D24A-258FF69BF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0D61D-D7D6-4098-A7BD-47CDD72B6E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85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29427-CA7E-37C4-0225-3E1D78341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00EEE-3E35-D29C-7C09-AAC0EC455E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E4C0FF-0322-DA69-7326-A758E2C46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BEAE9-F2F1-AE9A-8B86-005A5251A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32B86B-D892-ADAA-2167-0459EE3FD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97142-A519-1C50-11F0-CD32089C9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0D61D-D7D6-4098-A7BD-47CDD72B6E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21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D8E9B-4851-6D27-B46A-75469FD50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DDDF8-456F-685E-C59E-C562B7A8F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7578BC-BB98-B4DF-C74D-7283FF182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AF5636-2D48-A0F2-763C-D50AC0FC8E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4BB594-0EE6-FC1F-85BC-41412F4F2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88B229-1642-73AA-ECDE-F91E7D808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CA8724-159B-77E6-56DB-190FCAE8E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7ADCA8-CF27-F9F8-791C-7A99365A9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0D61D-D7D6-4098-A7BD-47CDD72B6E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163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A6CB6-63F2-5DEE-E688-C43EDC5D1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67B2F2-4D26-0626-5D25-7C2708AB3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149EE6-5F44-82A0-F4D2-56E69FAC5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9B7DDD-950B-A028-BEF1-C85C47DDD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0D61D-D7D6-4098-A7BD-47CDD72B6E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750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AF42ED-CB5C-24F7-21E0-6ABA50837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13C63B-B153-E78D-B850-36FAC065B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ED2DC-A3BF-AB99-E949-0FF99110D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0D61D-D7D6-4098-A7BD-47CDD72B6E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922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E335D-D97F-4A2E-9DDE-FABDFED68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B176D-9611-5596-0966-2F0EB7C43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1DA4F4-84B1-9156-27CB-FEFC51680F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0FB7FB-7C91-E57C-18FE-15BD5194E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029697-D92C-BCE7-3896-4C8B08DE9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C96CC-BE65-D529-11C6-E20058096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0D61D-D7D6-4098-A7BD-47CDD72B6E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424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0570E-B9D5-3F04-F0BF-F34702EC2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EE0275-8819-CBBF-2BC7-C6BC068F94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B1CCF6-4EFD-C7FE-C325-814142F617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69B1F5-7BC1-B5A5-204F-EFC3D95D0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85309D-50B0-7A05-024B-3EF965DFA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CB841E-582B-6402-5C8E-6FD88D742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0D61D-D7D6-4098-A7BD-47CDD72B6E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763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D1452-CA2D-0A8D-F605-6466C82C0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E20643-F519-5354-342F-37BB18BBDC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401EC-3A80-7FCB-4A26-1DCD6BCEF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F6602-F7FB-5001-9CA3-6F8ECD89A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0C173-8F40-76AE-989D-5BA1A6687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0D61D-D7D6-4098-A7BD-47CDD72B6E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407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EF2DA1-E57B-FC08-2B71-67AAFD01B7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F49E3-E900-A517-D1E5-D962E016EC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2826-C1EA-B272-9C6D-C6CC3A76F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687DE-59AB-4C27-5777-7EDC79EFB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0BE92-1B13-2CE8-FA60-4BDF41C1F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0D61D-D7D6-4098-A7BD-47CDD72B6E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139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3803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160ADB-3D44-EB5A-B609-03BFC353E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F57814-9B1B-224D-9B1E-8E7AB961B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60B34-E082-7B2F-13FF-3AE07B4142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8ED21-F491-055C-0392-C1EAF0DB93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14627-F51C-83DE-812D-0ADEB5BB78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B0D61D-D7D6-4098-A7BD-47CDD72B6E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809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svg"/><Relationship Id="rId3" Type="http://schemas.openxmlformats.org/officeDocument/2006/relationships/image" Target="../media/image28.png"/><Relationship Id="rId7" Type="http://schemas.openxmlformats.org/officeDocument/2006/relationships/image" Target="../media/image39.png"/><Relationship Id="rId12" Type="http://schemas.openxmlformats.org/officeDocument/2006/relationships/image" Target="../media/image4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11" Type="http://schemas.openxmlformats.org/officeDocument/2006/relationships/image" Target="../media/image43.sv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46.png"/><Relationship Id="rId7" Type="http://schemas.openxmlformats.org/officeDocument/2006/relationships/image" Target="../media/image3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11" Type="http://schemas.openxmlformats.org/officeDocument/2006/relationships/image" Target="../media/image49.png"/><Relationship Id="rId5" Type="http://schemas.openxmlformats.org/officeDocument/2006/relationships/image" Target="../media/image37.png"/><Relationship Id="rId10" Type="http://schemas.openxmlformats.org/officeDocument/2006/relationships/image" Target="../media/image19.png"/><Relationship Id="rId4" Type="http://schemas.openxmlformats.org/officeDocument/2006/relationships/image" Target="../media/image47.png"/><Relationship Id="rId9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18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2.png"/><Relationship Id="rId3" Type="http://schemas.openxmlformats.org/officeDocument/2006/relationships/image" Target="../media/image25.png"/><Relationship Id="rId7" Type="http://schemas.openxmlformats.org/officeDocument/2006/relationships/image" Target="../media/image57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5" Type="http://schemas.openxmlformats.org/officeDocument/2006/relationships/image" Target="../media/image64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9.png"/><Relationship Id="rId11" Type="http://schemas.openxmlformats.org/officeDocument/2006/relationships/image" Target="../media/image63.png"/><Relationship Id="rId5" Type="http://schemas.openxmlformats.org/officeDocument/2006/relationships/image" Target="../media/image58.png"/><Relationship Id="rId10" Type="http://schemas.openxmlformats.org/officeDocument/2006/relationships/image" Target="../media/image62.png"/><Relationship Id="rId4" Type="http://schemas.openxmlformats.org/officeDocument/2006/relationships/image" Target="../media/image57.png"/><Relationship Id="rId9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3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65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CB1CC-FF87-B2DA-334F-A4CD16FBE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B4DCA51A-0A30-8F71-781A-5601E538D691}"/>
              </a:ext>
            </a:extLst>
          </p:cNvPr>
          <p:cNvSpPr/>
          <p:nvPr/>
        </p:nvSpPr>
        <p:spPr>
          <a:xfrm>
            <a:off x="10831653" y="-3412797"/>
            <a:ext cx="5486400" cy="5486400"/>
          </a:xfrm>
          <a:prstGeom prst="ellipse">
            <a:avLst/>
          </a:prstGeom>
          <a:solidFill>
            <a:srgbClr val="FDF6E3">
              <a:alpha val="44706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6D5FBFB3-FAD7-C0C8-C40C-0DBEDCDD78CC}"/>
              </a:ext>
            </a:extLst>
          </p:cNvPr>
          <p:cNvSpPr/>
          <p:nvPr/>
        </p:nvSpPr>
        <p:spPr>
          <a:xfrm>
            <a:off x="-3660775" y="4866409"/>
            <a:ext cx="5486400" cy="5486400"/>
          </a:xfrm>
          <a:prstGeom prst="ellipse">
            <a:avLst/>
          </a:prstGeom>
          <a:solidFill>
            <a:schemeClr val="tx1">
              <a:alpha val="45000"/>
            </a:schemeClr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C1D9416-B0A5-8C95-DAA0-2BE9D8ED6F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38002" y="-4025640"/>
            <a:ext cx="10575872" cy="57686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FFB6AF5-B09A-6AB3-DD09-9CEA38B944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44987">
            <a:off x="6493217" y="4663173"/>
            <a:ext cx="9458195" cy="515901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2FFEB93-9E31-2264-66B0-F0D87568FC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728" y="8102207"/>
            <a:ext cx="8710544" cy="4751206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99F29715-74B8-2011-DAE6-CABEACCBC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0D61D-D7D6-4098-A7BD-47CDD72B6EB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853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90000"/>
              </a:schemeClr>
            </a:gs>
            <a:gs pos="100000">
              <a:srgbClr val="FDF6E3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26D430-9636-476F-6D05-EFD7445CA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CFD7BAF-A8FD-241D-0234-FDFF528D8C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917" y="656380"/>
            <a:ext cx="8710544" cy="47512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9B930A4-2B53-16B4-9A26-23BF1FE3BE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540" y="577828"/>
            <a:ext cx="8919298" cy="48650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DF7FB1-6E14-FCE5-7ABD-64CF15C2E5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258" y="351898"/>
            <a:ext cx="10346867" cy="56437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9EBBD3-DFA9-E114-F673-1687106F6B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755" y="374912"/>
            <a:ext cx="10575872" cy="57686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3FAA44E-01F1-81B9-CF1C-0F145BB311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44987">
            <a:off x="1471642" y="797022"/>
            <a:ext cx="9458195" cy="5159015"/>
          </a:xfrm>
          <a:prstGeom prst="rect">
            <a:avLst/>
          </a:prstGeom>
        </p:spPr>
      </p:pic>
      <p:sp>
        <p:nvSpPr>
          <p:cNvPr id="7" name="Shape 0">
            <a:extLst>
              <a:ext uri="{FF2B5EF4-FFF2-40B4-BE49-F238E27FC236}">
                <a16:creationId xmlns:a16="http://schemas.microsoft.com/office/drawing/2014/main" id="{F95DE29D-4B7C-C873-B244-67D041942969}"/>
              </a:ext>
            </a:extLst>
          </p:cNvPr>
          <p:cNvSpPr/>
          <p:nvPr/>
        </p:nvSpPr>
        <p:spPr>
          <a:xfrm>
            <a:off x="-3893997" y="4616778"/>
            <a:ext cx="5486400" cy="5486400"/>
          </a:xfrm>
          <a:prstGeom prst="ellipse">
            <a:avLst/>
          </a:prstGeom>
          <a:solidFill>
            <a:schemeClr val="bg2">
              <a:lumMod val="90000"/>
              <a:alpha val="44706"/>
            </a:scheme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C98E29EB-4618-E4D0-26D8-66008BD6B936}"/>
              </a:ext>
            </a:extLst>
          </p:cNvPr>
          <p:cNvSpPr/>
          <p:nvPr/>
        </p:nvSpPr>
        <p:spPr>
          <a:xfrm>
            <a:off x="10599597" y="-3216800"/>
            <a:ext cx="5486400" cy="5486400"/>
          </a:xfrm>
          <a:prstGeom prst="ellipse">
            <a:avLst/>
          </a:prstGeom>
          <a:solidFill>
            <a:srgbClr val="FDF6E3">
              <a:alpha val="45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6D3E88F-54EB-12FA-EAF4-3C4FB771DA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05" y="-4094807"/>
            <a:ext cx="3743325" cy="37433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E64AD91-A53F-DE69-029A-DE3132DA8888}"/>
              </a:ext>
            </a:extLst>
          </p:cNvPr>
          <p:cNvSpPr txBox="1"/>
          <p:nvPr/>
        </p:nvSpPr>
        <p:spPr>
          <a:xfrm>
            <a:off x="2373356" y="5322703"/>
            <a:ext cx="8946435" cy="107721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dirty="0">
                <a:latin typeface="Montserrat" pitchFamily="2" charset="0"/>
              </a:rPr>
              <a:t>INTERNET AND WEB PROGRAMMING PROJECT </a:t>
            </a:r>
          </a:p>
          <a:p>
            <a:r>
              <a:rPr lang="en-US" sz="2000" dirty="0">
                <a:latin typeface="Montserrat" pitchFamily="2" charset="0"/>
              </a:rPr>
              <a:t>COURSE CODE: CSE-3109 </a:t>
            </a:r>
          </a:p>
          <a:p>
            <a:r>
              <a:rPr lang="en-US" sz="2000" dirty="0">
                <a:latin typeface="Montserrat" pitchFamily="2" charset="0"/>
              </a:rPr>
              <a:t>DATE:  5. 06. 2026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3241389-A38F-CB43-E63F-19C66FA7DEE7}"/>
              </a:ext>
            </a:extLst>
          </p:cNvPr>
          <p:cNvCxnSpPr/>
          <p:nvPr/>
        </p:nvCxnSpPr>
        <p:spPr>
          <a:xfrm>
            <a:off x="2325914" y="5297714"/>
            <a:ext cx="0" cy="1146629"/>
          </a:xfrm>
          <a:prstGeom prst="line">
            <a:avLst/>
          </a:prstGeom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34C00A8-75AA-E81C-7C30-33167CC1F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0D61D-D7D6-4098-A7BD-47CDD72B6EB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8361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100000">
              <a:srgbClr val="FDF6E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59BC945-8DFE-801B-4FE4-B199AD3C93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75" y="1447800"/>
            <a:ext cx="3743325" cy="37433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6192CD0-DF34-8CAE-743F-9211F232D405}"/>
              </a:ext>
            </a:extLst>
          </p:cNvPr>
          <p:cNvSpPr txBox="1"/>
          <p:nvPr/>
        </p:nvSpPr>
        <p:spPr>
          <a:xfrm>
            <a:off x="5229225" y="1285875"/>
            <a:ext cx="54578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1A472A"/>
                </a:solidFill>
                <a:latin typeface="Montserrat" pitchFamily="2" charset="0"/>
              </a:rPr>
              <a:t>Supervised by </a:t>
            </a:r>
          </a:p>
          <a:p>
            <a:endParaRPr lang="en-US" dirty="0">
              <a:latin typeface="Montserrat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1DC972-27FB-1281-A50A-4D4CC1B74123}"/>
              </a:ext>
            </a:extLst>
          </p:cNvPr>
          <p:cNvSpPr txBox="1"/>
          <p:nvPr/>
        </p:nvSpPr>
        <p:spPr>
          <a:xfrm>
            <a:off x="5381625" y="3166527"/>
            <a:ext cx="590550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Montserrat" pitchFamily="2" charset="0"/>
              </a:rPr>
              <a:t>Prof. MD. AMINUL ISLAM</a:t>
            </a:r>
            <a:br>
              <a:rPr lang="en-US" dirty="0">
                <a:latin typeface="Montserrat" pitchFamily="2" charset="0"/>
              </a:rPr>
            </a:br>
            <a:r>
              <a:rPr lang="en-US" sz="1600" dirty="0">
                <a:latin typeface="Montserrat" pitchFamily="2" charset="0"/>
              </a:rPr>
              <a:t>Associate Professor</a:t>
            </a:r>
          </a:p>
          <a:p>
            <a:r>
              <a:rPr lang="en-US" sz="1600" dirty="0">
                <a:latin typeface="Montserrat" pitchFamily="2" charset="0"/>
              </a:rPr>
              <a:t>Department of Computer Science &amp; Engineering</a:t>
            </a:r>
          </a:p>
          <a:p>
            <a:r>
              <a:rPr lang="en-US" sz="1600" dirty="0">
                <a:latin typeface="Montserrat" pitchFamily="2" charset="0"/>
              </a:rPr>
              <a:t>Jagannath University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D28094C-5D8D-FE55-AB2C-695DC0631D56}"/>
              </a:ext>
            </a:extLst>
          </p:cNvPr>
          <p:cNvCxnSpPr/>
          <p:nvPr/>
        </p:nvCxnSpPr>
        <p:spPr>
          <a:xfrm>
            <a:off x="5305425" y="3200400"/>
            <a:ext cx="0" cy="1104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723FD48-2056-5C08-33B5-502636EAD4BD}"/>
              </a:ext>
            </a:extLst>
          </p:cNvPr>
          <p:cNvSpPr/>
          <p:nvPr/>
        </p:nvSpPr>
        <p:spPr>
          <a:xfrm>
            <a:off x="6923835" y="7767488"/>
            <a:ext cx="2821080" cy="9351914"/>
          </a:xfrm>
          <a:prstGeom prst="rect">
            <a:avLst/>
          </a:prstGeom>
          <a:gradFill flip="none" rotWithShape="1">
            <a:gsLst>
              <a:gs pos="100000">
                <a:srgbClr val="7030A0"/>
              </a:gs>
              <a:gs pos="0">
                <a:schemeClr val="accent5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00" b="1" dirty="0">
                <a:latin typeface="Montserrat" pitchFamily="2" charset="0"/>
              </a:rPr>
              <a:t>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2E4829-6B8A-DDBF-A724-B116FFD8C823}"/>
              </a:ext>
            </a:extLst>
          </p:cNvPr>
          <p:cNvSpPr/>
          <p:nvPr/>
        </p:nvSpPr>
        <p:spPr>
          <a:xfrm>
            <a:off x="12858315" y="3429000"/>
            <a:ext cx="3075676" cy="9351914"/>
          </a:xfrm>
          <a:prstGeom prst="rect">
            <a:avLst/>
          </a:prstGeom>
          <a:gradFill flip="none" rotWithShape="1">
            <a:gsLst>
              <a:gs pos="100000">
                <a:srgbClr val="7030A0"/>
              </a:gs>
              <a:gs pos="0">
                <a:srgbClr val="00206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00" b="1" dirty="0">
                <a:latin typeface="Montserrat" pitchFamily="2" charset="0"/>
              </a:rPr>
              <a:t>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EA989F9-BB48-6B46-EC02-F87746C21ECB}"/>
              </a:ext>
            </a:extLst>
          </p:cNvPr>
          <p:cNvSpPr/>
          <p:nvPr/>
        </p:nvSpPr>
        <p:spPr>
          <a:xfrm>
            <a:off x="-4109954" y="2672431"/>
            <a:ext cx="3394953" cy="9351914"/>
          </a:xfrm>
          <a:prstGeom prst="rect">
            <a:avLst/>
          </a:prstGeom>
          <a:gradFill flip="none" rotWithShape="1">
            <a:gsLst>
              <a:gs pos="100000">
                <a:srgbClr val="7030A0"/>
              </a:gs>
              <a:gs pos="0">
                <a:schemeClr val="accent5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00" b="1" dirty="0">
                <a:latin typeface="Montserrat" pitchFamily="2" charset="0"/>
              </a:rPr>
              <a:t>T</a:t>
            </a:r>
            <a:endParaRPr lang="en-US" b="1" dirty="0">
              <a:latin typeface="Montserrat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F2206CB-91C0-59E9-941B-06C9BDFF3532}"/>
              </a:ext>
            </a:extLst>
          </p:cNvPr>
          <p:cNvSpPr/>
          <p:nvPr/>
        </p:nvSpPr>
        <p:spPr>
          <a:xfrm>
            <a:off x="2509837" y="7767488"/>
            <a:ext cx="2842809" cy="9351914"/>
          </a:xfrm>
          <a:prstGeom prst="rect">
            <a:avLst/>
          </a:prstGeom>
          <a:gradFill flip="none" rotWithShape="1">
            <a:gsLst>
              <a:gs pos="100000">
                <a:srgbClr val="7030A0"/>
              </a:gs>
              <a:gs pos="0">
                <a:srgbClr val="00206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00" b="1" dirty="0">
                <a:latin typeface="Montserrat" pitchFamily="2" charset="0"/>
              </a:rPr>
              <a:t>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7DAB02-8217-699C-1504-5DA3016EA4ED}"/>
              </a:ext>
            </a:extLst>
          </p:cNvPr>
          <p:cNvSpPr txBox="1"/>
          <p:nvPr/>
        </p:nvSpPr>
        <p:spPr>
          <a:xfrm>
            <a:off x="3723864" y="-4509477"/>
            <a:ext cx="8468545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>
                <a:solidFill>
                  <a:schemeClr val="bg1"/>
                </a:solidFill>
                <a:latin typeface="Montserrat" pitchFamily="2" charset="0"/>
              </a:rPr>
              <a:t>Our</a:t>
            </a:r>
            <a:r>
              <a:rPr lang="en-US" sz="19900" b="1" dirty="0">
                <a:solidFill>
                  <a:srgbClr val="FBF4E2"/>
                </a:solidFill>
                <a:latin typeface="Montserrat" pitchFamily="2" charset="0"/>
              </a:rPr>
              <a:t> </a:t>
            </a:r>
            <a:endParaRPr lang="en-US" b="1" dirty="0">
              <a:solidFill>
                <a:srgbClr val="FBF4E2"/>
              </a:solidFill>
              <a:latin typeface="Montserrat" pitchFamily="2" charset="0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8F25513A-9470-F59D-03FF-9114594A3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0D61D-D7D6-4098-A7BD-47CDD72B6EB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556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7030A0"/>
            </a:gs>
            <a:gs pos="0">
              <a:schemeClr val="accent5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5D023AB6-0BEF-4279-2694-A600A4A3A54D}"/>
              </a:ext>
            </a:extLst>
          </p:cNvPr>
          <p:cNvSpPr/>
          <p:nvPr/>
        </p:nvSpPr>
        <p:spPr>
          <a:xfrm>
            <a:off x="6295244" y="-614512"/>
            <a:ext cx="2821080" cy="9351914"/>
          </a:xfrm>
          <a:prstGeom prst="rect">
            <a:avLst/>
          </a:prstGeom>
          <a:gradFill flip="none" rotWithShape="1">
            <a:gsLst>
              <a:gs pos="100000">
                <a:srgbClr val="7030A0"/>
              </a:gs>
              <a:gs pos="0">
                <a:schemeClr val="accent5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00" b="1" dirty="0">
                <a:latin typeface="Montserrat" pitchFamily="2" charset="0"/>
              </a:rPr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C1088C8-AC62-80EA-6CAE-6DCCD82CFDBB}"/>
              </a:ext>
            </a:extLst>
          </p:cNvPr>
          <p:cNvSpPr/>
          <p:nvPr/>
        </p:nvSpPr>
        <p:spPr>
          <a:xfrm>
            <a:off x="9116324" y="-614512"/>
            <a:ext cx="3075676" cy="9351914"/>
          </a:xfrm>
          <a:prstGeom prst="rect">
            <a:avLst/>
          </a:prstGeom>
          <a:gradFill flip="none" rotWithShape="1">
            <a:gsLst>
              <a:gs pos="100000">
                <a:srgbClr val="7030A0"/>
              </a:gs>
              <a:gs pos="0">
                <a:srgbClr val="00206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00" b="1" dirty="0">
                <a:latin typeface="Montserrat" pitchFamily="2" charset="0"/>
              </a:rPr>
              <a:t>M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EDDCA0A-DE8A-7DAA-1E3B-E2490D6824FA}"/>
              </a:ext>
            </a:extLst>
          </p:cNvPr>
          <p:cNvSpPr/>
          <p:nvPr/>
        </p:nvSpPr>
        <p:spPr>
          <a:xfrm>
            <a:off x="132625" y="-614512"/>
            <a:ext cx="3394953" cy="9351914"/>
          </a:xfrm>
          <a:prstGeom prst="rect">
            <a:avLst/>
          </a:prstGeom>
          <a:gradFill flip="none" rotWithShape="1">
            <a:gsLst>
              <a:gs pos="100000">
                <a:srgbClr val="7030A0"/>
              </a:gs>
              <a:gs pos="0">
                <a:schemeClr val="accent5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00" b="1" dirty="0">
                <a:latin typeface="Montserrat" pitchFamily="2" charset="0"/>
              </a:rPr>
              <a:t>T</a:t>
            </a:r>
            <a:endParaRPr lang="en-US" b="1" dirty="0">
              <a:latin typeface="Montserrat" pitchFamily="2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EE7AA9B-EAE8-31C8-4D56-AF95F6D4E199}"/>
              </a:ext>
            </a:extLst>
          </p:cNvPr>
          <p:cNvSpPr/>
          <p:nvPr/>
        </p:nvSpPr>
        <p:spPr>
          <a:xfrm>
            <a:off x="3335826" y="-614512"/>
            <a:ext cx="3012832" cy="9351914"/>
          </a:xfrm>
          <a:prstGeom prst="rect">
            <a:avLst/>
          </a:prstGeom>
          <a:gradFill flip="none" rotWithShape="1">
            <a:gsLst>
              <a:gs pos="100000">
                <a:srgbClr val="7030A0"/>
              </a:gs>
              <a:gs pos="0">
                <a:srgbClr val="00206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00" b="1" dirty="0">
                <a:latin typeface="Montserrat" pitchFamily="2" charset="0"/>
              </a:rPr>
              <a:t>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186C2F8-6B3A-16D4-41BC-2522C623C277}"/>
              </a:ext>
            </a:extLst>
          </p:cNvPr>
          <p:cNvSpPr txBox="1"/>
          <p:nvPr/>
        </p:nvSpPr>
        <p:spPr>
          <a:xfrm>
            <a:off x="71026" y="-658332"/>
            <a:ext cx="8468545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b="1" dirty="0">
                <a:solidFill>
                  <a:schemeClr val="bg1"/>
                </a:solidFill>
                <a:latin typeface="Montserrat" pitchFamily="2" charset="0"/>
              </a:rPr>
              <a:t>Our</a:t>
            </a:r>
            <a:r>
              <a:rPr lang="en-US" sz="19900" b="1" dirty="0">
                <a:solidFill>
                  <a:srgbClr val="FBF4E2"/>
                </a:solidFill>
                <a:latin typeface="Montserrat" pitchFamily="2" charset="0"/>
              </a:rPr>
              <a:t> </a:t>
            </a:r>
            <a:endParaRPr lang="en-US" b="1" dirty="0">
              <a:solidFill>
                <a:srgbClr val="FBF4E2"/>
              </a:solidFill>
              <a:latin typeface="Montserrat" pitchFamily="2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AA5E3FC-1D92-8807-7E00-B82E2A4C7415}"/>
              </a:ext>
            </a:extLst>
          </p:cNvPr>
          <p:cNvSpPr/>
          <p:nvPr/>
        </p:nvSpPr>
        <p:spPr>
          <a:xfrm>
            <a:off x="13518965" y="-589935"/>
            <a:ext cx="6240443" cy="9351914"/>
          </a:xfrm>
          <a:prstGeom prst="rect">
            <a:avLst/>
          </a:prstGeom>
          <a:gradFill flip="none" rotWithShape="1">
            <a:gsLst>
              <a:gs pos="100000">
                <a:srgbClr val="7030A0"/>
              </a:gs>
              <a:gs pos="0">
                <a:srgbClr val="00206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00" b="1" dirty="0">
              <a:latin typeface="Montserrat" pitchFamily="2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E518861-803E-64F4-A7C7-9FF50BB19915}"/>
              </a:ext>
            </a:extLst>
          </p:cNvPr>
          <p:cNvSpPr/>
          <p:nvPr/>
        </p:nvSpPr>
        <p:spPr>
          <a:xfrm>
            <a:off x="-7750334" y="-658332"/>
            <a:ext cx="5973885" cy="9351914"/>
          </a:xfrm>
          <a:prstGeom prst="rect">
            <a:avLst/>
          </a:prstGeom>
          <a:gradFill flip="none" rotWithShape="1">
            <a:gsLst>
              <a:gs pos="100000">
                <a:srgbClr val="7030A0"/>
              </a:gs>
              <a:gs pos="0">
                <a:schemeClr val="accent5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Montserrat" pitchFamily="2" charset="0"/>
            </a:endParaRP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9D2A960A-FFCD-1D1A-554F-1656FBE5E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0D61D-D7D6-4098-A7BD-47CDD72B6EB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542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7030A0"/>
            </a:gs>
            <a:gs pos="0">
              <a:srgbClr val="002060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B0E9D3-126E-0E34-9314-D51FE9ABF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305F309-B2D3-16C6-3806-3358BFAC9C57}"/>
              </a:ext>
            </a:extLst>
          </p:cNvPr>
          <p:cNvSpPr/>
          <p:nvPr/>
        </p:nvSpPr>
        <p:spPr>
          <a:xfrm>
            <a:off x="-2048353" y="8397039"/>
            <a:ext cx="2048353" cy="3909886"/>
          </a:xfrm>
          <a:custGeom>
            <a:avLst/>
            <a:gdLst>
              <a:gd name="csX0" fmla="*/ 627864 w 627864"/>
              <a:gd name="csY0" fmla="*/ 0 h 1245223"/>
              <a:gd name="csX1" fmla="*/ 627864 w 627864"/>
              <a:gd name="csY1" fmla="*/ 221599 h 1245223"/>
              <a:gd name="csX2" fmla="*/ 523658 w 627864"/>
              <a:gd name="csY2" fmla="*/ 232104 h 1245223"/>
              <a:gd name="csX3" fmla="*/ 110800 w 627864"/>
              <a:gd name="csY3" fmla="*/ 738664 h 1245223"/>
              <a:gd name="csX4" fmla="*/ 426600 w 627864"/>
              <a:gd name="csY4" fmla="*/ 1215095 h 1245223"/>
              <a:gd name="csX5" fmla="*/ 523654 w 627864"/>
              <a:gd name="csY5" fmla="*/ 1245223 h 1245223"/>
              <a:gd name="csX6" fmla="*/ 501327 w 627864"/>
              <a:gd name="csY6" fmla="*/ 1242972 h 1245223"/>
              <a:gd name="csX7" fmla="*/ 0 w 627864"/>
              <a:gd name="csY7" fmla="*/ 627864 h 1245223"/>
              <a:gd name="csX8" fmla="*/ 627864 w 627864"/>
              <a:gd name="csY8" fmla="*/ 0 h 12452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27864" h="1245223">
                <a:moveTo>
                  <a:pt x="627864" y="0"/>
                </a:moveTo>
                <a:lnTo>
                  <a:pt x="627864" y="221599"/>
                </a:lnTo>
                <a:lnTo>
                  <a:pt x="523658" y="232104"/>
                </a:lnTo>
                <a:cubicBezTo>
                  <a:pt x="288040" y="280318"/>
                  <a:pt x="110800" y="488793"/>
                  <a:pt x="110800" y="738664"/>
                </a:cubicBezTo>
                <a:cubicBezTo>
                  <a:pt x="110800" y="952839"/>
                  <a:pt x="241017" y="1136601"/>
                  <a:pt x="426600" y="1215095"/>
                </a:cubicBezTo>
                <a:lnTo>
                  <a:pt x="523654" y="1245223"/>
                </a:lnTo>
                <a:lnTo>
                  <a:pt x="501327" y="1242972"/>
                </a:lnTo>
                <a:cubicBezTo>
                  <a:pt x="215220" y="1184426"/>
                  <a:pt x="0" y="931279"/>
                  <a:pt x="0" y="627864"/>
                </a:cubicBezTo>
                <a:cubicBezTo>
                  <a:pt x="0" y="281104"/>
                  <a:pt x="281104" y="0"/>
                  <a:pt x="627864" y="0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 w="9525">
            <a:solidFill>
              <a:srgbClr val="FBF4E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873B0B8-1365-68E8-BC44-B316FBC9E5E9}"/>
              </a:ext>
            </a:extLst>
          </p:cNvPr>
          <p:cNvSpPr/>
          <p:nvPr/>
        </p:nvSpPr>
        <p:spPr>
          <a:xfrm>
            <a:off x="13864203" y="6858000"/>
            <a:ext cx="1325405" cy="2532421"/>
          </a:xfrm>
          <a:custGeom>
            <a:avLst/>
            <a:gdLst>
              <a:gd name="csX0" fmla="*/ 406265 w 406265"/>
              <a:gd name="csY0" fmla="*/ 0 h 806527"/>
              <a:gd name="csX1" fmla="*/ 406265 w 406265"/>
              <a:gd name="csY1" fmla="*/ 221599 h 806527"/>
              <a:gd name="csX2" fmla="*/ 346719 w 406265"/>
              <a:gd name="csY2" fmla="*/ 227602 h 806527"/>
              <a:gd name="csX3" fmla="*/ 110800 w 406265"/>
              <a:gd name="csY3" fmla="*/ 517065 h 806527"/>
              <a:gd name="csX4" fmla="*/ 291257 w 406265"/>
              <a:gd name="csY4" fmla="*/ 789312 h 806527"/>
              <a:gd name="csX5" fmla="*/ 346715 w 406265"/>
              <a:gd name="csY5" fmla="*/ 806527 h 806527"/>
              <a:gd name="csX6" fmla="*/ 324388 w 406265"/>
              <a:gd name="csY6" fmla="*/ 804276 h 806527"/>
              <a:gd name="csX7" fmla="*/ 0 w 406265"/>
              <a:gd name="csY7" fmla="*/ 406265 h 806527"/>
              <a:gd name="csX8" fmla="*/ 406265 w 406265"/>
              <a:gd name="csY8" fmla="*/ 0 h 8065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06265" h="806527">
                <a:moveTo>
                  <a:pt x="406265" y="0"/>
                </a:moveTo>
                <a:lnTo>
                  <a:pt x="406265" y="221599"/>
                </a:lnTo>
                <a:lnTo>
                  <a:pt x="346719" y="227602"/>
                </a:lnTo>
                <a:cubicBezTo>
                  <a:pt x="212080" y="255153"/>
                  <a:pt x="110800" y="374282"/>
                  <a:pt x="110800" y="517065"/>
                </a:cubicBezTo>
                <a:cubicBezTo>
                  <a:pt x="110800" y="639451"/>
                  <a:pt x="185210" y="744458"/>
                  <a:pt x="291257" y="789312"/>
                </a:cubicBezTo>
                <a:lnTo>
                  <a:pt x="346715" y="806527"/>
                </a:lnTo>
                <a:lnTo>
                  <a:pt x="324388" y="804276"/>
                </a:lnTo>
                <a:cubicBezTo>
                  <a:pt x="139260" y="766394"/>
                  <a:pt x="0" y="602592"/>
                  <a:pt x="0" y="406265"/>
                </a:cubicBezTo>
                <a:cubicBezTo>
                  <a:pt x="0" y="181891"/>
                  <a:pt x="181891" y="0"/>
                  <a:pt x="406265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FBF4E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8D89767-F597-0E91-D91D-BCAC63C6EC71}"/>
              </a:ext>
            </a:extLst>
          </p:cNvPr>
          <p:cNvSpPr/>
          <p:nvPr/>
        </p:nvSpPr>
        <p:spPr>
          <a:xfrm>
            <a:off x="-3068412" y="1066490"/>
            <a:ext cx="2409825" cy="4638675"/>
          </a:xfrm>
          <a:custGeom>
            <a:avLst/>
            <a:gdLst>
              <a:gd name="csX0" fmla="*/ 738663 w 738663"/>
              <a:gd name="csY0" fmla="*/ 0 h 1477328"/>
              <a:gd name="csX1" fmla="*/ 738663 w 738663"/>
              <a:gd name="csY1" fmla="*/ 221599 h 1477328"/>
              <a:gd name="csX2" fmla="*/ 110799 w 738663"/>
              <a:gd name="csY2" fmla="*/ 849463 h 1477328"/>
              <a:gd name="csX3" fmla="*/ 612126 w 738663"/>
              <a:gd name="csY3" fmla="*/ 1464571 h 1477328"/>
              <a:gd name="csX4" fmla="*/ 634453 w 738663"/>
              <a:gd name="csY4" fmla="*/ 1466822 h 1477328"/>
              <a:gd name="csX5" fmla="*/ 634457 w 738663"/>
              <a:gd name="csY5" fmla="*/ 1466823 h 1477328"/>
              <a:gd name="csX6" fmla="*/ 738663 w 738663"/>
              <a:gd name="csY6" fmla="*/ 1477328 h 1477328"/>
              <a:gd name="csX7" fmla="*/ 738663 w 738663"/>
              <a:gd name="csY7" fmla="*/ 1477328 h 1477328"/>
              <a:gd name="csX8" fmla="*/ 663140 w 738663"/>
              <a:gd name="csY8" fmla="*/ 1473514 h 1477328"/>
              <a:gd name="csX9" fmla="*/ 0 w 738663"/>
              <a:gd name="csY9" fmla="*/ 738664 h 1477328"/>
              <a:gd name="csX10" fmla="*/ 663140 w 738663"/>
              <a:gd name="csY10" fmla="*/ 3814 h 1477328"/>
              <a:gd name="csX11" fmla="*/ 738663 w 738663"/>
              <a:gd name="csY11" fmla="*/ 0 h 14773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738663" h="1477328">
                <a:moveTo>
                  <a:pt x="738663" y="0"/>
                </a:moveTo>
                <a:lnTo>
                  <a:pt x="738663" y="221599"/>
                </a:lnTo>
                <a:cubicBezTo>
                  <a:pt x="391903" y="221599"/>
                  <a:pt x="110799" y="502703"/>
                  <a:pt x="110799" y="849463"/>
                </a:cubicBezTo>
                <a:cubicBezTo>
                  <a:pt x="110799" y="1152878"/>
                  <a:pt x="326019" y="1406025"/>
                  <a:pt x="612126" y="1464571"/>
                </a:cubicBezTo>
                <a:lnTo>
                  <a:pt x="634453" y="1466822"/>
                </a:lnTo>
                <a:lnTo>
                  <a:pt x="634457" y="1466823"/>
                </a:lnTo>
                <a:lnTo>
                  <a:pt x="738663" y="1477328"/>
                </a:lnTo>
                <a:lnTo>
                  <a:pt x="738663" y="1477328"/>
                </a:lnTo>
                <a:lnTo>
                  <a:pt x="663140" y="1473514"/>
                </a:lnTo>
                <a:cubicBezTo>
                  <a:pt x="290664" y="1435688"/>
                  <a:pt x="0" y="1121120"/>
                  <a:pt x="0" y="738664"/>
                </a:cubicBezTo>
                <a:cubicBezTo>
                  <a:pt x="0" y="356208"/>
                  <a:pt x="290664" y="41641"/>
                  <a:pt x="663140" y="3814"/>
                </a:cubicBezTo>
                <a:lnTo>
                  <a:pt x="738663" y="0"/>
                </a:lnTo>
                <a:close/>
              </a:path>
            </a:pathLst>
          </a:custGeom>
          <a:solidFill>
            <a:schemeClr val="accent1"/>
          </a:solidFill>
          <a:ln w="6350">
            <a:solidFill>
              <a:srgbClr val="FBF4E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C0DC5A4-C030-247E-92C8-C42971AFB622}"/>
              </a:ext>
            </a:extLst>
          </p:cNvPr>
          <p:cNvSpPr/>
          <p:nvPr/>
        </p:nvSpPr>
        <p:spPr>
          <a:xfrm>
            <a:off x="5951557" y="-3818157"/>
            <a:ext cx="1686877" cy="3228222"/>
          </a:xfrm>
          <a:custGeom>
            <a:avLst/>
            <a:gdLst>
              <a:gd name="csX0" fmla="*/ 517064 w 517064"/>
              <a:gd name="csY0" fmla="*/ 0 h 1028126"/>
              <a:gd name="csX1" fmla="*/ 517064 w 517064"/>
              <a:gd name="csY1" fmla="*/ 221599 h 1028126"/>
              <a:gd name="csX2" fmla="*/ 110799 w 517064"/>
              <a:gd name="csY2" fmla="*/ 627864 h 1028126"/>
              <a:gd name="csX3" fmla="*/ 435187 w 517064"/>
              <a:gd name="csY3" fmla="*/ 1025875 h 1028126"/>
              <a:gd name="csX4" fmla="*/ 457514 w 517064"/>
              <a:gd name="csY4" fmla="*/ 1028126 h 1028126"/>
              <a:gd name="csX5" fmla="*/ 457514 w 517064"/>
              <a:gd name="csY5" fmla="*/ 1028126 h 1028126"/>
              <a:gd name="csX6" fmla="*/ 412854 w 517064"/>
              <a:gd name="csY6" fmla="*/ 1023624 h 1028126"/>
              <a:gd name="csX7" fmla="*/ 315800 w 517064"/>
              <a:gd name="csY7" fmla="*/ 993496 h 1028126"/>
              <a:gd name="csX8" fmla="*/ 0 w 517064"/>
              <a:gd name="csY8" fmla="*/ 517065 h 1028126"/>
              <a:gd name="csX9" fmla="*/ 412858 w 517064"/>
              <a:gd name="csY9" fmla="*/ 10505 h 1028126"/>
              <a:gd name="csX10" fmla="*/ 517064 w 517064"/>
              <a:gd name="csY10" fmla="*/ 0 h 10281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517064" h="1028126">
                <a:moveTo>
                  <a:pt x="517064" y="0"/>
                </a:moveTo>
                <a:lnTo>
                  <a:pt x="517064" y="221599"/>
                </a:lnTo>
                <a:cubicBezTo>
                  <a:pt x="292690" y="221599"/>
                  <a:pt x="110799" y="403490"/>
                  <a:pt x="110799" y="627864"/>
                </a:cubicBezTo>
                <a:cubicBezTo>
                  <a:pt x="110799" y="824191"/>
                  <a:pt x="250059" y="987993"/>
                  <a:pt x="435187" y="1025875"/>
                </a:cubicBezTo>
                <a:lnTo>
                  <a:pt x="457514" y="1028126"/>
                </a:lnTo>
                <a:lnTo>
                  <a:pt x="457514" y="1028126"/>
                </a:lnTo>
                <a:lnTo>
                  <a:pt x="412854" y="1023624"/>
                </a:lnTo>
                <a:lnTo>
                  <a:pt x="315800" y="993496"/>
                </a:lnTo>
                <a:cubicBezTo>
                  <a:pt x="130217" y="915002"/>
                  <a:pt x="0" y="731240"/>
                  <a:pt x="0" y="517065"/>
                </a:cubicBezTo>
                <a:cubicBezTo>
                  <a:pt x="0" y="267194"/>
                  <a:pt x="177240" y="58719"/>
                  <a:pt x="412858" y="10505"/>
                </a:cubicBezTo>
                <a:lnTo>
                  <a:pt x="517064" y="0"/>
                </a:ln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 w="9525">
            <a:solidFill>
              <a:srgbClr val="FBF4E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DA40C27-AAD8-4FFA-5D3E-00D4C819A5F9}"/>
              </a:ext>
            </a:extLst>
          </p:cNvPr>
          <p:cNvSpPr/>
          <p:nvPr/>
        </p:nvSpPr>
        <p:spPr>
          <a:xfrm>
            <a:off x="5968172" y="9086449"/>
            <a:ext cx="963929" cy="1855469"/>
          </a:xfrm>
          <a:custGeom>
            <a:avLst/>
            <a:gdLst>
              <a:gd name="csX0" fmla="*/ 295465 w 295465"/>
              <a:gd name="csY0" fmla="*/ 0 h 590931"/>
              <a:gd name="csX1" fmla="*/ 295465 w 295465"/>
              <a:gd name="csY1" fmla="*/ 590931 h 590931"/>
              <a:gd name="csX2" fmla="*/ 235915 w 295465"/>
              <a:gd name="csY2" fmla="*/ 584928 h 590931"/>
              <a:gd name="csX3" fmla="*/ 180457 w 295465"/>
              <a:gd name="csY3" fmla="*/ 567713 h 590931"/>
              <a:gd name="csX4" fmla="*/ 0 w 295465"/>
              <a:gd name="csY4" fmla="*/ 295466 h 590931"/>
              <a:gd name="csX5" fmla="*/ 235919 w 295465"/>
              <a:gd name="csY5" fmla="*/ 6003 h 590931"/>
              <a:gd name="csX6" fmla="*/ 295465 w 295465"/>
              <a:gd name="csY6" fmla="*/ 0 h 5909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95465" h="590931">
                <a:moveTo>
                  <a:pt x="295465" y="0"/>
                </a:moveTo>
                <a:lnTo>
                  <a:pt x="295465" y="590931"/>
                </a:lnTo>
                <a:lnTo>
                  <a:pt x="235915" y="584928"/>
                </a:lnTo>
                <a:lnTo>
                  <a:pt x="180457" y="567713"/>
                </a:lnTo>
                <a:cubicBezTo>
                  <a:pt x="74410" y="522859"/>
                  <a:pt x="0" y="417852"/>
                  <a:pt x="0" y="295466"/>
                </a:cubicBezTo>
                <a:cubicBezTo>
                  <a:pt x="0" y="152683"/>
                  <a:pt x="101280" y="33554"/>
                  <a:pt x="235919" y="6003"/>
                </a:cubicBezTo>
                <a:lnTo>
                  <a:pt x="295465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FBF4E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FFB0213-5070-F7D1-A07B-268F77E7F583}"/>
              </a:ext>
            </a:extLst>
          </p:cNvPr>
          <p:cNvSpPr/>
          <p:nvPr/>
        </p:nvSpPr>
        <p:spPr>
          <a:xfrm>
            <a:off x="5998397" y="-1869797"/>
            <a:ext cx="6240443" cy="9351914"/>
          </a:xfrm>
          <a:prstGeom prst="rect">
            <a:avLst/>
          </a:prstGeom>
          <a:gradFill flip="none" rotWithShape="1">
            <a:gsLst>
              <a:gs pos="100000">
                <a:srgbClr val="7030A0"/>
              </a:gs>
              <a:gs pos="0">
                <a:schemeClr val="tx2">
                  <a:lumMod val="90000"/>
                  <a:lumOff val="1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00" b="1" dirty="0">
              <a:latin typeface="Montserrat" pitchFamily="2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AB230D8-C03E-6445-D9B4-A1047DCF08B4}"/>
              </a:ext>
            </a:extLst>
          </p:cNvPr>
          <p:cNvSpPr/>
          <p:nvPr/>
        </p:nvSpPr>
        <p:spPr>
          <a:xfrm>
            <a:off x="-10231" y="-1874079"/>
            <a:ext cx="6055142" cy="10237583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90000"/>
                  <a:lumOff val="10000"/>
                </a:schemeClr>
              </a:gs>
              <a:gs pos="0">
                <a:schemeClr val="accent5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Montserrat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EF31B7D-B4A4-3085-FA90-0ABE72F09ABF}"/>
              </a:ext>
            </a:extLst>
          </p:cNvPr>
          <p:cNvSpPr txBox="1"/>
          <p:nvPr/>
        </p:nvSpPr>
        <p:spPr>
          <a:xfrm>
            <a:off x="-146688" y="-983853"/>
            <a:ext cx="8468545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900" b="1" dirty="0">
                <a:solidFill>
                  <a:srgbClr val="FBF4E2"/>
                </a:solidFill>
                <a:latin typeface="Montserrat" pitchFamily="2" charset="0"/>
              </a:rPr>
              <a:t> </a:t>
            </a:r>
            <a:endParaRPr lang="en-US" b="1" dirty="0">
              <a:solidFill>
                <a:srgbClr val="FBF4E2"/>
              </a:solidFill>
              <a:latin typeface="Montserrat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F58EA9-08C6-88AD-4BF1-F9900F19CC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2915" y="662768"/>
            <a:ext cx="2955162" cy="39402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3DA968-4FA8-C86B-27E4-A4C00B6EC2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549" b="16810"/>
          <a:stretch>
            <a:fillRect/>
          </a:stretch>
        </p:blipFill>
        <p:spPr>
          <a:xfrm>
            <a:off x="7638434" y="644821"/>
            <a:ext cx="2953801" cy="39581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BCB1E1-1CBB-D22C-3E11-B00B0FA59354}"/>
              </a:ext>
            </a:extLst>
          </p:cNvPr>
          <p:cNvSpPr txBox="1"/>
          <p:nvPr/>
        </p:nvSpPr>
        <p:spPr>
          <a:xfrm>
            <a:off x="1151443" y="5187280"/>
            <a:ext cx="45195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Montserrat" pitchFamily="2" charset="0"/>
              </a:rPr>
              <a:t>Tasfia Tasnim </a:t>
            </a:r>
            <a:br>
              <a:rPr lang="en-US" sz="3200" dirty="0">
                <a:solidFill>
                  <a:schemeClr val="bg1"/>
                </a:solidFill>
                <a:latin typeface="Montserrat" pitchFamily="2" charset="0"/>
              </a:rPr>
            </a:br>
            <a:r>
              <a:rPr lang="en-US" sz="3200" dirty="0">
                <a:solidFill>
                  <a:schemeClr val="bg1"/>
                </a:solidFill>
                <a:latin typeface="Montserrat" pitchFamily="2" charset="0"/>
              </a:rPr>
              <a:t>Id : -------------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C729ADF-8048-4D34-7C8F-A61663A15B08}"/>
              </a:ext>
            </a:extLst>
          </p:cNvPr>
          <p:cNvCxnSpPr/>
          <p:nvPr/>
        </p:nvCxnSpPr>
        <p:spPr>
          <a:xfrm>
            <a:off x="1016001" y="5196118"/>
            <a:ext cx="0" cy="114662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386F85-8ECA-C47E-0634-06C93EF10F5B}"/>
              </a:ext>
            </a:extLst>
          </p:cNvPr>
          <p:cNvSpPr txBox="1"/>
          <p:nvPr/>
        </p:nvSpPr>
        <p:spPr>
          <a:xfrm>
            <a:off x="7074528" y="5120386"/>
            <a:ext cx="45195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Montserrat" pitchFamily="2" charset="0"/>
              </a:rPr>
              <a:t>Atik Jawad</a:t>
            </a:r>
            <a:br>
              <a:rPr lang="en-US" sz="3200" dirty="0">
                <a:solidFill>
                  <a:schemeClr val="bg1"/>
                </a:solidFill>
                <a:latin typeface="Montserrat" pitchFamily="2" charset="0"/>
              </a:rPr>
            </a:br>
            <a:r>
              <a:rPr lang="en-US" sz="3200" dirty="0">
                <a:solidFill>
                  <a:schemeClr val="bg1"/>
                </a:solidFill>
                <a:latin typeface="Montserrat" pitchFamily="2" charset="0"/>
              </a:rPr>
              <a:t>Id : --------------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647E19-A604-A097-11E8-293B4F8CC472}"/>
              </a:ext>
            </a:extLst>
          </p:cNvPr>
          <p:cNvCxnSpPr/>
          <p:nvPr/>
        </p:nvCxnSpPr>
        <p:spPr>
          <a:xfrm>
            <a:off x="6959601" y="5101779"/>
            <a:ext cx="0" cy="114662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CEA42BC-D59A-AB33-A6D6-474DFF046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0D61D-D7D6-4098-A7BD-47CDD72B6EB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726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FBF4E2"/>
            </a:gs>
            <a:gs pos="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45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0DC50BB9-5992-A3CB-0C76-469A5FCD5A0E}"/>
              </a:ext>
            </a:extLst>
          </p:cNvPr>
          <p:cNvSpPr/>
          <p:nvPr/>
        </p:nvSpPr>
        <p:spPr>
          <a:xfrm>
            <a:off x="2256946" y="1695925"/>
            <a:ext cx="2048353" cy="3909886"/>
          </a:xfrm>
          <a:custGeom>
            <a:avLst/>
            <a:gdLst>
              <a:gd name="csX0" fmla="*/ 627864 w 627864"/>
              <a:gd name="csY0" fmla="*/ 0 h 1245223"/>
              <a:gd name="csX1" fmla="*/ 627864 w 627864"/>
              <a:gd name="csY1" fmla="*/ 221599 h 1245223"/>
              <a:gd name="csX2" fmla="*/ 523658 w 627864"/>
              <a:gd name="csY2" fmla="*/ 232104 h 1245223"/>
              <a:gd name="csX3" fmla="*/ 110800 w 627864"/>
              <a:gd name="csY3" fmla="*/ 738664 h 1245223"/>
              <a:gd name="csX4" fmla="*/ 426600 w 627864"/>
              <a:gd name="csY4" fmla="*/ 1215095 h 1245223"/>
              <a:gd name="csX5" fmla="*/ 523654 w 627864"/>
              <a:gd name="csY5" fmla="*/ 1245223 h 1245223"/>
              <a:gd name="csX6" fmla="*/ 501327 w 627864"/>
              <a:gd name="csY6" fmla="*/ 1242972 h 1245223"/>
              <a:gd name="csX7" fmla="*/ 0 w 627864"/>
              <a:gd name="csY7" fmla="*/ 627864 h 1245223"/>
              <a:gd name="csX8" fmla="*/ 627864 w 627864"/>
              <a:gd name="csY8" fmla="*/ 0 h 12452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27864" h="1245223">
                <a:moveTo>
                  <a:pt x="627864" y="0"/>
                </a:moveTo>
                <a:lnTo>
                  <a:pt x="627864" y="221599"/>
                </a:lnTo>
                <a:lnTo>
                  <a:pt x="523658" y="232104"/>
                </a:lnTo>
                <a:cubicBezTo>
                  <a:pt x="288040" y="280318"/>
                  <a:pt x="110800" y="488793"/>
                  <a:pt x="110800" y="738664"/>
                </a:cubicBezTo>
                <a:cubicBezTo>
                  <a:pt x="110800" y="952839"/>
                  <a:pt x="241017" y="1136601"/>
                  <a:pt x="426600" y="1215095"/>
                </a:cubicBezTo>
                <a:lnTo>
                  <a:pt x="523654" y="1245223"/>
                </a:lnTo>
                <a:lnTo>
                  <a:pt x="501327" y="1242972"/>
                </a:lnTo>
                <a:cubicBezTo>
                  <a:pt x="215220" y="1184426"/>
                  <a:pt x="0" y="931279"/>
                  <a:pt x="0" y="627864"/>
                </a:cubicBezTo>
                <a:cubicBezTo>
                  <a:pt x="0" y="281104"/>
                  <a:pt x="281104" y="0"/>
                  <a:pt x="627864" y="0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 w="9525">
            <a:solidFill>
              <a:srgbClr val="FBF4E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219D82EB-0DE2-A151-06BB-55995240A931}"/>
              </a:ext>
            </a:extLst>
          </p:cNvPr>
          <p:cNvSpPr/>
          <p:nvPr/>
        </p:nvSpPr>
        <p:spPr>
          <a:xfrm>
            <a:off x="2979894" y="3087526"/>
            <a:ext cx="1325405" cy="2532421"/>
          </a:xfrm>
          <a:custGeom>
            <a:avLst/>
            <a:gdLst>
              <a:gd name="csX0" fmla="*/ 406265 w 406265"/>
              <a:gd name="csY0" fmla="*/ 0 h 806527"/>
              <a:gd name="csX1" fmla="*/ 406265 w 406265"/>
              <a:gd name="csY1" fmla="*/ 221599 h 806527"/>
              <a:gd name="csX2" fmla="*/ 346719 w 406265"/>
              <a:gd name="csY2" fmla="*/ 227602 h 806527"/>
              <a:gd name="csX3" fmla="*/ 110800 w 406265"/>
              <a:gd name="csY3" fmla="*/ 517065 h 806527"/>
              <a:gd name="csX4" fmla="*/ 291257 w 406265"/>
              <a:gd name="csY4" fmla="*/ 789312 h 806527"/>
              <a:gd name="csX5" fmla="*/ 346715 w 406265"/>
              <a:gd name="csY5" fmla="*/ 806527 h 806527"/>
              <a:gd name="csX6" fmla="*/ 324388 w 406265"/>
              <a:gd name="csY6" fmla="*/ 804276 h 806527"/>
              <a:gd name="csX7" fmla="*/ 0 w 406265"/>
              <a:gd name="csY7" fmla="*/ 406265 h 806527"/>
              <a:gd name="csX8" fmla="*/ 406265 w 406265"/>
              <a:gd name="csY8" fmla="*/ 0 h 8065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06265" h="806527">
                <a:moveTo>
                  <a:pt x="406265" y="0"/>
                </a:moveTo>
                <a:lnTo>
                  <a:pt x="406265" y="221599"/>
                </a:lnTo>
                <a:lnTo>
                  <a:pt x="346719" y="227602"/>
                </a:lnTo>
                <a:cubicBezTo>
                  <a:pt x="212080" y="255153"/>
                  <a:pt x="110800" y="374282"/>
                  <a:pt x="110800" y="517065"/>
                </a:cubicBezTo>
                <a:cubicBezTo>
                  <a:pt x="110800" y="639451"/>
                  <a:pt x="185210" y="744458"/>
                  <a:pt x="291257" y="789312"/>
                </a:cubicBezTo>
                <a:lnTo>
                  <a:pt x="346715" y="806527"/>
                </a:lnTo>
                <a:lnTo>
                  <a:pt x="324388" y="804276"/>
                </a:lnTo>
                <a:cubicBezTo>
                  <a:pt x="139260" y="766394"/>
                  <a:pt x="0" y="602592"/>
                  <a:pt x="0" y="406265"/>
                </a:cubicBezTo>
                <a:cubicBezTo>
                  <a:pt x="0" y="181891"/>
                  <a:pt x="181891" y="0"/>
                  <a:pt x="406265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FBF4E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6F57B616-5DF2-DA40-C8A2-50F70D94ED05}"/>
              </a:ext>
            </a:extLst>
          </p:cNvPr>
          <p:cNvSpPr/>
          <p:nvPr/>
        </p:nvSpPr>
        <p:spPr>
          <a:xfrm>
            <a:off x="3965323" y="5605811"/>
            <a:ext cx="339976" cy="32988"/>
          </a:xfrm>
          <a:custGeom>
            <a:avLst/>
            <a:gdLst>
              <a:gd name="csX0" fmla="*/ 0 w 104210"/>
              <a:gd name="csY0" fmla="*/ 0 h 10506"/>
              <a:gd name="csX1" fmla="*/ 44660 w 104210"/>
              <a:gd name="csY1" fmla="*/ 4502 h 10506"/>
              <a:gd name="csX2" fmla="*/ 44664 w 104210"/>
              <a:gd name="csY2" fmla="*/ 4503 h 10506"/>
              <a:gd name="csX3" fmla="*/ 104210 w 104210"/>
              <a:gd name="csY3" fmla="*/ 10506 h 10506"/>
              <a:gd name="csX4" fmla="*/ 104210 w 104210"/>
              <a:gd name="csY4" fmla="*/ 10506 h 10506"/>
              <a:gd name="csX5" fmla="*/ 4 w 104210"/>
              <a:gd name="csY5" fmla="*/ 1 h 10506"/>
              <a:gd name="csX6" fmla="*/ 0 w 104210"/>
              <a:gd name="csY6" fmla="*/ 0 h 105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4210" h="10506">
                <a:moveTo>
                  <a:pt x="0" y="0"/>
                </a:moveTo>
                <a:lnTo>
                  <a:pt x="44660" y="4502"/>
                </a:lnTo>
                <a:lnTo>
                  <a:pt x="44664" y="4503"/>
                </a:lnTo>
                <a:lnTo>
                  <a:pt x="104210" y="10506"/>
                </a:lnTo>
                <a:lnTo>
                  <a:pt x="104210" y="10506"/>
                </a:lnTo>
                <a:lnTo>
                  <a:pt x="4" y="1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rgbClr val="FBF4E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8ED57BB4-64D3-956A-1B1F-1969D4B9B0C4}"/>
              </a:ext>
            </a:extLst>
          </p:cNvPr>
          <p:cNvSpPr/>
          <p:nvPr/>
        </p:nvSpPr>
        <p:spPr>
          <a:xfrm>
            <a:off x="4111022" y="5619947"/>
            <a:ext cx="194277" cy="18849"/>
          </a:xfrm>
          <a:custGeom>
            <a:avLst/>
            <a:gdLst>
              <a:gd name="csX0" fmla="*/ 0 w 59550"/>
              <a:gd name="csY0" fmla="*/ 0 h 6003"/>
              <a:gd name="csX1" fmla="*/ 59550 w 59550"/>
              <a:gd name="csY1" fmla="*/ 6003 h 6003"/>
              <a:gd name="csX2" fmla="*/ 0 w 59550"/>
              <a:gd name="csY2" fmla="*/ 0 h 6003"/>
              <a:gd name="csX3" fmla="*/ 0 w 59550"/>
              <a:gd name="csY3" fmla="*/ 0 h 60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50" h="6003">
                <a:moveTo>
                  <a:pt x="0" y="0"/>
                </a:moveTo>
                <a:lnTo>
                  <a:pt x="59550" y="6003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rgbClr val="FBF4E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02E9560D-2A4A-B93D-AAE3-6910C0D8CF94}"/>
              </a:ext>
            </a:extLst>
          </p:cNvPr>
          <p:cNvSpPr/>
          <p:nvPr/>
        </p:nvSpPr>
        <p:spPr>
          <a:xfrm>
            <a:off x="1895474" y="1000124"/>
            <a:ext cx="2409825" cy="4638675"/>
          </a:xfrm>
          <a:custGeom>
            <a:avLst/>
            <a:gdLst>
              <a:gd name="csX0" fmla="*/ 738663 w 738663"/>
              <a:gd name="csY0" fmla="*/ 0 h 1477328"/>
              <a:gd name="csX1" fmla="*/ 738663 w 738663"/>
              <a:gd name="csY1" fmla="*/ 221599 h 1477328"/>
              <a:gd name="csX2" fmla="*/ 110799 w 738663"/>
              <a:gd name="csY2" fmla="*/ 849463 h 1477328"/>
              <a:gd name="csX3" fmla="*/ 612126 w 738663"/>
              <a:gd name="csY3" fmla="*/ 1464571 h 1477328"/>
              <a:gd name="csX4" fmla="*/ 634453 w 738663"/>
              <a:gd name="csY4" fmla="*/ 1466822 h 1477328"/>
              <a:gd name="csX5" fmla="*/ 634457 w 738663"/>
              <a:gd name="csY5" fmla="*/ 1466823 h 1477328"/>
              <a:gd name="csX6" fmla="*/ 738663 w 738663"/>
              <a:gd name="csY6" fmla="*/ 1477328 h 1477328"/>
              <a:gd name="csX7" fmla="*/ 738663 w 738663"/>
              <a:gd name="csY7" fmla="*/ 1477328 h 1477328"/>
              <a:gd name="csX8" fmla="*/ 663140 w 738663"/>
              <a:gd name="csY8" fmla="*/ 1473514 h 1477328"/>
              <a:gd name="csX9" fmla="*/ 0 w 738663"/>
              <a:gd name="csY9" fmla="*/ 738664 h 1477328"/>
              <a:gd name="csX10" fmla="*/ 663140 w 738663"/>
              <a:gd name="csY10" fmla="*/ 3814 h 1477328"/>
              <a:gd name="csX11" fmla="*/ 738663 w 738663"/>
              <a:gd name="csY11" fmla="*/ 0 h 14773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738663" h="1477328">
                <a:moveTo>
                  <a:pt x="738663" y="0"/>
                </a:moveTo>
                <a:lnTo>
                  <a:pt x="738663" y="221599"/>
                </a:lnTo>
                <a:cubicBezTo>
                  <a:pt x="391903" y="221599"/>
                  <a:pt x="110799" y="502703"/>
                  <a:pt x="110799" y="849463"/>
                </a:cubicBezTo>
                <a:cubicBezTo>
                  <a:pt x="110799" y="1152878"/>
                  <a:pt x="326019" y="1406025"/>
                  <a:pt x="612126" y="1464571"/>
                </a:cubicBezTo>
                <a:lnTo>
                  <a:pt x="634453" y="1466822"/>
                </a:lnTo>
                <a:lnTo>
                  <a:pt x="634457" y="1466823"/>
                </a:lnTo>
                <a:lnTo>
                  <a:pt x="738663" y="1477328"/>
                </a:lnTo>
                <a:lnTo>
                  <a:pt x="738663" y="1477328"/>
                </a:lnTo>
                <a:lnTo>
                  <a:pt x="663140" y="1473514"/>
                </a:lnTo>
                <a:cubicBezTo>
                  <a:pt x="290664" y="1435688"/>
                  <a:pt x="0" y="1121120"/>
                  <a:pt x="0" y="738664"/>
                </a:cubicBezTo>
                <a:cubicBezTo>
                  <a:pt x="0" y="356208"/>
                  <a:pt x="290664" y="41641"/>
                  <a:pt x="663140" y="3814"/>
                </a:cubicBezTo>
                <a:lnTo>
                  <a:pt x="738663" y="0"/>
                </a:lnTo>
                <a:close/>
              </a:path>
            </a:pathLst>
          </a:custGeom>
          <a:solidFill>
            <a:schemeClr val="accent1"/>
          </a:solidFill>
          <a:ln w="6350">
            <a:solidFill>
              <a:srgbClr val="FBF4E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149FDF0D-A5E6-AE40-02FC-4D4A84C84938}"/>
              </a:ext>
            </a:extLst>
          </p:cNvPr>
          <p:cNvSpPr/>
          <p:nvPr/>
        </p:nvSpPr>
        <p:spPr>
          <a:xfrm>
            <a:off x="2618422" y="2391725"/>
            <a:ext cx="1686877" cy="3228222"/>
          </a:xfrm>
          <a:custGeom>
            <a:avLst/>
            <a:gdLst>
              <a:gd name="csX0" fmla="*/ 517064 w 517064"/>
              <a:gd name="csY0" fmla="*/ 0 h 1028126"/>
              <a:gd name="csX1" fmla="*/ 517064 w 517064"/>
              <a:gd name="csY1" fmla="*/ 221599 h 1028126"/>
              <a:gd name="csX2" fmla="*/ 110799 w 517064"/>
              <a:gd name="csY2" fmla="*/ 627864 h 1028126"/>
              <a:gd name="csX3" fmla="*/ 435187 w 517064"/>
              <a:gd name="csY3" fmla="*/ 1025875 h 1028126"/>
              <a:gd name="csX4" fmla="*/ 457514 w 517064"/>
              <a:gd name="csY4" fmla="*/ 1028126 h 1028126"/>
              <a:gd name="csX5" fmla="*/ 457514 w 517064"/>
              <a:gd name="csY5" fmla="*/ 1028126 h 1028126"/>
              <a:gd name="csX6" fmla="*/ 412854 w 517064"/>
              <a:gd name="csY6" fmla="*/ 1023624 h 1028126"/>
              <a:gd name="csX7" fmla="*/ 315800 w 517064"/>
              <a:gd name="csY7" fmla="*/ 993496 h 1028126"/>
              <a:gd name="csX8" fmla="*/ 0 w 517064"/>
              <a:gd name="csY8" fmla="*/ 517065 h 1028126"/>
              <a:gd name="csX9" fmla="*/ 412858 w 517064"/>
              <a:gd name="csY9" fmla="*/ 10505 h 1028126"/>
              <a:gd name="csX10" fmla="*/ 517064 w 517064"/>
              <a:gd name="csY10" fmla="*/ 0 h 10281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517064" h="1028126">
                <a:moveTo>
                  <a:pt x="517064" y="0"/>
                </a:moveTo>
                <a:lnTo>
                  <a:pt x="517064" y="221599"/>
                </a:lnTo>
                <a:cubicBezTo>
                  <a:pt x="292690" y="221599"/>
                  <a:pt x="110799" y="403490"/>
                  <a:pt x="110799" y="627864"/>
                </a:cubicBezTo>
                <a:cubicBezTo>
                  <a:pt x="110799" y="824191"/>
                  <a:pt x="250059" y="987993"/>
                  <a:pt x="435187" y="1025875"/>
                </a:cubicBezTo>
                <a:lnTo>
                  <a:pt x="457514" y="1028126"/>
                </a:lnTo>
                <a:lnTo>
                  <a:pt x="457514" y="1028126"/>
                </a:lnTo>
                <a:lnTo>
                  <a:pt x="412854" y="1023624"/>
                </a:lnTo>
                <a:lnTo>
                  <a:pt x="315800" y="993496"/>
                </a:lnTo>
                <a:cubicBezTo>
                  <a:pt x="130217" y="915002"/>
                  <a:pt x="0" y="731240"/>
                  <a:pt x="0" y="517065"/>
                </a:cubicBezTo>
                <a:cubicBezTo>
                  <a:pt x="0" y="267194"/>
                  <a:pt x="177240" y="58719"/>
                  <a:pt x="412858" y="10505"/>
                </a:cubicBezTo>
                <a:lnTo>
                  <a:pt x="517064" y="0"/>
                </a:ln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 w="9525">
            <a:solidFill>
              <a:srgbClr val="FBF4E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45892AE3-9B89-D387-4334-B6C2E91D519F}"/>
              </a:ext>
            </a:extLst>
          </p:cNvPr>
          <p:cNvSpPr/>
          <p:nvPr/>
        </p:nvSpPr>
        <p:spPr>
          <a:xfrm>
            <a:off x="3341370" y="3783326"/>
            <a:ext cx="963929" cy="1855469"/>
          </a:xfrm>
          <a:custGeom>
            <a:avLst/>
            <a:gdLst>
              <a:gd name="csX0" fmla="*/ 295465 w 295465"/>
              <a:gd name="csY0" fmla="*/ 0 h 590931"/>
              <a:gd name="csX1" fmla="*/ 295465 w 295465"/>
              <a:gd name="csY1" fmla="*/ 590931 h 590931"/>
              <a:gd name="csX2" fmla="*/ 235915 w 295465"/>
              <a:gd name="csY2" fmla="*/ 584928 h 590931"/>
              <a:gd name="csX3" fmla="*/ 180457 w 295465"/>
              <a:gd name="csY3" fmla="*/ 567713 h 590931"/>
              <a:gd name="csX4" fmla="*/ 0 w 295465"/>
              <a:gd name="csY4" fmla="*/ 295466 h 590931"/>
              <a:gd name="csX5" fmla="*/ 235919 w 295465"/>
              <a:gd name="csY5" fmla="*/ 6003 h 590931"/>
              <a:gd name="csX6" fmla="*/ 295465 w 295465"/>
              <a:gd name="csY6" fmla="*/ 0 h 5909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95465" h="590931">
                <a:moveTo>
                  <a:pt x="295465" y="0"/>
                </a:moveTo>
                <a:lnTo>
                  <a:pt x="295465" y="590931"/>
                </a:lnTo>
                <a:lnTo>
                  <a:pt x="235915" y="584928"/>
                </a:lnTo>
                <a:lnTo>
                  <a:pt x="180457" y="567713"/>
                </a:lnTo>
                <a:cubicBezTo>
                  <a:pt x="74410" y="522859"/>
                  <a:pt x="0" y="417852"/>
                  <a:pt x="0" y="295466"/>
                </a:cubicBezTo>
                <a:cubicBezTo>
                  <a:pt x="0" y="152683"/>
                  <a:pt x="101280" y="33554"/>
                  <a:pt x="235919" y="6003"/>
                </a:cubicBezTo>
                <a:lnTo>
                  <a:pt x="295465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FBF4E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8D4FC51C-5991-497E-2600-FEA179A09037}"/>
              </a:ext>
            </a:extLst>
          </p:cNvPr>
          <p:cNvSpPr/>
          <p:nvPr/>
        </p:nvSpPr>
        <p:spPr>
          <a:xfrm>
            <a:off x="4111022" y="5619947"/>
            <a:ext cx="194277" cy="18852"/>
          </a:xfrm>
          <a:custGeom>
            <a:avLst/>
            <a:gdLst>
              <a:gd name="csX0" fmla="*/ 0 w 59550"/>
              <a:gd name="csY0" fmla="*/ 0 h 6004"/>
              <a:gd name="csX1" fmla="*/ 59550 w 59550"/>
              <a:gd name="csY1" fmla="*/ 6003 h 6004"/>
              <a:gd name="csX2" fmla="*/ 59550 w 59550"/>
              <a:gd name="csY2" fmla="*/ 6004 h 6004"/>
              <a:gd name="csX3" fmla="*/ 4 w 59550"/>
              <a:gd name="csY3" fmla="*/ 1 h 6004"/>
              <a:gd name="csX4" fmla="*/ 0 w 59550"/>
              <a:gd name="csY4" fmla="*/ 0 h 60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9550" h="6004">
                <a:moveTo>
                  <a:pt x="0" y="0"/>
                </a:moveTo>
                <a:lnTo>
                  <a:pt x="59550" y="6003"/>
                </a:lnTo>
                <a:lnTo>
                  <a:pt x="59550" y="6004"/>
                </a:lnTo>
                <a:lnTo>
                  <a:pt x="4" y="1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rgbClr val="FBF4E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DF5C2C87-65DC-AE6D-7DBD-7A24AE48D534}"/>
              </a:ext>
            </a:extLst>
          </p:cNvPr>
          <p:cNvSpPr txBox="1"/>
          <p:nvPr/>
        </p:nvSpPr>
        <p:spPr>
          <a:xfrm>
            <a:off x="5116289" y="1841657"/>
            <a:ext cx="47148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Montserrat" pitchFamily="2" charset="0"/>
              </a:rPr>
              <a:t>Problem &amp; Solution</a:t>
            </a:r>
            <a:endParaRPr lang="en-US" dirty="0">
              <a:latin typeface="Montserrat" pitchFamily="2" charset="0"/>
            </a:endParaRPr>
          </a:p>
        </p:txBody>
      </p:sp>
      <p:pic>
        <p:nvPicPr>
          <p:cNvPr id="109" name="Image 1" descr="preencoded.png">
            <a:extLst>
              <a:ext uri="{FF2B5EF4-FFF2-40B4-BE49-F238E27FC236}">
                <a16:creationId xmlns:a16="http://schemas.microsoft.com/office/drawing/2014/main" id="{13FDFE6C-19E1-8360-9A94-9CBBD45B5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565" y="1828520"/>
            <a:ext cx="533248" cy="533248"/>
          </a:xfrm>
          <a:prstGeom prst="rect">
            <a:avLst/>
          </a:prstGeom>
        </p:spPr>
      </p:pic>
      <p:pic>
        <p:nvPicPr>
          <p:cNvPr id="111" name="Image 3" descr="preencoded.png">
            <a:extLst>
              <a:ext uri="{FF2B5EF4-FFF2-40B4-BE49-F238E27FC236}">
                <a16:creationId xmlns:a16="http://schemas.microsoft.com/office/drawing/2014/main" id="{36721547-3B1F-5A78-23C2-A0F986DA5E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565" y="2510640"/>
            <a:ext cx="533248" cy="533248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CDF3092C-F7C3-1AA1-9DC5-945DF8526217}"/>
              </a:ext>
            </a:extLst>
          </p:cNvPr>
          <p:cNvSpPr txBox="1"/>
          <p:nvPr/>
        </p:nvSpPr>
        <p:spPr>
          <a:xfrm>
            <a:off x="5116289" y="2500339"/>
            <a:ext cx="50196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Montserrat" pitchFamily="2" charset="0"/>
              </a:rPr>
              <a:t>Architecture overview</a:t>
            </a:r>
            <a:endParaRPr lang="en-US" sz="2000" dirty="0">
              <a:latin typeface="Montserrat" pitchFamily="2" charset="0"/>
            </a:endParaRPr>
          </a:p>
        </p:txBody>
      </p:sp>
      <p:pic>
        <p:nvPicPr>
          <p:cNvPr id="113" name="Image 2" descr="preencoded.png">
            <a:extLst>
              <a:ext uri="{FF2B5EF4-FFF2-40B4-BE49-F238E27FC236}">
                <a16:creationId xmlns:a16="http://schemas.microsoft.com/office/drawing/2014/main" id="{6BE439F0-9923-6E41-D659-54456ACBA7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5318" y="3324262"/>
            <a:ext cx="467951" cy="467951"/>
          </a:xfrm>
          <a:prstGeom prst="rect">
            <a:avLst/>
          </a:prstGeom>
        </p:spPr>
      </p:pic>
      <p:sp>
        <p:nvSpPr>
          <p:cNvPr id="114" name="TextBox 113">
            <a:extLst>
              <a:ext uri="{FF2B5EF4-FFF2-40B4-BE49-F238E27FC236}">
                <a16:creationId xmlns:a16="http://schemas.microsoft.com/office/drawing/2014/main" id="{53820A7C-BBA1-2324-F033-30AC7DC58E9A}"/>
              </a:ext>
            </a:extLst>
          </p:cNvPr>
          <p:cNvSpPr txBox="1"/>
          <p:nvPr/>
        </p:nvSpPr>
        <p:spPr>
          <a:xfrm>
            <a:off x="5116289" y="3228453"/>
            <a:ext cx="5991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Montserrat" pitchFamily="2" charset="0"/>
              </a:rPr>
              <a:t>Features &amp; implementation</a:t>
            </a:r>
            <a:endParaRPr lang="en-US" dirty="0">
              <a:latin typeface="Montserrat" pitchFamily="2" charset="0"/>
            </a:endParaRPr>
          </a:p>
        </p:txBody>
      </p:sp>
      <p:pic>
        <p:nvPicPr>
          <p:cNvPr id="115" name="Image 11" descr="preencoded.png">
            <a:extLst>
              <a:ext uri="{FF2B5EF4-FFF2-40B4-BE49-F238E27FC236}">
                <a16:creationId xmlns:a16="http://schemas.microsoft.com/office/drawing/2014/main" id="{F48F96AD-0E00-6C61-0094-2F8D8B1552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5565" y="4046967"/>
            <a:ext cx="467951" cy="467951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AE13A704-2296-88F2-6446-2500D90964C0}"/>
              </a:ext>
            </a:extLst>
          </p:cNvPr>
          <p:cNvSpPr txBox="1"/>
          <p:nvPr/>
        </p:nvSpPr>
        <p:spPr>
          <a:xfrm>
            <a:off x="5116289" y="3953037"/>
            <a:ext cx="5562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1A1A2E"/>
                </a:solidFill>
                <a:latin typeface="Montserrat" pitchFamily="2" charset="0"/>
                <a:ea typeface="Segoe UI" pitchFamily="34" charset="-122"/>
                <a:cs typeface="Segoe UI" pitchFamily="34" charset="-120"/>
              </a:rPr>
              <a:t>Future Improvements</a:t>
            </a:r>
            <a:endParaRPr lang="en-US" sz="3200" dirty="0">
              <a:latin typeface="Montserrat" pitchFamily="2" charset="0"/>
            </a:endParaRPr>
          </a:p>
        </p:txBody>
      </p:sp>
      <p:pic>
        <p:nvPicPr>
          <p:cNvPr id="117" name="Image 12" descr="preencoded.png">
            <a:extLst>
              <a:ext uri="{FF2B5EF4-FFF2-40B4-BE49-F238E27FC236}">
                <a16:creationId xmlns:a16="http://schemas.microsoft.com/office/drawing/2014/main" id="{DE08B67F-069D-A739-8894-58C7703D09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5565" y="4822261"/>
            <a:ext cx="533248" cy="533248"/>
          </a:xfrm>
          <a:prstGeom prst="rect">
            <a:avLst/>
          </a:prstGeom>
        </p:spPr>
      </p:pic>
      <p:sp>
        <p:nvSpPr>
          <p:cNvPr id="118" name="TextBox 117">
            <a:extLst>
              <a:ext uri="{FF2B5EF4-FFF2-40B4-BE49-F238E27FC236}">
                <a16:creationId xmlns:a16="http://schemas.microsoft.com/office/drawing/2014/main" id="{E3564880-AE32-49A6-2C88-4E628FDF53F8}"/>
              </a:ext>
            </a:extLst>
          </p:cNvPr>
          <p:cNvSpPr txBox="1"/>
          <p:nvPr/>
        </p:nvSpPr>
        <p:spPr>
          <a:xfrm>
            <a:off x="5116289" y="4765893"/>
            <a:ext cx="4781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Montserrat" pitchFamily="2" charset="0"/>
              </a:rPr>
              <a:t>Conclusion</a:t>
            </a:r>
            <a:endParaRPr lang="en-US" dirty="0">
              <a:latin typeface="Montserrat" pitchFamily="2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1A7316D-214A-2F1E-AFDC-9C85BD3E58D3}"/>
              </a:ext>
            </a:extLst>
          </p:cNvPr>
          <p:cNvSpPr txBox="1"/>
          <p:nvPr/>
        </p:nvSpPr>
        <p:spPr>
          <a:xfrm>
            <a:off x="365468" y="428178"/>
            <a:ext cx="157950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1A472A"/>
                </a:solidFill>
                <a:latin typeface="Montserrat" pitchFamily="2" charset="0"/>
              </a:rPr>
              <a:t>C</a:t>
            </a:r>
            <a:br>
              <a:rPr lang="en-US" sz="4800" b="1" dirty="0">
                <a:solidFill>
                  <a:srgbClr val="1A472A"/>
                </a:solidFill>
                <a:latin typeface="Montserrat" pitchFamily="2" charset="0"/>
              </a:rPr>
            </a:br>
            <a:r>
              <a:rPr lang="en-US" sz="4800" b="1" dirty="0">
                <a:solidFill>
                  <a:srgbClr val="1A472A"/>
                </a:solidFill>
                <a:latin typeface="Montserrat" pitchFamily="2" charset="0"/>
              </a:rPr>
              <a:t>O</a:t>
            </a:r>
            <a:br>
              <a:rPr lang="en-US" sz="4800" b="1" dirty="0">
                <a:solidFill>
                  <a:srgbClr val="1A472A"/>
                </a:solidFill>
                <a:latin typeface="Montserrat" pitchFamily="2" charset="0"/>
              </a:rPr>
            </a:br>
            <a:r>
              <a:rPr lang="en-US" sz="4800" b="1" dirty="0">
                <a:solidFill>
                  <a:srgbClr val="1A472A"/>
                </a:solidFill>
                <a:latin typeface="Montserrat" pitchFamily="2" charset="0"/>
              </a:rPr>
              <a:t>N</a:t>
            </a:r>
            <a:br>
              <a:rPr lang="en-US" sz="4800" b="1" dirty="0">
                <a:solidFill>
                  <a:srgbClr val="1A472A"/>
                </a:solidFill>
                <a:latin typeface="Montserrat" pitchFamily="2" charset="0"/>
              </a:rPr>
            </a:br>
            <a:r>
              <a:rPr lang="en-US" sz="4800" b="1" dirty="0">
                <a:solidFill>
                  <a:srgbClr val="1A472A"/>
                </a:solidFill>
                <a:latin typeface="Montserrat" pitchFamily="2" charset="0"/>
              </a:rPr>
              <a:t>T</a:t>
            </a:r>
            <a:br>
              <a:rPr lang="en-US" sz="4800" b="1" dirty="0">
                <a:solidFill>
                  <a:srgbClr val="1A472A"/>
                </a:solidFill>
                <a:latin typeface="Montserrat" pitchFamily="2" charset="0"/>
              </a:rPr>
            </a:br>
            <a:r>
              <a:rPr lang="en-US" sz="4800" b="1" dirty="0">
                <a:solidFill>
                  <a:srgbClr val="1A472A"/>
                </a:solidFill>
                <a:latin typeface="Montserrat" pitchFamily="2" charset="0"/>
              </a:rPr>
              <a:t>E</a:t>
            </a:r>
            <a:br>
              <a:rPr lang="en-US" sz="4800" b="1" dirty="0">
                <a:solidFill>
                  <a:srgbClr val="1A472A"/>
                </a:solidFill>
                <a:latin typeface="Montserrat" pitchFamily="2" charset="0"/>
              </a:rPr>
            </a:br>
            <a:r>
              <a:rPr lang="en-US" sz="4800" b="1" dirty="0">
                <a:solidFill>
                  <a:srgbClr val="1A472A"/>
                </a:solidFill>
                <a:latin typeface="Montserrat" pitchFamily="2" charset="0"/>
              </a:rPr>
              <a:t>N</a:t>
            </a:r>
            <a:br>
              <a:rPr lang="en-US" sz="4800" b="1" dirty="0">
                <a:solidFill>
                  <a:srgbClr val="1A472A"/>
                </a:solidFill>
                <a:latin typeface="Montserrat" pitchFamily="2" charset="0"/>
              </a:rPr>
            </a:br>
            <a:r>
              <a:rPr lang="en-US" sz="4800" b="1" dirty="0">
                <a:solidFill>
                  <a:srgbClr val="1A472A"/>
                </a:solidFill>
                <a:latin typeface="Montserrat" pitchFamily="2" charset="0"/>
              </a:rPr>
              <a:t>T</a:t>
            </a:r>
            <a:br>
              <a:rPr lang="en-US" sz="4800" b="1" dirty="0">
                <a:solidFill>
                  <a:srgbClr val="1A472A"/>
                </a:solidFill>
                <a:latin typeface="Montserrat" pitchFamily="2" charset="0"/>
              </a:rPr>
            </a:br>
            <a:r>
              <a:rPr lang="en-US" sz="4800" b="1" dirty="0">
                <a:solidFill>
                  <a:srgbClr val="1A472A"/>
                </a:solidFill>
                <a:latin typeface="Montserrat" pitchFamily="2" charset="0"/>
              </a:rPr>
              <a:t>S</a:t>
            </a:r>
          </a:p>
        </p:txBody>
      </p:sp>
      <p:pic>
        <p:nvPicPr>
          <p:cNvPr id="120" name="Image 0" descr="preencoded.png">
            <a:extLst>
              <a:ext uri="{FF2B5EF4-FFF2-40B4-BE49-F238E27FC236}">
                <a16:creationId xmlns:a16="http://schemas.microsoft.com/office/drawing/2014/main" id="{B80BD30E-7439-ED35-111E-33840BC804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9832" y="1161916"/>
            <a:ext cx="452835" cy="452835"/>
          </a:xfrm>
          <a:prstGeom prst="rect">
            <a:avLst/>
          </a:prstGeom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D5E73EC4-586D-7E88-503A-6DE740F3B6B7}"/>
              </a:ext>
            </a:extLst>
          </p:cNvPr>
          <p:cNvSpPr txBox="1"/>
          <p:nvPr/>
        </p:nvSpPr>
        <p:spPr>
          <a:xfrm>
            <a:off x="5163765" y="1132887"/>
            <a:ext cx="5180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Montserrat" pitchFamily="2" charset="0"/>
              </a:rPr>
              <a:t>Introduction</a:t>
            </a:r>
            <a:endParaRPr lang="en-US" dirty="0">
              <a:latin typeface="Montserrat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  <p:bldP spid="112" grpId="0"/>
      <p:bldP spid="114" grpId="0"/>
      <p:bldP spid="116" grpId="0"/>
      <p:bldP spid="118" grpId="0"/>
      <p:bldP spid="1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FBF4E2"/>
            </a:gs>
            <a:gs pos="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324993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472A"/>
                </a:solidFill>
                <a:latin typeface="Montserrat" pitchFamily="2" charset="0"/>
                <a:ea typeface="Segoe UI" pitchFamily="34" charset="-122"/>
                <a:cs typeface="Segoe UI" pitchFamily="34" charset="-120"/>
              </a:rPr>
              <a:t>Introduction</a:t>
            </a:r>
            <a:endParaRPr lang="en-US" sz="4000" dirty="0">
              <a:latin typeface="Montserrat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86943" y="972312"/>
            <a:ext cx="502920" cy="4114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6" name="Text 4"/>
          <p:cNvSpPr/>
          <p:nvPr/>
        </p:nvSpPr>
        <p:spPr>
          <a:xfrm>
            <a:off x="686943" y="1581310"/>
            <a:ext cx="5760720" cy="1939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25000"/>
              </a:lnSpc>
            </a:pPr>
            <a:r>
              <a:rPr lang="en-US" sz="1400" dirty="0">
                <a:solidFill>
                  <a:srgbClr val="1A1A2E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The traditional </a:t>
            </a:r>
            <a:r>
              <a:rPr lang="en-US" sz="1400" dirty="0" err="1">
                <a:solidFill>
                  <a:srgbClr val="1A1A2E"/>
                </a:solidFill>
                <a:latin typeface="Segoe UI" panose="020B0502040204020203" pitchFamily="34" charset="0"/>
                <a:ea typeface="Nirmala UI" pitchFamily="34" charset="-122"/>
                <a:cs typeface="Segoe UI" panose="020B0502040204020203" pitchFamily="34" charset="0"/>
              </a:rPr>
              <a:t>হালখাতা</a:t>
            </a:r>
            <a:r>
              <a:rPr lang="en-US" sz="1400" dirty="0">
                <a:solidFill>
                  <a:srgbClr val="1A1A2E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 (</a:t>
            </a:r>
            <a:r>
              <a:rPr lang="en-US" sz="1400" dirty="0" err="1">
                <a:solidFill>
                  <a:srgbClr val="1A1A2E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halkhata</a:t>
            </a:r>
            <a:r>
              <a:rPr lang="en-US" sz="1400" dirty="0">
                <a:solidFill>
                  <a:srgbClr val="1A1A2E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) is a handwritten credit ledger used for generations by small shop owners across Bangladesh to track customer purchases and repayments.</a:t>
            </a:r>
          </a:p>
          <a:p>
            <a:pPr algn="just">
              <a:lnSpc>
                <a:spcPct val="125000"/>
              </a:lnSpc>
            </a:pPr>
            <a:endParaRPr lang="en-US" sz="1400" dirty="0">
              <a:solidFill>
                <a:srgbClr val="1A1A2E"/>
              </a:solidFill>
              <a:latin typeface="Segoe UI" panose="020B0502040204020203" pitchFamily="34" charset="0"/>
              <a:ea typeface="Segoe UI" pitchFamily="34" charset="-122"/>
              <a:cs typeface="Segoe UI" panose="020B0502040204020203" pitchFamily="34" charset="0"/>
            </a:endParaRPr>
          </a:p>
          <a:p>
            <a:pPr algn="just">
              <a:lnSpc>
                <a:spcPct val="125000"/>
              </a:lnSpc>
            </a:pPr>
            <a:r>
              <a:rPr lang="en-US" sz="1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হালখাতা</a:t>
            </a:r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 Digital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is a web-based shop management system developed to modernize this process while keeping the workflow familiar to Bangladeshi shop owners.</a:t>
            </a:r>
            <a:endParaRPr lang="en-US" sz="1400" dirty="0">
              <a:solidFill>
                <a:srgbClr val="1A1A2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25000"/>
              </a:lnSpc>
            </a:pP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89888" y="3701415"/>
            <a:ext cx="5285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400" dirty="0"/>
              <a:t>Digital replacement of the traditional paper </a:t>
            </a:r>
            <a:r>
              <a:rPr lang="en-US" sz="1400" dirty="0" err="1"/>
              <a:t>halkhata</a:t>
            </a:r>
            <a:endParaRPr lang="en-US" sz="13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02" y="4250474"/>
            <a:ext cx="161666" cy="16166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89888" y="4224528"/>
            <a:ext cx="5285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400" dirty="0"/>
              <a:t>Responsive interface with Bengali language support</a:t>
            </a:r>
            <a:endParaRPr lang="en-US" sz="13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202" y="4911029"/>
            <a:ext cx="161666" cy="16166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89888" y="4820031"/>
            <a:ext cx="5285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400" dirty="0"/>
              <a:t>Tracks customer credit, payments, inventory, suppliers, and expenses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7223760" y="1876425"/>
            <a:ext cx="4343400" cy="4257676"/>
          </a:xfrm>
          <a:prstGeom prst="roundRect">
            <a:avLst>
              <a:gd name="adj" fmla="val 2526"/>
            </a:avLst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543800" y="2011680"/>
            <a:ext cx="548640" cy="548640"/>
          </a:xfrm>
          <a:prstGeom prst="ellipse">
            <a:avLst/>
          </a:prstGeom>
          <a:solidFill>
            <a:srgbClr val="E9C46A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474" y="2143354"/>
            <a:ext cx="285293" cy="28529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54380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Built For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7543800" y="30175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Small &amp; medium retail shop owners who currently rely on paper-based credit tracking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7543800" y="3977640"/>
            <a:ext cx="3566160" cy="1828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5" name="Shape 18"/>
          <p:cNvSpPr/>
          <p:nvPr/>
        </p:nvSpPr>
        <p:spPr>
          <a:xfrm>
            <a:off x="7543800" y="4206240"/>
            <a:ext cx="548640" cy="548640"/>
          </a:xfrm>
          <a:prstGeom prst="ellipse">
            <a:avLst/>
          </a:prstGeom>
          <a:solidFill>
            <a:srgbClr val="E9C46A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5474" y="4337914"/>
            <a:ext cx="285293" cy="28529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543800" y="4892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Core Idea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7543800" y="52120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One customer. One running balance. One always-current source of truth</a:t>
            </a:r>
            <a:r>
              <a:rPr lang="en-US" sz="1300" dirty="0">
                <a:solidFill>
                  <a:srgbClr val="F5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pic>
        <p:nvPicPr>
          <p:cNvPr id="30" name="Image 9" descr="preencoded.png">
            <a:extLst>
              <a:ext uri="{FF2B5EF4-FFF2-40B4-BE49-F238E27FC236}">
                <a16:creationId xmlns:a16="http://schemas.microsoft.com/office/drawing/2014/main" id="{E5F59A85-4938-4D0B-08DF-1489655194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4765" y="3702322"/>
            <a:ext cx="190195" cy="190195"/>
          </a:xfrm>
          <a:prstGeom prst="rect">
            <a:avLst/>
          </a:prstGeom>
        </p:spPr>
      </p:pic>
      <p:sp>
        <p:nvSpPr>
          <p:cNvPr id="31" name="Text 1">
            <a:extLst>
              <a:ext uri="{FF2B5EF4-FFF2-40B4-BE49-F238E27FC236}">
                <a16:creationId xmlns:a16="http://schemas.microsoft.com/office/drawing/2014/main" id="{2E1AEFDD-5467-8131-BEAF-653C1CF43F0A}"/>
              </a:ext>
            </a:extLst>
          </p:cNvPr>
          <p:cNvSpPr/>
          <p:nvPr/>
        </p:nvSpPr>
        <p:spPr>
          <a:xfrm>
            <a:off x="12289155" y="413004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472A"/>
                </a:solidFill>
                <a:latin typeface="Montserrat" pitchFamily="2" charset="0"/>
                <a:ea typeface="Segoe UI" pitchFamily="34" charset="-122"/>
                <a:cs typeface="Segoe UI" pitchFamily="34" charset="-120"/>
              </a:rPr>
              <a:t>Problem Statement</a:t>
            </a:r>
            <a:endParaRPr lang="en-US" sz="4000" dirty="0">
              <a:latin typeface="Montserrat" pitchFamily="2" charset="0"/>
            </a:endParaRPr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73FCE9A4-94EA-B8DA-8573-FC63396543FE}"/>
              </a:ext>
            </a:extLst>
          </p:cNvPr>
          <p:cNvSpPr/>
          <p:nvPr/>
        </p:nvSpPr>
        <p:spPr>
          <a:xfrm>
            <a:off x="12307443" y="1058037"/>
            <a:ext cx="502920" cy="41148"/>
          </a:xfrm>
          <a:prstGeom prst="rect">
            <a:avLst/>
          </a:prstGeom>
          <a:solidFill>
            <a:srgbClr val="E9C46A"/>
          </a:solidFill>
          <a:ln/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5" grpId="0" animBg="1"/>
      <p:bldP spid="18" grpId="0" animBg="1"/>
      <p:bldP spid="22" grpId="0" animBg="1"/>
      <p:bldP spid="23" grpId="0" animBg="1"/>
      <p:bldP spid="27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FBF4E2"/>
            </a:gs>
            <a:gs pos="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413004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472A"/>
                </a:solidFill>
                <a:latin typeface="Montserrat" pitchFamily="2" charset="0"/>
                <a:ea typeface="Segoe UI" pitchFamily="34" charset="-122"/>
                <a:cs typeface="Segoe UI" pitchFamily="34" charset="-120"/>
              </a:rPr>
              <a:t>Problem Statement</a:t>
            </a:r>
            <a:endParaRPr lang="en-US" sz="4000" dirty="0">
              <a:latin typeface="Montserrat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58368" y="1058037"/>
            <a:ext cx="502920" cy="4114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91640"/>
            <a:ext cx="5349240" cy="4480560"/>
          </a:xfrm>
          <a:prstGeom prst="roundRect">
            <a:avLst>
              <a:gd name="adj" fmla="val 2449"/>
            </a:avLst>
          </a:prstGeom>
          <a:noFill/>
          <a:ln w="19050">
            <a:solidFill>
              <a:srgbClr val="C00000"/>
            </a:solidFill>
            <a:prstDash val="solid"/>
          </a:ln>
          <a:effectLst>
            <a:outerShdw blurRad="127000" dist="38100" dir="5400000" algn="bl" rotWithShape="0">
              <a:srgbClr val="1A472A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C3B23"/>
                </a:solidFill>
                <a:latin typeface="Montserrat" pitchFamily="2" charset="0"/>
                <a:ea typeface="Segoe UI" pitchFamily="34" charset="-122"/>
                <a:cs typeface="Segoe UI" pitchFamily="34" charset="-120"/>
              </a:rPr>
              <a:t>Traditional Problems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14400" y="2546985"/>
            <a:ext cx="292608" cy="292608"/>
          </a:xfrm>
          <a:prstGeom prst="ellipse">
            <a:avLst/>
          </a:prstGeom>
          <a:solidFill>
            <a:srgbClr val="9C3B23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626" y="2617211"/>
            <a:ext cx="152156" cy="1521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98448" y="242468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8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Ledgers lost, torn, or damaged with no backup</a:t>
            </a:r>
            <a:endParaRPr lang="en-US" sz="1280" dirty="0"/>
          </a:p>
        </p:txBody>
      </p:sp>
      <p:sp>
        <p:nvSpPr>
          <p:cNvPr id="10" name="Shape 7"/>
          <p:cNvSpPr/>
          <p:nvPr/>
        </p:nvSpPr>
        <p:spPr>
          <a:xfrm>
            <a:off x="914400" y="3222117"/>
            <a:ext cx="292608" cy="292608"/>
          </a:xfrm>
          <a:prstGeom prst="ellipse">
            <a:avLst/>
          </a:prstGeom>
          <a:solidFill>
            <a:srgbClr val="9C3B2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626" y="3292343"/>
            <a:ext cx="152156" cy="1521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98448" y="3109341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8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balance calculations prone to error</a:t>
            </a:r>
            <a:endParaRPr lang="en-US" sz="1280" dirty="0"/>
          </a:p>
        </p:txBody>
      </p:sp>
      <p:sp>
        <p:nvSpPr>
          <p:cNvPr id="13" name="Shape 9"/>
          <p:cNvSpPr/>
          <p:nvPr/>
        </p:nvSpPr>
        <p:spPr>
          <a:xfrm>
            <a:off x="914400" y="3935349"/>
            <a:ext cx="292608" cy="292608"/>
          </a:xfrm>
          <a:prstGeom prst="ellipse">
            <a:avLst/>
          </a:prstGeom>
          <a:solidFill>
            <a:srgbClr val="9C3B23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626" y="4005575"/>
            <a:ext cx="152156" cy="1521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98448" y="381304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8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way to generate monthly / yearly summaries</a:t>
            </a:r>
            <a:endParaRPr lang="en-US" sz="1280" dirty="0"/>
          </a:p>
        </p:txBody>
      </p:sp>
      <p:sp>
        <p:nvSpPr>
          <p:cNvPr id="16" name="Shape 11"/>
          <p:cNvSpPr/>
          <p:nvPr/>
        </p:nvSpPr>
        <p:spPr>
          <a:xfrm>
            <a:off x="914400" y="4648581"/>
            <a:ext cx="292608" cy="292608"/>
          </a:xfrm>
          <a:prstGeom prst="ellipse">
            <a:avLst/>
          </a:prstGeom>
          <a:solidFill>
            <a:srgbClr val="9C3B23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626" y="4718807"/>
            <a:ext cx="152156" cy="1521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98448" y="45262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8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levels untracked and disconnected from sales</a:t>
            </a:r>
            <a:endParaRPr lang="en-US" sz="1280" dirty="0"/>
          </a:p>
        </p:txBody>
      </p:sp>
      <p:sp>
        <p:nvSpPr>
          <p:cNvPr id="19" name="Shape 13"/>
          <p:cNvSpPr/>
          <p:nvPr/>
        </p:nvSpPr>
        <p:spPr>
          <a:xfrm>
            <a:off x="914400" y="5361813"/>
            <a:ext cx="292608" cy="292608"/>
          </a:xfrm>
          <a:prstGeom prst="ellipse">
            <a:avLst/>
          </a:prstGeom>
          <a:solidFill>
            <a:srgbClr val="9C3B23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626" y="5432039"/>
            <a:ext cx="152156" cy="1521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98448" y="523951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8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history buried across many notebook pages</a:t>
            </a:r>
            <a:endParaRPr lang="en-US" sz="1280" dirty="0"/>
          </a:p>
        </p:txBody>
      </p:sp>
      <p:sp>
        <p:nvSpPr>
          <p:cNvPr id="22" name="Shape 15"/>
          <p:cNvSpPr/>
          <p:nvPr/>
        </p:nvSpPr>
        <p:spPr>
          <a:xfrm>
            <a:off x="6199632" y="1691640"/>
            <a:ext cx="5349240" cy="4480560"/>
          </a:xfrm>
          <a:prstGeom prst="roundRect">
            <a:avLst>
              <a:gd name="adj" fmla="val 2449"/>
            </a:avLst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6473952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0916C"/>
                </a:solidFill>
                <a:latin typeface="Montserrat" pitchFamily="2" charset="0"/>
                <a:ea typeface="Segoe UI" pitchFamily="34" charset="-122"/>
                <a:cs typeface="Segoe UI" pitchFamily="34" charset="-120"/>
              </a:rPr>
              <a:t>Our Solution</a:t>
            </a:r>
            <a:endParaRPr lang="en-US" sz="2000" dirty="0">
              <a:solidFill>
                <a:srgbClr val="40916C"/>
              </a:solidFill>
              <a:latin typeface="Montserrat" pitchFamily="2" charset="0"/>
            </a:endParaRPr>
          </a:p>
        </p:txBody>
      </p:sp>
      <p:sp>
        <p:nvSpPr>
          <p:cNvPr id="24" name="Shape 17"/>
          <p:cNvSpPr/>
          <p:nvPr/>
        </p:nvSpPr>
        <p:spPr>
          <a:xfrm>
            <a:off x="6473952" y="2546985"/>
            <a:ext cx="292608" cy="292608"/>
          </a:xfrm>
          <a:prstGeom prst="ellipse">
            <a:avLst/>
          </a:prstGeom>
          <a:solidFill>
            <a:srgbClr val="40916C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4178" y="2617211"/>
            <a:ext cx="152156" cy="15215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58000" y="242468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80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Secure SQLite storage with one-click JSON backup</a:t>
            </a:r>
            <a:endParaRPr lang="en-US" sz="1280" dirty="0"/>
          </a:p>
        </p:txBody>
      </p:sp>
      <p:sp>
        <p:nvSpPr>
          <p:cNvPr id="27" name="Shape 19"/>
          <p:cNvSpPr/>
          <p:nvPr/>
        </p:nvSpPr>
        <p:spPr>
          <a:xfrm>
            <a:off x="6473952" y="3222117"/>
            <a:ext cx="292608" cy="292608"/>
          </a:xfrm>
          <a:prstGeom prst="ellipse">
            <a:avLst/>
          </a:prstGeom>
          <a:solidFill>
            <a:srgbClr val="40916C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4178" y="3292343"/>
            <a:ext cx="152156" cy="15215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858000" y="3099816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80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Balances computed automatically — zero manual math</a:t>
            </a:r>
            <a:endParaRPr lang="en-US" sz="1280" dirty="0"/>
          </a:p>
        </p:txBody>
      </p:sp>
      <p:sp>
        <p:nvSpPr>
          <p:cNvPr id="30" name="Shape 21"/>
          <p:cNvSpPr/>
          <p:nvPr/>
        </p:nvSpPr>
        <p:spPr>
          <a:xfrm>
            <a:off x="6473952" y="3935349"/>
            <a:ext cx="292608" cy="292608"/>
          </a:xfrm>
          <a:prstGeom prst="ellipse">
            <a:avLst/>
          </a:prstGeom>
          <a:solidFill>
            <a:srgbClr val="40916C"/>
          </a:solidFill>
          <a:ln/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4178" y="4005575"/>
            <a:ext cx="152156" cy="152156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858000" y="381304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80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&amp; yearly reports generated in one click</a:t>
            </a:r>
            <a:endParaRPr lang="en-US" sz="1280" dirty="0"/>
          </a:p>
        </p:txBody>
      </p:sp>
      <p:sp>
        <p:nvSpPr>
          <p:cNvPr id="33" name="Shape 23"/>
          <p:cNvSpPr/>
          <p:nvPr/>
        </p:nvSpPr>
        <p:spPr>
          <a:xfrm>
            <a:off x="6473952" y="4648581"/>
            <a:ext cx="292608" cy="292608"/>
          </a:xfrm>
          <a:prstGeom prst="ellipse">
            <a:avLst/>
          </a:prstGeom>
          <a:solidFill>
            <a:srgbClr val="40916C"/>
          </a:solidFill>
          <a:ln/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4178" y="4718807"/>
            <a:ext cx="152156" cy="152156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6858000" y="452628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80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Batch-aware inventory linked directly to every sale</a:t>
            </a:r>
            <a:endParaRPr lang="en-US" sz="1280" dirty="0"/>
          </a:p>
        </p:txBody>
      </p:sp>
      <p:sp>
        <p:nvSpPr>
          <p:cNvPr id="36" name="Shape 25"/>
          <p:cNvSpPr/>
          <p:nvPr/>
        </p:nvSpPr>
        <p:spPr>
          <a:xfrm>
            <a:off x="6473952" y="5361813"/>
            <a:ext cx="292608" cy="292608"/>
          </a:xfrm>
          <a:prstGeom prst="ellipse">
            <a:avLst/>
          </a:prstGeom>
          <a:solidFill>
            <a:srgbClr val="40916C"/>
          </a:solidFill>
          <a:ln/>
        </p:spPr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4178" y="5432039"/>
            <a:ext cx="152156" cy="152156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6858000" y="523951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80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search across every customer and transaction</a:t>
            </a:r>
            <a:endParaRPr lang="en-US" sz="1280" dirty="0"/>
          </a:p>
        </p:txBody>
      </p:sp>
      <p:sp>
        <p:nvSpPr>
          <p:cNvPr id="39" name="Text 27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40" name="Text 1">
            <a:extLst>
              <a:ext uri="{FF2B5EF4-FFF2-40B4-BE49-F238E27FC236}">
                <a16:creationId xmlns:a16="http://schemas.microsoft.com/office/drawing/2014/main" id="{6D401DA1-9498-376B-A946-5FBC5C5C32F2}"/>
              </a:ext>
            </a:extLst>
          </p:cNvPr>
          <p:cNvSpPr/>
          <p:nvPr/>
        </p:nvSpPr>
        <p:spPr>
          <a:xfrm>
            <a:off x="12355830" y="31699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472A"/>
                </a:solidFill>
                <a:latin typeface="Montserrat" pitchFamily="2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4000" dirty="0">
              <a:latin typeface="Montserrat" pitchFamily="2" charset="0"/>
            </a:endParaRPr>
          </a:p>
        </p:txBody>
      </p:sp>
      <p:sp>
        <p:nvSpPr>
          <p:cNvPr id="41" name="Shape 2">
            <a:extLst>
              <a:ext uri="{FF2B5EF4-FFF2-40B4-BE49-F238E27FC236}">
                <a16:creationId xmlns:a16="http://schemas.microsoft.com/office/drawing/2014/main" id="{173E76F5-5767-3DA1-807D-E04B7A238585}"/>
              </a:ext>
            </a:extLst>
          </p:cNvPr>
          <p:cNvSpPr/>
          <p:nvPr/>
        </p:nvSpPr>
        <p:spPr>
          <a:xfrm>
            <a:off x="12374118" y="1011936"/>
            <a:ext cx="502920" cy="41148"/>
          </a:xfrm>
          <a:prstGeom prst="rect">
            <a:avLst/>
          </a:prstGeom>
          <a:solidFill>
            <a:srgbClr val="E9C46A"/>
          </a:solidFill>
          <a:ln/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2" grpId="0" animBg="1"/>
      <p:bldP spid="15" grpId="0" animBg="1"/>
      <p:bldP spid="18" grpId="0" animBg="1"/>
      <p:bldP spid="21" grpId="0" animBg="1"/>
      <p:bldP spid="23" grpId="0" animBg="1"/>
      <p:bldP spid="26" grpId="0" animBg="1"/>
      <p:bldP spid="29" grpId="0" animBg="1"/>
      <p:bldP spid="32" grpId="0" animBg="1"/>
      <p:bldP spid="35" grpId="0" animBg="1"/>
      <p:bldP spid="3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FBF4E2"/>
            </a:gs>
            <a:gs pos="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472A"/>
                </a:solidFill>
                <a:latin typeface="Montserrat" pitchFamily="2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4000" dirty="0">
              <a:latin typeface="Montserrat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58368" y="1353312"/>
            <a:ext cx="502920" cy="41148"/>
          </a:xfrm>
          <a:prstGeom prst="rect">
            <a:avLst/>
          </a:prstGeom>
          <a:solidFill>
            <a:srgbClr val="E9C46A"/>
          </a:solidFill>
          <a:ln/>
        </p:spPr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A635B52-9668-E478-674D-F21F63CE8488}"/>
              </a:ext>
            </a:extLst>
          </p:cNvPr>
          <p:cNvGrpSpPr/>
          <p:nvPr/>
        </p:nvGrpSpPr>
        <p:grpSpPr>
          <a:xfrm>
            <a:off x="916153" y="1691640"/>
            <a:ext cx="1169822" cy="603504"/>
            <a:chOff x="3526003" y="1691640"/>
            <a:chExt cx="1169822" cy="603504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740A3C43-9001-78D3-2F47-08143AA9DCB2}"/>
                </a:ext>
              </a:extLst>
            </p:cNvPr>
            <p:cNvGrpSpPr/>
            <p:nvPr/>
          </p:nvGrpSpPr>
          <p:grpSpPr>
            <a:xfrm>
              <a:off x="3526003" y="1691640"/>
              <a:ext cx="1160297" cy="603504"/>
              <a:chOff x="3535528" y="1691640"/>
              <a:chExt cx="1160297" cy="603504"/>
            </a:xfrm>
          </p:grpSpPr>
          <p:sp>
            <p:nvSpPr>
              <p:cNvPr id="5" name="Shape 3"/>
              <p:cNvSpPr/>
              <p:nvPr/>
            </p:nvSpPr>
            <p:spPr>
              <a:xfrm>
                <a:off x="3535528" y="1691640"/>
                <a:ext cx="1160297" cy="603504"/>
              </a:xfrm>
              <a:prstGeom prst="roundRect">
                <a:avLst>
                  <a:gd name="adj" fmla="val 75758"/>
                </a:avLst>
              </a:prstGeom>
              <a:noFill/>
              <a:ln w="12700">
                <a:solidFill>
                  <a:schemeClr val="accent6"/>
                </a:solidFill>
                <a:prstDash val="solid"/>
              </a:ln>
              <a:effectLst>
                <a:outerShdw blurRad="127000" dist="38100" dir="5400000" algn="bl" rotWithShape="0">
                  <a:srgbClr val="1A472A">
                    <a:alpha val="14000"/>
                  </a:srgbClr>
                </a:outerShdw>
              </a:effectLst>
            </p:spPr>
          </p:sp>
          <p:sp>
            <p:nvSpPr>
              <p:cNvPr id="6" name="Shape 4"/>
              <p:cNvSpPr/>
              <p:nvPr/>
            </p:nvSpPr>
            <p:spPr>
              <a:xfrm>
                <a:off x="3663544" y="1810512"/>
                <a:ext cx="365760" cy="365760"/>
              </a:xfrm>
              <a:prstGeom prst="ellipse">
                <a:avLst/>
              </a:prstGeom>
              <a:solidFill>
                <a:srgbClr val="E9C46A"/>
              </a:solidFill>
              <a:ln/>
            </p:spPr>
          </p:sp>
        </p:grpSp>
        <p:pic>
          <p:nvPicPr>
            <p:cNvPr id="7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51326" y="1898294"/>
              <a:ext cx="190195" cy="190195"/>
            </a:xfrm>
            <a:prstGeom prst="rect">
              <a:avLst/>
            </a:prstGeom>
          </p:spPr>
        </p:pic>
        <p:sp>
          <p:nvSpPr>
            <p:cNvPr id="8" name="Text 5"/>
            <p:cNvSpPr/>
            <p:nvPr/>
          </p:nvSpPr>
          <p:spPr>
            <a:xfrm>
              <a:off x="4175608" y="1691640"/>
              <a:ext cx="520217" cy="6035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50" b="1" dirty="0"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User</a:t>
              </a:r>
              <a:endParaRPr lang="en-US" sz="1450" dirty="0"/>
            </a:p>
          </p:txBody>
        </p:sp>
      </p:grp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357167" flipH="1">
            <a:off x="2064710" y="1880618"/>
            <a:ext cx="305151" cy="287074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68644CD8-D4A7-677A-D094-6D74BBE1679C}"/>
              </a:ext>
            </a:extLst>
          </p:cNvPr>
          <p:cNvGrpSpPr/>
          <p:nvPr/>
        </p:nvGrpSpPr>
        <p:grpSpPr>
          <a:xfrm>
            <a:off x="2354428" y="1698498"/>
            <a:ext cx="1484147" cy="619446"/>
            <a:chOff x="3535528" y="2441448"/>
            <a:chExt cx="1484147" cy="619446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07C82294-3440-EB7E-13DD-F00F1A81ECD4}"/>
                </a:ext>
              </a:extLst>
            </p:cNvPr>
            <p:cNvGrpSpPr/>
            <p:nvPr/>
          </p:nvGrpSpPr>
          <p:grpSpPr>
            <a:xfrm>
              <a:off x="3535528" y="2457390"/>
              <a:ext cx="1484147" cy="603504"/>
              <a:chOff x="3535528" y="2457390"/>
              <a:chExt cx="1484147" cy="603504"/>
            </a:xfrm>
          </p:grpSpPr>
          <p:sp>
            <p:nvSpPr>
              <p:cNvPr id="11" name="Shape 7"/>
              <p:cNvSpPr/>
              <p:nvPr/>
            </p:nvSpPr>
            <p:spPr>
              <a:xfrm>
                <a:off x="3535528" y="2457390"/>
                <a:ext cx="1484147" cy="603504"/>
              </a:xfrm>
              <a:prstGeom prst="roundRect">
                <a:avLst>
                  <a:gd name="adj" fmla="val 75758"/>
                </a:avLst>
              </a:prstGeom>
              <a:noFill/>
              <a:ln w="12700">
                <a:solidFill>
                  <a:schemeClr val="accent6"/>
                </a:solidFill>
                <a:prstDash val="solid"/>
              </a:ln>
              <a:effectLst>
                <a:outerShdw blurRad="127000" dist="38100" dir="5400000" algn="bl" rotWithShape="0">
                  <a:srgbClr val="1A472A">
                    <a:alpha val="14000"/>
                  </a:srgbClr>
                </a:outerShdw>
              </a:effectLst>
            </p:spPr>
          </p:sp>
          <p:sp>
            <p:nvSpPr>
              <p:cNvPr id="12" name="Shape 8"/>
              <p:cNvSpPr/>
              <p:nvPr/>
            </p:nvSpPr>
            <p:spPr>
              <a:xfrm>
                <a:off x="3663544" y="2560320"/>
                <a:ext cx="365760" cy="365760"/>
              </a:xfrm>
              <a:prstGeom prst="ellipse">
                <a:avLst/>
              </a:prstGeom>
              <a:solidFill>
                <a:srgbClr val="E9C46A"/>
              </a:solidFill>
              <a:ln/>
            </p:spPr>
          </p:sp>
          <p:pic>
            <p:nvPicPr>
              <p:cNvPr id="13" name="Image 2" descr="preencoded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51326" y="2648102"/>
                <a:ext cx="190195" cy="190195"/>
              </a:xfrm>
              <a:prstGeom prst="rect">
                <a:avLst/>
              </a:prstGeom>
            </p:spPr>
          </p:pic>
        </p:grpSp>
        <p:sp>
          <p:nvSpPr>
            <p:cNvPr id="14" name="Text 9"/>
            <p:cNvSpPr/>
            <p:nvPr/>
          </p:nvSpPr>
          <p:spPr>
            <a:xfrm>
              <a:off x="4175608" y="2441448"/>
              <a:ext cx="783565" cy="6035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50" b="1" dirty="0"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Browser</a:t>
              </a:r>
              <a:endParaRPr lang="en-US" sz="1450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FBA8BDA-3482-77B5-C09A-2C47E2E55AC3}"/>
              </a:ext>
            </a:extLst>
          </p:cNvPr>
          <p:cNvGrpSpPr/>
          <p:nvPr/>
        </p:nvGrpSpPr>
        <p:grpSpPr>
          <a:xfrm>
            <a:off x="3421228" y="2676906"/>
            <a:ext cx="4297680" cy="603504"/>
            <a:chOff x="3535528" y="3191256"/>
            <a:chExt cx="4297680" cy="603504"/>
          </a:xfrm>
        </p:grpSpPr>
        <p:sp>
          <p:nvSpPr>
            <p:cNvPr id="17" name="Shape 11"/>
            <p:cNvSpPr/>
            <p:nvPr/>
          </p:nvSpPr>
          <p:spPr>
            <a:xfrm>
              <a:off x="3535528" y="3191256"/>
              <a:ext cx="4297680" cy="603504"/>
            </a:xfrm>
            <a:prstGeom prst="roundRect">
              <a:avLst>
                <a:gd name="adj" fmla="val 75758"/>
              </a:avLst>
            </a:prstGeom>
            <a:noFill/>
            <a:ln w="12700">
              <a:solidFill>
                <a:schemeClr val="accent6"/>
              </a:solidFill>
              <a:prstDash val="solid"/>
            </a:ln>
            <a:effectLst>
              <a:outerShdw blurRad="127000" dist="38100" dir="5400000" algn="bl" rotWithShape="0">
                <a:srgbClr val="1A472A">
                  <a:alpha val="14000"/>
                </a:srgbClr>
              </a:outerShdw>
            </a:effectLst>
          </p:spPr>
        </p:sp>
        <p:sp>
          <p:nvSpPr>
            <p:cNvPr id="18" name="Shape 12"/>
            <p:cNvSpPr/>
            <p:nvPr/>
          </p:nvSpPr>
          <p:spPr>
            <a:xfrm>
              <a:off x="3663544" y="3310128"/>
              <a:ext cx="365760" cy="365760"/>
            </a:xfrm>
            <a:prstGeom prst="ellipse">
              <a:avLst/>
            </a:prstGeom>
            <a:solidFill>
              <a:srgbClr val="E9C46A"/>
            </a:solidFill>
            <a:ln/>
          </p:spPr>
        </p:sp>
        <p:pic>
          <p:nvPicPr>
            <p:cNvPr id="19" name="Image 4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751326" y="3397910"/>
              <a:ext cx="190195" cy="190195"/>
            </a:xfrm>
            <a:prstGeom prst="rect">
              <a:avLst/>
            </a:prstGeom>
          </p:spPr>
        </p:pic>
        <p:sp>
          <p:nvSpPr>
            <p:cNvPr id="20" name="Text 13"/>
            <p:cNvSpPr/>
            <p:nvPr/>
          </p:nvSpPr>
          <p:spPr>
            <a:xfrm>
              <a:off x="4175608" y="3191256"/>
              <a:ext cx="3425342" cy="6035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50" b="1" dirty="0"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Frontend  —  HTML5 · CSS3 · JavaScript</a:t>
              </a:r>
              <a:endParaRPr lang="en-US" sz="1450" dirty="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A12D00A3-0F65-5507-CD84-A6540E55F8CE}"/>
              </a:ext>
            </a:extLst>
          </p:cNvPr>
          <p:cNvGrpSpPr/>
          <p:nvPr/>
        </p:nvGrpSpPr>
        <p:grpSpPr>
          <a:xfrm>
            <a:off x="3449803" y="3560064"/>
            <a:ext cx="4947285" cy="603504"/>
            <a:chOff x="3459328" y="3560064"/>
            <a:chExt cx="4947285" cy="603504"/>
          </a:xfrm>
        </p:grpSpPr>
        <p:sp>
          <p:nvSpPr>
            <p:cNvPr id="23" name="Shape 15"/>
            <p:cNvSpPr/>
            <p:nvPr/>
          </p:nvSpPr>
          <p:spPr>
            <a:xfrm>
              <a:off x="3459328" y="3560064"/>
              <a:ext cx="1731797" cy="603504"/>
            </a:xfrm>
            <a:prstGeom prst="roundRect">
              <a:avLst>
                <a:gd name="adj" fmla="val 75758"/>
              </a:avLst>
            </a:prstGeom>
            <a:noFill/>
            <a:ln w="12700">
              <a:solidFill>
                <a:schemeClr val="accent6"/>
              </a:solidFill>
              <a:prstDash val="solid"/>
            </a:ln>
            <a:effectLst>
              <a:outerShdw blurRad="127000" dist="38100" dir="5400000" algn="bl" rotWithShape="0">
                <a:srgbClr val="1A472A">
                  <a:alpha val="14000"/>
                </a:srgbClr>
              </a:outerShdw>
            </a:effectLst>
          </p:spPr>
        </p:sp>
        <p:sp>
          <p:nvSpPr>
            <p:cNvPr id="24" name="Shape 16"/>
            <p:cNvSpPr/>
            <p:nvPr/>
          </p:nvSpPr>
          <p:spPr>
            <a:xfrm>
              <a:off x="3596869" y="3678936"/>
              <a:ext cx="365760" cy="365760"/>
            </a:xfrm>
            <a:prstGeom prst="ellipse">
              <a:avLst/>
            </a:prstGeom>
            <a:solidFill>
              <a:srgbClr val="E9C46A"/>
            </a:solidFill>
            <a:ln/>
          </p:spPr>
        </p:sp>
        <p:pic>
          <p:nvPicPr>
            <p:cNvPr id="25" name="Image 6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684651" y="3766718"/>
              <a:ext cx="190195" cy="190195"/>
            </a:xfrm>
            <a:prstGeom prst="rect">
              <a:avLst/>
            </a:prstGeom>
          </p:spPr>
        </p:pic>
        <p:sp>
          <p:nvSpPr>
            <p:cNvPr id="26" name="Text 17"/>
            <p:cNvSpPr/>
            <p:nvPr/>
          </p:nvSpPr>
          <p:spPr>
            <a:xfrm>
              <a:off x="4108933" y="3560064"/>
              <a:ext cx="4297680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50" b="1" dirty="0"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Express.js </a:t>
              </a:r>
              <a:endParaRPr lang="en-US" sz="1450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63A1B01-1E6E-C6E9-9B6D-BCB00A118BE2}"/>
              </a:ext>
            </a:extLst>
          </p:cNvPr>
          <p:cNvGrpSpPr/>
          <p:nvPr/>
        </p:nvGrpSpPr>
        <p:grpSpPr>
          <a:xfrm>
            <a:off x="3440278" y="4471797"/>
            <a:ext cx="4937760" cy="603504"/>
            <a:chOff x="3535528" y="4690872"/>
            <a:chExt cx="4937760" cy="603504"/>
          </a:xfrm>
        </p:grpSpPr>
        <p:sp>
          <p:nvSpPr>
            <p:cNvPr id="29" name="Shape 19"/>
            <p:cNvSpPr/>
            <p:nvPr/>
          </p:nvSpPr>
          <p:spPr>
            <a:xfrm>
              <a:off x="3535528" y="4690872"/>
              <a:ext cx="2817647" cy="603504"/>
            </a:xfrm>
            <a:prstGeom prst="roundRect">
              <a:avLst>
                <a:gd name="adj" fmla="val 75758"/>
              </a:avLst>
            </a:prstGeom>
            <a:noFill/>
            <a:ln w="12700">
              <a:solidFill>
                <a:schemeClr val="accent6"/>
              </a:solidFill>
              <a:prstDash val="solid"/>
            </a:ln>
            <a:effectLst>
              <a:outerShdw blurRad="127000" dist="38100" dir="5400000" algn="bl" rotWithShape="0">
                <a:srgbClr val="1A472A">
                  <a:alpha val="14000"/>
                </a:srgbClr>
              </a:outerShdw>
            </a:effectLst>
          </p:spPr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44FE36AF-A8E0-57B5-DB1B-8A720187F574}"/>
                </a:ext>
              </a:extLst>
            </p:cNvPr>
            <p:cNvGrpSpPr/>
            <p:nvPr/>
          </p:nvGrpSpPr>
          <p:grpSpPr>
            <a:xfrm>
              <a:off x="3663544" y="4690872"/>
              <a:ext cx="4809744" cy="603504"/>
              <a:chOff x="3663544" y="4690872"/>
              <a:chExt cx="4809744" cy="603504"/>
            </a:xfrm>
          </p:grpSpPr>
          <p:sp>
            <p:nvSpPr>
              <p:cNvPr id="30" name="Shape 20"/>
              <p:cNvSpPr/>
              <p:nvPr/>
            </p:nvSpPr>
            <p:spPr>
              <a:xfrm>
                <a:off x="3663544" y="4809744"/>
                <a:ext cx="365760" cy="365760"/>
              </a:xfrm>
              <a:prstGeom prst="ellipse">
                <a:avLst/>
              </a:prstGeom>
              <a:solidFill>
                <a:srgbClr val="E9C46A"/>
              </a:solidFill>
              <a:ln/>
            </p:spPr>
          </p:sp>
          <p:pic>
            <p:nvPicPr>
              <p:cNvPr id="31" name="Image 8" descr="preencoded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51326" y="4897526"/>
                <a:ext cx="190195" cy="190195"/>
              </a:xfrm>
              <a:prstGeom prst="rect">
                <a:avLst/>
              </a:prstGeom>
            </p:spPr>
          </p:pic>
          <p:sp>
            <p:nvSpPr>
              <p:cNvPr id="32" name="Text 21"/>
              <p:cNvSpPr/>
              <p:nvPr/>
            </p:nvSpPr>
            <p:spPr>
              <a:xfrm>
                <a:off x="4175608" y="4690872"/>
                <a:ext cx="4297680" cy="6035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50" b="1" dirty="0">
                    <a:latin typeface="Segoe UI" pitchFamily="34" charset="0"/>
                    <a:ea typeface="Segoe UI" pitchFamily="34" charset="-122"/>
                    <a:cs typeface="Segoe UI" pitchFamily="34" charset="-120"/>
                  </a:rPr>
                  <a:t>Backend  —  Node.js</a:t>
                </a:r>
                <a:endParaRPr lang="en-US" sz="1450" dirty="0"/>
              </a:p>
            </p:txBody>
          </p: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B7DBB7D-1397-958A-1048-429EAC29FD84}"/>
              </a:ext>
            </a:extLst>
          </p:cNvPr>
          <p:cNvGrpSpPr/>
          <p:nvPr/>
        </p:nvGrpSpPr>
        <p:grpSpPr>
          <a:xfrm>
            <a:off x="3430753" y="5364480"/>
            <a:ext cx="5013960" cy="603504"/>
            <a:chOff x="3459328" y="5440680"/>
            <a:chExt cx="5013960" cy="603504"/>
          </a:xfrm>
        </p:grpSpPr>
        <p:sp>
          <p:nvSpPr>
            <p:cNvPr id="35" name="Shape 23"/>
            <p:cNvSpPr/>
            <p:nvPr/>
          </p:nvSpPr>
          <p:spPr>
            <a:xfrm>
              <a:off x="3459328" y="5440680"/>
              <a:ext cx="2798597" cy="603504"/>
            </a:xfrm>
            <a:prstGeom prst="roundRect">
              <a:avLst>
                <a:gd name="adj" fmla="val 75758"/>
              </a:avLst>
            </a:prstGeom>
            <a:noFill/>
            <a:ln w="12700">
              <a:solidFill>
                <a:schemeClr val="accent6"/>
              </a:solidFill>
              <a:prstDash val="solid"/>
            </a:ln>
            <a:effectLst>
              <a:outerShdw blurRad="127000" dist="38100" dir="5400000" algn="bl" rotWithShape="0">
                <a:srgbClr val="1A472A">
                  <a:alpha val="14000"/>
                </a:srgbClr>
              </a:outerShdw>
            </a:effectLst>
          </p:spPr>
        </p:sp>
        <p:sp>
          <p:nvSpPr>
            <p:cNvPr id="36" name="Shape 24"/>
            <p:cNvSpPr/>
            <p:nvPr/>
          </p:nvSpPr>
          <p:spPr>
            <a:xfrm>
              <a:off x="3663544" y="5559552"/>
              <a:ext cx="365760" cy="365760"/>
            </a:xfrm>
            <a:prstGeom prst="ellipse">
              <a:avLst/>
            </a:prstGeom>
            <a:solidFill>
              <a:srgbClr val="E9C46A"/>
            </a:solidFill>
            <a:ln/>
          </p:spPr>
        </p:sp>
        <p:pic>
          <p:nvPicPr>
            <p:cNvPr id="37" name="Image 10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751326" y="5647334"/>
              <a:ext cx="190195" cy="190195"/>
            </a:xfrm>
            <a:prstGeom prst="rect">
              <a:avLst/>
            </a:prstGeom>
          </p:spPr>
        </p:pic>
        <p:sp>
          <p:nvSpPr>
            <p:cNvPr id="38" name="Text 25"/>
            <p:cNvSpPr/>
            <p:nvPr/>
          </p:nvSpPr>
          <p:spPr>
            <a:xfrm>
              <a:off x="4175608" y="5440680"/>
              <a:ext cx="4297680" cy="6035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50" b="1" dirty="0"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SQLite Database</a:t>
              </a:r>
              <a:endParaRPr lang="en-US" sz="1450" dirty="0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428FA021-F7B2-69C0-7A7B-EFEB92524CFB}"/>
              </a:ext>
            </a:extLst>
          </p:cNvPr>
          <p:cNvGrpSpPr/>
          <p:nvPr/>
        </p:nvGrpSpPr>
        <p:grpSpPr>
          <a:xfrm>
            <a:off x="8416290" y="2226945"/>
            <a:ext cx="2840203" cy="3566160"/>
            <a:chOff x="8416290" y="2226945"/>
            <a:chExt cx="2840203" cy="3566160"/>
          </a:xfrm>
        </p:grpSpPr>
        <p:sp>
          <p:nvSpPr>
            <p:cNvPr id="39" name="Shape 26"/>
            <p:cNvSpPr/>
            <p:nvPr/>
          </p:nvSpPr>
          <p:spPr>
            <a:xfrm>
              <a:off x="8416290" y="2305049"/>
              <a:ext cx="2697480" cy="2870775"/>
            </a:xfrm>
            <a:prstGeom prst="roundRect">
              <a:avLst>
                <a:gd name="adj" fmla="val 4068"/>
              </a:avLst>
            </a:prstGeom>
            <a:solidFill>
              <a:srgbClr val="F5EAD4"/>
            </a:solidFill>
            <a:ln w="12700">
              <a:solidFill>
                <a:schemeClr val="tx1"/>
              </a:solidFill>
              <a:prstDash val="solid"/>
            </a:ln>
            <a:effectLst>
              <a:outerShdw blurRad="127000" dist="38100" dir="5400000" algn="bl" rotWithShape="0">
                <a:srgbClr val="1A472A">
                  <a:alpha val="14000"/>
                </a:srgbClr>
              </a:outerShdw>
            </a:effectLst>
          </p:spPr>
        </p:sp>
        <p:sp>
          <p:nvSpPr>
            <p:cNvPr id="40" name="Text 27"/>
            <p:cNvSpPr/>
            <p:nvPr/>
          </p:nvSpPr>
          <p:spPr>
            <a:xfrm>
              <a:off x="8970493" y="2547975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1A472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How a request flows</a:t>
              </a:r>
              <a:endParaRPr lang="en-US" sz="1250" dirty="0"/>
            </a:p>
          </p:txBody>
        </p:sp>
        <p:sp>
          <p:nvSpPr>
            <p:cNvPr id="41" name="Text 28"/>
            <p:cNvSpPr/>
            <p:nvPr/>
          </p:nvSpPr>
          <p:spPr>
            <a:xfrm>
              <a:off x="8622030" y="2226945"/>
              <a:ext cx="2286000" cy="3566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lnSpc>
                  <a:spcPct val="130000"/>
                </a:lnSpc>
                <a:buNone/>
              </a:pPr>
              <a:r>
                <a:rPr lang="en-US" sz="1150" dirty="0">
                  <a:solidFill>
                    <a:srgbClr val="1A1A2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 shop owner's action in the browser sends a JSON request through Express.js, which validates it, applies business rules, and reads or writes the SQLite database before returning an updated result — all without a full page reload.</a:t>
              </a:r>
              <a:endParaRPr lang="en-US" sz="1150" dirty="0"/>
            </a:p>
          </p:txBody>
        </p:sp>
      </p:grpSp>
      <p:sp>
        <p:nvSpPr>
          <p:cNvPr id="42" name="Text 29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0B29D0E6-A3C6-31CD-9AFD-DE818B64ACFE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3838575" y="2016192"/>
            <a:ext cx="554203" cy="660714"/>
          </a:xfrm>
          <a:prstGeom prst="bentConnector2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3C1DE1C-3002-A24F-D430-16FEA8266472}"/>
              </a:ext>
            </a:extLst>
          </p:cNvPr>
          <p:cNvCxnSpPr>
            <a:cxnSpLocks/>
          </p:cNvCxnSpPr>
          <p:nvPr/>
        </p:nvCxnSpPr>
        <p:spPr>
          <a:xfrm flipH="1">
            <a:off x="4400550" y="3280410"/>
            <a:ext cx="9525" cy="3009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A2E4B9A-929A-3E96-548F-FEC719F1A08E}"/>
              </a:ext>
            </a:extLst>
          </p:cNvPr>
          <p:cNvCxnSpPr/>
          <p:nvPr/>
        </p:nvCxnSpPr>
        <p:spPr>
          <a:xfrm>
            <a:off x="4410075" y="4175760"/>
            <a:ext cx="0" cy="3105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2CF24BE-0A4A-1D16-BB82-A1D3F6385985}"/>
              </a:ext>
            </a:extLst>
          </p:cNvPr>
          <p:cNvCxnSpPr/>
          <p:nvPr/>
        </p:nvCxnSpPr>
        <p:spPr>
          <a:xfrm>
            <a:off x="4400550" y="5080635"/>
            <a:ext cx="0" cy="3105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4" name="Text 1">
            <a:extLst>
              <a:ext uri="{FF2B5EF4-FFF2-40B4-BE49-F238E27FC236}">
                <a16:creationId xmlns:a16="http://schemas.microsoft.com/office/drawing/2014/main" id="{10CDA81B-50B6-9002-DDAA-53BE3032B521}"/>
              </a:ext>
            </a:extLst>
          </p:cNvPr>
          <p:cNvSpPr/>
          <p:nvPr/>
        </p:nvSpPr>
        <p:spPr>
          <a:xfrm>
            <a:off x="12441555" y="382143"/>
            <a:ext cx="423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4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4000" dirty="0"/>
          </a:p>
        </p:txBody>
      </p:sp>
      <p:sp>
        <p:nvSpPr>
          <p:cNvPr id="75" name="Shape 2">
            <a:extLst>
              <a:ext uri="{FF2B5EF4-FFF2-40B4-BE49-F238E27FC236}">
                <a16:creationId xmlns:a16="http://schemas.microsoft.com/office/drawing/2014/main" id="{7517B059-8C7D-CB49-DC8D-CC3C5FF9DB2A}"/>
              </a:ext>
            </a:extLst>
          </p:cNvPr>
          <p:cNvSpPr/>
          <p:nvPr/>
        </p:nvSpPr>
        <p:spPr>
          <a:xfrm>
            <a:off x="12459843" y="1077087"/>
            <a:ext cx="502920" cy="41148"/>
          </a:xfrm>
          <a:prstGeom prst="rect">
            <a:avLst/>
          </a:prstGeom>
          <a:solidFill>
            <a:srgbClr val="E9C46A"/>
          </a:solidFill>
          <a:ln/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FBF4E2"/>
            </a:gs>
            <a:gs pos="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382143"/>
            <a:ext cx="423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4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58368" y="1077087"/>
            <a:ext cx="502920" cy="4114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Shape 3"/>
          <p:cNvSpPr/>
          <p:nvPr/>
        </p:nvSpPr>
        <p:spPr>
          <a:xfrm>
            <a:off x="351232" y="1960418"/>
            <a:ext cx="2965373" cy="932944"/>
          </a:xfrm>
          <a:prstGeom prst="roundRect">
            <a:avLst>
              <a:gd name="adj" fmla="val 7742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1A472A"/>
            </a:solidFill>
            <a:prstDash val="solid"/>
          </a:ln>
          <a:effectLst>
            <a:outerShdw blurRad="127000" dist="38100" dir="5400000" algn="bl" rotWithShape="0">
              <a:srgbClr val="1A472A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142571" y="1752771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latin typeface="Segoe UI" panose="020B0502040204020203" pitchFamily="34" charset="0"/>
                <a:cs typeface="Segoe UI" panose="020B0502040204020203" pitchFamily="34" charset="0"/>
              </a:rPr>
              <a:t>Structured the application's pages and user interface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41" name="Text 3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0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B83CED71-33CC-5210-228B-F7CBCD8137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145" y="2096072"/>
            <a:ext cx="741806" cy="741806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64CC2403-BDF8-08B7-F6A6-C5C6F98B399D}"/>
              </a:ext>
            </a:extLst>
          </p:cNvPr>
          <p:cNvGrpSpPr/>
          <p:nvPr/>
        </p:nvGrpSpPr>
        <p:grpSpPr>
          <a:xfrm>
            <a:off x="332182" y="3086100"/>
            <a:ext cx="2965373" cy="909953"/>
            <a:chOff x="675082" y="3429000"/>
            <a:chExt cx="2965373" cy="909953"/>
          </a:xfrm>
        </p:grpSpPr>
        <p:sp>
          <p:nvSpPr>
            <p:cNvPr id="9" name="Shape 6"/>
            <p:cNvSpPr/>
            <p:nvPr/>
          </p:nvSpPr>
          <p:spPr>
            <a:xfrm>
              <a:off x="675082" y="3429000"/>
              <a:ext cx="2965373" cy="909953"/>
            </a:xfrm>
            <a:prstGeom prst="roundRect">
              <a:avLst>
                <a:gd name="adj" fmla="val 7742"/>
              </a:avLst>
            </a:prstGeom>
            <a:solidFill>
              <a:srgbClr val="FFFFFF">
                <a:alpha val="50000"/>
              </a:srgbClr>
            </a:solidFill>
            <a:ln w="12700">
              <a:solidFill>
                <a:srgbClr val="1A472A"/>
              </a:solidFill>
              <a:prstDash val="solid"/>
            </a:ln>
            <a:effectLst>
              <a:outerShdw blurRad="127000" dist="38100" dir="5400000" algn="bl" rotWithShape="0">
                <a:srgbClr val="1A472A">
                  <a:alpha val="14000"/>
                </a:srgbClr>
              </a:outerShdw>
            </a:effectLst>
          </p:spPr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D082CE7B-44D9-2CAD-41A4-5DC473DBC0C5}"/>
                </a:ext>
              </a:extLst>
            </p:cNvPr>
            <p:cNvGrpSpPr/>
            <p:nvPr/>
          </p:nvGrpSpPr>
          <p:grpSpPr>
            <a:xfrm>
              <a:off x="675083" y="3462355"/>
              <a:ext cx="2965372" cy="846744"/>
              <a:chOff x="675083" y="3471880"/>
              <a:chExt cx="2965372" cy="846744"/>
            </a:xfrm>
          </p:grpSpPr>
          <p:sp>
            <p:nvSpPr>
              <p:cNvPr id="12" name="Text 8"/>
              <p:cNvSpPr/>
              <p:nvPr/>
            </p:nvSpPr>
            <p:spPr>
              <a:xfrm>
                <a:off x="1400175" y="3522516"/>
                <a:ext cx="2240280" cy="7961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3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Designed a responsive, clean, and modern user interface.</a:t>
                </a:r>
              </a:p>
            </p:txBody>
          </p:sp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52EACA21-E052-DCF1-B29D-17C784F91E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303" r="26595"/>
              <a:stretch>
                <a:fillRect/>
              </a:stretch>
            </p:blipFill>
            <p:spPr>
              <a:xfrm>
                <a:off x="675083" y="3471880"/>
                <a:ext cx="714472" cy="818480"/>
              </a:xfrm>
              <a:prstGeom prst="rect">
                <a:avLst/>
              </a:prstGeom>
            </p:spPr>
          </p:pic>
        </p:grpSp>
      </p:grpSp>
      <p:sp>
        <p:nvSpPr>
          <p:cNvPr id="48" name="Shape 6">
            <a:extLst>
              <a:ext uri="{FF2B5EF4-FFF2-40B4-BE49-F238E27FC236}">
                <a16:creationId xmlns:a16="http://schemas.microsoft.com/office/drawing/2014/main" id="{9833A0E7-F1E0-D21B-71F6-7EDFF57DE51F}"/>
              </a:ext>
            </a:extLst>
          </p:cNvPr>
          <p:cNvSpPr/>
          <p:nvPr/>
        </p:nvSpPr>
        <p:spPr>
          <a:xfrm>
            <a:off x="332182" y="4199555"/>
            <a:ext cx="2965373" cy="909953"/>
          </a:xfrm>
          <a:prstGeom prst="roundRect">
            <a:avLst>
              <a:gd name="adj" fmla="val 7742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1A472A"/>
            </a:solidFill>
            <a:prstDash val="solid"/>
          </a:ln>
          <a:effectLst>
            <a:outerShdw blurRad="127000" dist="38100" dir="5400000" algn="bl" rotWithShape="0">
              <a:srgbClr val="1A472A">
                <a:alpha val="14000"/>
              </a:srgbClr>
            </a:outerShdw>
          </a:effectLst>
        </p:spPr>
      </p:sp>
      <p:sp>
        <p:nvSpPr>
          <p:cNvPr id="50" name="Text 8">
            <a:extLst>
              <a:ext uri="{FF2B5EF4-FFF2-40B4-BE49-F238E27FC236}">
                <a16:creationId xmlns:a16="http://schemas.microsoft.com/office/drawing/2014/main" id="{5E9B6A5A-3E08-5921-3E05-F395C664E0E1}"/>
              </a:ext>
            </a:extLst>
          </p:cNvPr>
          <p:cNvSpPr/>
          <p:nvPr/>
        </p:nvSpPr>
        <p:spPr>
          <a:xfrm>
            <a:off x="1038225" y="4265466"/>
            <a:ext cx="2240280" cy="796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68F2CD3C-2DDA-49CA-DBBC-ED510DDB30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182" y="4265466"/>
            <a:ext cx="764717" cy="764717"/>
          </a:xfrm>
          <a:prstGeom prst="rect">
            <a:avLst/>
          </a:prstGeom>
        </p:spPr>
      </p:pic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C35F29A4-B60B-C90A-EB3D-FC5C84F1CD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728925"/>
              </p:ext>
            </p:extLst>
          </p:nvPr>
        </p:nvGraphicFramePr>
        <p:xfrm>
          <a:off x="991077" y="4341034"/>
          <a:ext cx="2372676" cy="640080"/>
        </p:xfrm>
        <a:graphic>
          <a:graphicData uri="http://schemas.openxmlformats.org/drawingml/2006/table">
            <a:tbl>
              <a:tblPr/>
              <a:tblGrid>
                <a:gridCol w="2372676">
                  <a:extLst>
                    <a:ext uri="{9D8B030D-6E8A-4147-A177-3AD203B41FA5}">
                      <a16:colId xmlns:a16="http://schemas.microsoft.com/office/drawing/2014/main" val="18589511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Client-side logic, interactivity, and API communication without </a:t>
                      </a:r>
                    </a:p>
                    <a:p>
                      <a:pPr algn="l">
                        <a:buNone/>
                      </a:pPr>
                      <a:r>
                        <a:rPr lang="en-US" sz="1200" dirty="0"/>
                        <a:t>external frameworks.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8283824"/>
                  </a:ext>
                </a:extLst>
              </a:tr>
            </a:tbl>
          </a:graphicData>
        </a:graphic>
      </p:graphicFrame>
      <p:sp>
        <p:nvSpPr>
          <p:cNvPr id="57" name="Shape 6">
            <a:extLst>
              <a:ext uri="{FF2B5EF4-FFF2-40B4-BE49-F238E27FC236}">
                <a16:creationId xmlns:a16="http://schemas.microsoft.com/office/drawing/2014/main" id="{E373C197-5697-9D4A-99FE-95455DA6BB2F}"/>
              </a:ext>
            </a:extLst>
          </p:cNvPr>
          <p:cNvSpPr/>
          <p:nvPr/>
        </p:nvSpPr>
        <p:spPr>
          <a:xfrm>
            <a:off x="332182" y="5733080"/>
            <a:ext cx="2965373" cy="909953"/>
          </a:xfrm>
          <a:prstGeom prst="roundRect">
            <a:avLst>
              <a:gd name="adj" fmla="val 7742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1A472A"/>
            </a:solidFill>
            <a:prstDash val="solid"/>
          </a:ln>
          <a:effectLst>
            <a:outerShdw blurRad="127000" dist="38100" dir="5400000" algn="bl" rotWithShape="0">
              <a:srgbClr val="1A472A">
                <a:alpha val="14000"/>
              </a:srgbClr>
            </a:outerShdw>
          </a:effectLst>
        </p:spPr>
      </p:sp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CBBC254D-5FBC-F901-1C30-F6696A3352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250716"/>
              </p:ext>
            </p:extLst>
          </p:nvPr>
        </p:nvGraphicFramePr>
        <p:xfrm>
          <a:off x="991077" y="5874559"/>
          <a:ext cx="2372676" cy="640080"/>
        </p:xfrm>
        <a:graphic>
          <a:graphicData uri="http://schemas.openxmlformats.org/drawingml/2006/table">
            <a:tbl>
              <a:tblPr/>
              <a:tblGrid>
                <a:gridCol w="2372676">
                  <a:extLst>
                    <a:ext uri="{9D8B030D-6E8A-4147-A177-3AD203B41FA5}">
                      <a16:colId xmlns:a16="http://schemas.microsoft.com/office/drawing/2014/main" val="18589511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Generated interactive charts and business analytics for the dashboard and reports.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8283824"/>
                  </a:ext>
                </a:extLst>
              </a:tr>
            </a:tbl>
          </a:graphicData>
        </a:graphic>
      </p:graphicFrame>
      <p:pic>
        <p:nvPicPr>
          <p:cNvPr id="60" name="Graphic 59">
            <a:extLst>
              <a:ext uri="{FF2B5EF4-FFF2-40B4-BE49-F238E27FC236}">
                <a16:creationId xmlns:a16="http://schemas.microsoft.com/office/drawing/2014/main" id="{E58809B5-1964-F43C-E096-03ABF8C64A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4112" y="5817628"/>
            <a:ext cx="740855" cy="740855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43C4A161-E2CC-C59D-8C19-21FFB4AA3143}"/>
              </a:ext>
            </a:extLst>
          </p:cNvPr>
          <p:cNvSpPr txBox="1"/>
          <p:nvPr/>
        </p:nvSpPr>
        <p:spPr>
          <a:xfrm>
            <a:off x="430150" y="1523238"/>
            <a:ext cx="2888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1A472A"/>
                </a:solidFill>
                <a:latin typeface="Montserrat" pitchFamily="2" charset="0"/>
              </a:rPr>
              <a:t>FRONT-END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7D7C54B-EF68-59D7-B80A-DF3D0B9E7760}"/>
              </a:ext>
            </a:extLst>
          </p:cNvPr>
          <p:cNvSpPr txBox="1"/>
          <p:nvPr/>
        </p:nvSpPr>
        <p:spPr>
          <a:xfrm>
            <a:off x="363475" y="5276088"/>
            <a:ext cx="2888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1A472A"/>
                </a:solidFill>
                <a:latin typeface="Montserrat" pitchFamily="2" charset="0"/>
              </a:rPr>
              <a:t>FRONT-END Library</a:t>
            </a:r>
          </a:p>
        </p:txBody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DF6F3FC-081C-FB51-7203-0AC70B764451}"/>
              </a:ext>
            </a:extLst>
          </p:cNvPr>
          <p:cNvSpPr/>
          <p:nvPr/>
        </p:nvSpPr>
        <p:spPr>
          <a:xfrm>
            <a:off x="4342207" y="3084368"/>
            <a:ext cx="2965373" cy="932944"/>
          </a:xfrm>
          <a:prstGeom prst="roundRect">
            <a:avLst>
              <a:gd name="adj" fmla="val 7742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1A472A"/>
            </a:solidFill>
            <a:prstDash val="solid"/>
          </a:ln>
          <a:effectLst>
            <a:outerShdw blurRad="127000" dist="38100" dir="5400000" algn="bl" rotWithShape="0">
              <a:srgbClr val="1A472A">
                <a:alpha val="14000"/>
              </a:srgbClr>
            </a:outerShdw>
          </a:effectLst>
        </p:spPr>
      </p:sp>
      <p:sp>
        <p:nvSpPr>
          <p:cNvPr id="65" name="Text 5">
            <a:extLst>
              <a:ext uri="{FF2B5EF4-FFF2-40B4-BE49-F238E27FC236}">
                <a16:creationId xmlns:a16="http://schemas.microsoft.com/office/drawing/2014/main" id="{B31A636F-1AB8-A297-8097-135300FC706A}"/>
              </a:ext>
            </a:extLst>
          </p:cNvPr>
          <p:cNvSpPr/>
          <p:nvPr/>
        </p:nvSpPr>
        <p:spPr>
          <a:xfrm>
            <a:off x="5260849" y="2852321"/>
            <a:ext cx="23210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Provided the server-side</a:t>
            </a:r>
          </a:p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runtime environment to </a:t>
            </a:r>
          </a:p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execute JavaScript on the backend.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E6010A62-F9AA-87AC-FFBA-3604B21645E3}"/>
              </a:ext>
            </a:extLst>
          </p:cNvPr>
          <p:cNvGrpSpPr/>
          <p:nvPr/>
        </p:nvGrpSpPr>
        <p:grpSpPr>
          <a:xfrm>
            <a:off x="4351732" y="4210050"/>
            <a:ext cx="2965373" cy="909953"/>
            <a:chOff x="675082" y="3429000"/>
            <a:chExt cx="2965373" cy="909953"/>
          </a:xfrm>
        </p:grpSpPr>
        <p:sp>
          <p:nvSpPr>
            <p:cNvPr id="67" name="Shape 6">
              <a:extLst>
                <a:ext uri="{FF2B5EF4-FFF2-40B4-BE49-F238E27FC236}">
                  <a16:creationId xmlns:a16="http://schemas.microsoft.com/office/drawing/2014/main" id="{90A9A39B-088C-B100-7231-D74D4EA1F45D}"/>
                </a:ext>
              </a:extLst>
            </p:cNvPr>
            <p:cNvSpPr/>
            <p:nvPr/>
          </p:nvSpPr>
          <p:spPr>
            <a:xfrm>
              <a:off x="675082" y="3429000"/>
              <a:ext cx="2965373" cy="909953"/>
            </a:xfrm>
            <a:prstGeom prst="roundRect">
              <a:avLst>
                <a:gd name="adj" fmla="val 7742"/>
              </a:avLst>
            </a:prstGeom>
            <a:solidFill>
              <a:srgbClr val="FFFFFF">
                <a:alpha val="50000"/>
              </a:srgbClr>
            </a:solidFill>
            <a:ln w="12700">
              <a:solidFill>
                <a:srgbClr val="1A472A"/>
              </a:solidFill>
              <a:prstDash val="solid"/>
            </a:ln>
            <a:effectLst>
              <a:outerShdw blurRad="127000" dist="38100" dir="5400000" algn="bl" rotWithShape="0">
                <a:srgbClr val="1A472A">
                  <a:alpha val="14000"/>
                </a:srgbClr>
              </a:outerShdw>
            </a:effectLst>
          </p:spPr>
        </p:sp>
        <p:sp>
          <p:nvSpPr>
            <p:cNvPr id="69" name="Text 8">
              <a:extLst>
                <a:ext uri="{FF2B5EF4-FFF2-40B4-BE49-F238E27FC236}">
                  <a16:creationId xmlns:a16="http://schemas.microsoft.com/office/drawing/2014/main" id="{D99A40FD-238B-58F4-5F69-7C92BD72EEEA}"/>
                </a:ext>
              </a:extLst>
            </p:cNvPr>
            <p:cNvSpPr/>
            <p:nvPr/>
          </p:nvSpPr>
          <p:spPr>
            <a:xfrm>
              <a:off x="1400175" y="3525661"/>
              <a:ext cx="2240280" cy="7961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latin typeface="Segoe UI" panose="020B0502040204020203" pitchFamily="34" charset="0"/>
                  <a:cs typeface="Segoe UI" panose="020B0502040204020203" pitchFamily="34" charset="0"/>
                </a:rPr>
                <a:t>Simplified backend development by handling routing, APIs, and HTTP requests.</a:t>
              </a: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4861A24C-7F48-04D9-4A76-244ED7C605C5}"/>
              </a:ext>
            </a:extLst>
          </p:cNvPr>
          <p:cNvSpPr txBox="1"/>
          <p:nvPr/>
        </p:nvSpPr>
        <p:spPr>
          <a:xfrm>
            <a:off x="4421125" y="2647188"/>
            <a:ext cx="2888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1A472A"/>
                </a:solidFill>
                <a:latin typeface="Montserrat" pitchFamily="2" charset="0"/>
              </a:rPr>
              <a:t>BACK-END</a:t>
            </a: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67285043-7BF4-3B42-2887-CA1B8407F2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9014" y="3352554"/>
            <a:ext cx="778353" cy="476741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46E2DAE7-1EEE-00A3-F622-51DC7358463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0782" y="4314782"/>
            <a:ext cx="706043" cy="706043"/>
          </a:xfrm>
          <a:prstGeom prst="rect">
            <a:avLst/>
          </a:prstGeom>
        </p:spPr>
      </p:pic>
      <p:sp>
        <p:nvSpPr>
          <p:cNvPr id="77" name="Shape 6">
            <a:extLst>
              <a:ext uri="{FF2B5EF4-FFF2-40B4-BE49-F238E27FC236}">
                <a16:creationId xmlns:a16="http://schemas.microsoft.com/office/drawing/2014/main" id="{38DE5979-EF79-F5D9-13F8-7E5D06B8A9DF}"/>
              </a:ext>
            </a:extLst>
          </p:cNvPr>
          <p:cNvSpPr/>
          <p:nvPr/>
        </p:nvSpPr>
        <p:spPr>
          <a:xfrm>
            <a:off x="7924801" y="3686175"/>
            <a:ext cx="3854602" cy="909953"/>
          </a:xfrm>
          <a:prstGeom prst="roundRect">
            <a:avLst>
              <a:gd name="adj" fmla="val 7742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1A472A"/>
            </a:solidFill>
            <a:prstDash val="solid"/>
          </a:ln>
          <a:effectLst>
            <a:outerShdw blurRad="127000" dist="38100" dir="5400000" algn="bl" rotWithShape="0">
              <a:srgbClr val="1A472A">
                <a:alpha val="14000"/>
              </a:srgbClr>
            </a:outerShdw>
          </a:effectLst>
        </p:spPr>
      </p:sp>
      <p:sp>
        <p:nvSpPr>
          <p:cNvPr id="78" name="Text 8">
            <a:extLst>
              <a:ext uri="{FF2B5EF4-FFF2-40B4-BE49-F238E27FC236}">
                <a16:creationId xmlns:a16="http://schemas.microsoft.com/office/drawing/2014/main" id="{D15D6DCC-FDF8-E39F-62BB-CE699100118D}"/>
              </a:ext>
            </a:extLst>
          </p:cNvPr>
          <p:cNvSpPr/>
          <p:nvPr/>
        </p:nvSpPr>
        <p:spPr>
          <a:xfrm>
            <a:off x="9751213" y="3743076"/>
            <a:ext cx="2038349" cy="796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Lightweight relational database used to securely store all application data locally.</a:t>
            </a: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BE999AC0-FB72-84A1-D921-09925853E08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4960" y="3732001"/>
            <a:ext cx="1806093" cy="807183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0E1031BB-A9F1-A930-A8B8-05124D1F142C}"/>
              </a:ext>
            </a:extLst>
          </p:cNvPr>
          <p:cNvSpPr txBox="1"/>
          <p:nvPr/>
        </p:nvSpPr>
        <p:spPr>
          <a:xfrm>
            <a:off x="8407922" y="3217862"/>
            <a:ext cx="2888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1A472A"/>
                </a:solidFill>
                <a:latin typeface="Montserrat" pitchFamily="2" charset="0"/>
              </a:rPr>
              <a:t>DATABASE</a:t>
            </a:r>
          </a:p>
        </p:txBody>
      </p:sp>
      <p:sp>
        <p:nvSpPr>
          <p:cNvPr id="82" name="Text 1">
            <a:extLst>
              <a:ext uri="{FF2B5EF4-FFF2-40B4-BE49-F238E27FC236}">
                <a16:creationId xmlns:a16="http://schemas.microsoft.com/office/drawing/2014/main" id="{CB6DB271-7A3E-3A18-1F1A-4F9F898C3CC5}"/>
              </a:ext>
            </a:extLst>
          </p:cNvPr>
          <p:cNvSpPr/>
          <p:nvPr/>
        </p:nvSpPr>
        <p:spPr>
          <a:xfrm>
            <a:off x="12391491" y="327355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4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Schemas</a:t>
            </a:r>
            <a:endParaRPr lang="en-US" sz="4000" dirty="0"/>
          </a:p>
        </p:txBody>
      </p:sp>
      <p:sp>
        <p:nvSpPr>
          <p:cNvPr id="83" name="Shape 2">
            <a:extLst>
              <a:ext uri="{FF2B5EF4-FFF2-40B4-BE49-F238E27FC236}">
                <a16:creationId xmlns:a16="http://schemas.microsoft.com/office/drawing/2014/main" id="{5398ED9C-6C4F-7695-0252-020C163B1A76}"/>
              </a:ext>
            </a:extLst>
          </p:cNvPr>
          <p:cNvSpPr/>
          <p:nvPr/>
        </p:nvSpPr>
        <p:spPr>
          <a:xfrm>
            <a:off x="12421743" y="962787"/>
            <a:ext cx="502920" cy="41148"/>
          </a:xfrm>
          <a:prstGeom prst="rect">
            <a:avLst/>
          </a:prstGeom>
          <a:solidFill>
            <a:srgbClr val="E9C46A"/>
          </a:solidFill>
          <a:ln/>
        </p:spPr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0" grpId="0" animBg="1"/>
      <p:bldP spid="62" grpId="0"/>
      <p:bldP spid="63" grpId="0"/>
      <p:bldP spid="65" grpId="0" animBg="1"/>
      <p:bldP spid="71" grpId="0"/>
      <p:bldP spid="78" grpId="0" animBg="1"/>
      <p:bldP spid="8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FBF4E2"/>
            </a:gs>
            <a:gs pos="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1416" y="289255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4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Design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29768" y="924687"/>
            <a:ext cx="502920" cy="41148"/>
          </a:xfrm>
          <a:prstGeom prst="rect">
            <a:avLst/>
          </a:prstGeom>
          <a:solidFill>
            <a:srgbClr val="E9C46A"/>
          </a:solidFill>
          <a:ln/>
        </p:spPr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D588661-7FD9-BCEC-41F2-624AD86FF016}"/>
              </a:ext>
            </a:extLst>
          </p:cNvPr>
          <p:cNvGrpSpPr/>
          <p:nvPr/>
        </p:nvGrpSpPr>
        <p:grpSpPr>
          <a:xfrm>
            <a:off x="191106" y="3301365"/>
            <a:ext cx="2045821" cy="640080"/>
            <a:chOff x="381606" y="1310640"/>
            <a:chExt cx="2045821" cy="640080"/>
          </a:xfrm>
        </p:grpSpPr>
        <p:sp>
          <p:nvSpPr>
            <p:cNvPr id="5" name="Shape 3"/>
            <p:cNvSpPr/>
            <p:nvPr/>
          </p:nvSpPr>
          <p:spPr>
            <a:xfrm>
              <a:off x="381606" y="1310640"/>
              <a:ext cx="2045821" cy="640080"/>
            </a:xfrm>
            <a:prstGeom prst="roundRect">
              <a:avLst>
                <a:gd name="adj" fmla="val 57143"/>
              </a:avLst>
            </a:prstGeom>
            <a:noFill/>
            <a:ln w="28575">
              <a:solidFill>
                <a:srgbClr val="1A472A"/>
              </a:solidFill>
              <a:prstDash val="solid"/>
            </a:ln>
            <a:effectLst>
              <a:outerShdw blurRad="127000" dist="38100" dir="5400000" algn="bl" rotWithShape="0">
                <a:srgbClr val="1A472A">
                  <a:alpha val="14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580111" y="1392174"/>
              <a:ext cx="438912" cy="438912"/>
            </a:xfrm>
            <a:prstGeom prst="ellipse">
              <a:avLst/>
            </a:prstGeom>
            <a:solidFill>
              <a:srgbClr val="E9C46A"/>
            </a:solidFill>
            <a:ln/>
          </p:spPr>
        </p:sp>
        <p:pic>
          <p:nvPicPr>
            <p:cNvPr id="7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449" y="1497513"/>
              <a:ext cx="228234" cy="228234"/>
            </a:xfrm>
            <a:prstGeom prst="rect">
              <a:avLst/>
            </a:prstGeom>
          </p:spPr>
        </p:pic>
        <p:sp>
          <p:nvSpPr>
            <p:cNvPr id="8" name="Text 5"/>
            <p:cNvSpPr/>
            <p:nvPr/>
          </p:nvSpPr>
          <p:spPr>
            <a:xfrm>
              <a:off x="1024738" y="1310640"/>
              <a:ext cx="1220541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1A472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SQLite </a:t>
              </a:r>
            </a:p>
            <a:p>
              <a:pPr marL="0" indent="0" algn="ctr">
                <a:buNone/>
              </a:pPr>
              <a:r>
                <a:rPr lang="en-US" b="1" dirty="0">
                  <a:solidFill>
                    <a:srgbClr val="1A472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Database</a:t>
              </a:r>
              <a:endParaRPr lang="en-US" dirty="0">
                <a:solidFill>
                  <a:srgbClr val="1A472A"/>
                </a:solidFill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9E43DDE-2FE5-25A3-D3F8-C36A0192BA30}"/>
              </a:ext>
            </a:extLst>
          </p:cNvPr>
          <p:cNvGrpSpPr/>
          <p:nvPr/>
        </p:nvGrpSpPr>
        <p:grpSpPr>
          <a:xfrm>
            <a:off x="3087929" y="3104769"/>
            <a:ext cx="829056" cy="1033272"/>
            <a:chOff x="3923157" y="2990088"/>
            <a:chExt cx="829056" cy="1033272"/>
          </a:xfrm>
        </p:grpSpPr>
        <p:sp>
          <p:nvSpPr>
            <p:cNvPr id="10" name="Shape 7"/>
            <p:cNvSpPr/>
            <p:nvPr/>
          </p:nvSpPr>
          <p:spPr>
            <a:xfrm>
              <a:off x="3923157" y="2990088"/>
              <a:ext cx="829056" cy="1033272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8575">
              <a:solidFill>
                <a:srgbClr val="1A472A"/>
              </a:solidFill>
              <a:prstDash val="solid"/>
            </a:ln>
            <a:effectLst>
              <a:outerShdw blurRad="127000" dist="38100" dir="5400000" algn="bl" rotWithShape="0">
                <a:srgbClr val="1A472A">
                  <a:alpha val="14000"/>
                </a:srgbClr>
              </a:outerShdw>
            </a:effectLst>
          </p:spPr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4C9AC9EB-A26C-4B3E-A162-87714E212208}"/>
                </a:ext>
              </a:extLst>
            </p:cNvPr>
            <p:cNvGrpSpPr/>
            <p:nvPr/>
          </p:nvGrpSpPr>
          <p:grpSpPr>
            <a:xfrm>
              <a:off x="4049268" y="3121324"/>
              <a:ext cx="502920" cy="784993"/>
              <a:chOff x="4220718" y="3121324"/>
              <a:chExt cx="502920" cy="784993"/>
            </a:xfrm>
          </p:grpSpPr>
          <p:pic>
            <p:nvPicPr>
              <p:cNvPr id="12" name="Image 1" descr="preencoded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06672" y="3121324"/>
                <a:ext cx="416966" cy="416966"/>
              </a:xfrm>
              <a:prstGeom prst="rect">
                <a:avLst/>
              </a:prstGeom>
            </p:spPr>
          </p:pic>
          <p:sp>
            <p:nvSpPr>
              <p:cNvPr id="13" name="Text 9"/>
              <p:cNvSpPr/>
              <p:nvPr/>
            </p:nvSpPr>
            <p:spPr>
              <a:xfrm>
                <a:off x="4220718" y="3540557"/>
                <a:ext cx="50292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350" b="1" dirty="0">
                    <a:solidFill>
                      <a:srgbClr val="1A1A2E"/>
                    </a:solidFill>
                    <a:latin typeface="Segoe UI" pitchFamily="34" charset="0"/>
                    <a:ea typeface="Segoe UI" pitchFamily="34" charset="-122"/>
                    <a:cs typeface="Segoe UI" pitchFamily="34" charset="-120"/>
                  </a:rPr>
                  <a:t>Users</a:t>
                </a:r>
                <a:endParaRPr lang="en-US" sz="1350" dirty="0"/>
              </a:p>
            </p:txBody>
          </p:sp>
        </p:grp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548B0FDD-AE59-903E-D619-F7993FF67269}"/>
              </a:ext>
            </a:extLst>
          </p:cNvPr>
          <p:cNvGrpSpPr/>
          <p:nvPr/>
        </p:nvGrpSpPr>
        <p:grpSpPr>
          <a:xfrm>
            <a:off x="5619749" y="1066800"/>
            <a:ext cx="990631" cy="826770"/>
            <a:chOff x="4705349" y="1847850"/>
            <a:chExt cx="990631" cy="826770"/>
          </a:xfrm>
        </p:grpSpPr>
        <p:sp>
          <p:nvSpPr>
            <p:cNvPr id="14" name="Shape 10"/>
            <p:cNvSpPr/>
            <p:nvPr/>
          </p:nvSpPr>
          <p:spPr>
            <a:xfrm>
              <a:off x="4705349" y="1847850"/>
              <a:ext cx="990631" cy="82677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9050">
              <a:solidFill>
                <a:srgbClr val="1A472A"/>
              </a:solidFill>
              <a:prstDash val="solid"/>
            </a:ln>
            <a:effectLst>
              <a:outerShdw blurRad="127000" dist="38100" dir="5400000" algn="bl" rotWithShape="0">
                <a:srgbClr val="1A472A">
                  <a:alpha val="14000"/>
                </a:srgbClr>
              </a:outerShdw>
            </a:effectLst>
          </p:spPr>
        </p:sp>
        <p:pic>
          <p:nvPicPr>
            <p:cNvPr id="16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58017" y="1951330"/>
              <a:ext cx="285293" cy="285293"/>
            </a:xfrm>
            <a:prstGeom prst="rect">
              <a:avLst/>
            </a:prstGeom>
          </p:spPr>
        </p:pic>
        <p:sp>
          <p:nvSpPr>
            <p:cNvPr id="17" name="Text 12"/>
            <p:cNvSpPr/>
            <p:nvPr/>
          </p:nvSpPr>
          <p:spPr>
            <a:xfrm>
              <a:off x="4743082" y="2182826"/>
              <a:ext cx="91516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1A1A2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Customers</a:t>
              </a:r>
              <a:endParaRPr lang="en-US" sz="1350" dirty="0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1C8E4D53-5916-487E-1A79-12C21253D57E}"/>
              </a:ext>
            </a:extLst>
          </p:cNvPr>
          <p:cNvGrpSpPr/>
          <p:nvPr/>
        </p:nvGrpSpPr>
        <p:grpSpPr>
          <a:xfrm>
            <a:off x="7367778" y="2951836"/>
            <a:ext cx="1181100" cy="826770"/>
            <a:chOff x="9482328" y="2989936"/>
            <a:chExt cx="1181100" cy="826770"/>
          </a:xfrm>
        </p:grpSpPr>
        <p:sp>
          <p:nvSpPr>
            <p:cNvPr id="18" name="Shape 13"/>
            <p:cNvSpPr/>
            <p:nvPr/>
          </p:nvSpPr>
          <p:spPr>
            <a:xfrm>
              <a:off x="9482328" y="2989936"/>
              <a:ext cx="1181100" cy="82677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9050">
              <a:solidFill>
                <a:srgbClr val="1A472A"/>
              </a:solidFill>
              <a:prstDash val="solid"/>
            </a:ln>
            <a:effectLst>
              <a:outerShdw blurRad="127000" dist="38100" dir="5400000" algn="bl" rotWithShape="0">
                <a:srgbClr val="1A472A">
                  <a:alpha val="14000"/>
                </a:srgbClr>
              </a:outerShdw>
            </a:effectLst>
          </p:spPr>
        </p:sp>
        <p:pic>
          <p:nvPicPr>
            <p:cNvPr id="20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930232" y="3121762"/>
              <a:ext cx="285293" cy="285293"/>
            </a:xfrm>
            <a:prstGeom prst="rect">
              <a:avLst/>
            </a:prstGeom>
          </p:spPr>
        </p:pic>
        <p:sp>
          <p:nvSpPr>
            <p:cNvPr id="21" name="Text 15"/>
            <p:cNvSpPr/>
            <p:nvPr/>
          </p:nvSpPr>
          <p:spPr>
            <a:xfrm>
              <a:off x="9482328" y="3450946"/>
              <a:ext cx="11811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1A1A2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Transactions</a:t>
              </a:r>
              <a:endParaRPr lang="en-US" sz="1350" dirty="0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402EB02-66A3-6AA1-6CA8-7688B27B4EDF}"/>
              </a:ext>
            </a:extLst>
          </p:cNvPr>
          <p:cNvGrpSpPr/>
          <p:nvPr/>
        </p:nvGrpSpPr>
        <p:grpSpPr>
          <a:xfrm>
            <a:off x="4157626" y="4378109"/>
            <a:ext cx="990631" cy="877291"/>
            <a:chOff x="4548151" y="3177959"/>
            <a:chExt cx="990631" cy="877291"/>
          </a:xfrm>
        </p:grpSpPr>
        <p:sp>
          <p:nvSpPr>
            <p:cNvPr id="22" name="Shape 16"/>
            <p:cNvSpPr/>
            <p:nvPr/>
          </p:nvSpPr>
          <p:spPr>
            <a:xfrm>
              <a:off x="4548151" y="3177959"/>
              <a:ext cx="990631" cy="877291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9050">
              <a:solidFill>
                <a:srgbClr val="1A472A"/>
              </a:solidFill>
              <a:prstDash val="solid"/>
            </a:ln>
            <a:effectLst>
              <a:outerShdw blurRad="127000" dist="38100" dir="5400000" algn="bl" rotWithShape="0">
                <a:srgbClr val="1A472A">
                  <a:alpha val="14000"/>
                </a:srgbClr>
              </a:outerShdw>
            </a:effectLst>
          </p:spPr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126922D7-90A5-82EE-ECE2-83755F95D29C}"/>
                </a:ext>
              </a:extLst>
            </p:cNvPr>
            <p:cNvGrpSpPr/>
            <p:nvPr/>
          </p:nvGrpSpPr>
          <p:grpSpPr>
            <a:xfrm>
              <a:off x="4644039" y="3331311"/>
              <a:ext cx="838992" cy="640995"/>
              <a:chOff x="12473589" y="3121761"/>
              <a:chExt cx="838992" cy="640995"/>
            </a:xfrm>
          </p:grpSpPr>
          <p:pic>
            <p:nvPicPr>
              <p:cNvPr id="24" name="Image 4" descr="preencoded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15189" y="3121761"/>
                <a:ext cx="285293" cy="285293"/>
              </a:xfrm>
              <a:prstGeom prst="rect">
                <a:avLst/>
              </a:prstGeom>
            </p:spPr>
          </p:pic>
          <p:sp>
            <p:nvSpPr>
              <p:cNvPr id="25" name="Text 18"/>
              <p:cNvSpPr/>
              <p:nvPr/>
            </p:nvSpPr>
            <p:spPr>
              <a:xfrm>
                <a:off x="12473589" y="3396996"/>
                <a:ext cx="838992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350" b="1" dirty="0">
                    <a:solidFill>
                      <a:srgbClr val="1A1A2E"/>
                    </a:solidFill>
                    <a:latin typeface="Segoe UI" pitchFamily="34" charset="0"/>
                    <a:ea typeface="Segoe UI" pitchFamily="34" charset="-122"/>
                    <a:cs typeface="Segoe UI" pitchFamily="34" charset="-120"/>
                  </a:rPr>
                  <a:t>Inventory</a:t>
                </a:r>
                <a:endParaRPr lang="en-US" sz="1350" dirty="0"/>
              </a:p>
            </p:txBody>
          </p:sp>
        </p:grp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25F86E2-723A-86C9-672E-5F290BE08503}"/>
              </a:ext>
            </a:extLst>
          </p:cNvPr>
          <p:cNvGrpSpPr/>
          <p:nvPr/>
        </p:nvGrpSpPr>
        <p:grpSpPr>
          <a:xfrm>
            <a:off x="4761357" y="5753099"/>
            <a:ext cx="935350" cy="856487"/>
            <a:chOff x="4066032" y="4876799"/>
            <a:chExt cx="935350" cy="856487"/>
          </a:xfrm>
        </p:grpSpPr>
        <p:sp>
          <p:nvSpPr>
            <p:cNvPr id="26" name="Shape 19"/>
            <p:cNvSpPr/>
            <p:nvPr/>
          </p:nvSpPr>
          <p:spPr>
            <a:xfrm>
              <a:off x="4066032" y="4876799"/>
              <a:ext cx="935350" cy="856487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9050">
              <a:solidFill>
                <a:srgbClr val="1A472A"/>
              </a:solidFill>
              <a:prstDash val="solid"/>
            </a:ln>
            <a:effectLst>
              <a:outerShdw blurRad="127000" dist="38100" dir="5400000" algn="bl" rotWithShape="0">
                <a:srgbClr val="1A472A">
                  <a:alpha val="14000"/>
                </a:srgbClr>
              </a:outerShdw>
            </a:effectLst>
          </p:spPr>
        </p:sp>
        <p:pic>
          <p:nvPicPr>
            <p:cNvPr id="28" name="Image 5" descr="preencoded.png"/>
            <p:cNvPicPr>
              <a:picLocks noChangeAspect="1"/>
            </p:cNvPicPr>
            <p:nvPr/>
          </p:nvPicPr>
          <p:blipFill>
            <a:blip r:embed="rId8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4400585" y="4962449"/>
              <a:ext cx="285293" cy="285293"/>
            </a:xfrm>
            <a:prstGeom prst="rect">
              <a:avLst/>
            </a:prstGeom>
            <a:solidFill>
              <a:srgbClr val="FFFFFF"/>
            </a:solidFill>
          </p:spPr>
        </p:pic>
        <p:sp>
          <p:nvSpPr>
            <p:cNvPr id="29" name="Text 21"/>
            <p:cNvSpPr/>
            <p:nvPr/>
          </p:nvSpPr>
          <p:spPr>
            <a:xfrm>
              <a:off x="4128704" y="5252695"/>
              <a:ext cx="82905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1A1A2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Suppliers</a:t>
              </a:r>
              <a:endParaRPr lang="en-US" sz="1350" dirty="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AA0E88BE-977B-3AD9-28D3-280161DBAE33}"/>
              </a:ext>
            </a:extLst>
          </p:cNvPr>
          <p:cNvGrpSpPr/>
          <p:nvPr/>
        </p:nvGrpSpPr>
        <p:grpSpPr>
          <a:xfrm>
            <a:off x="5848713" y="3609975"/>
            <a:ext cx="990631" cy="856488"/>
            <a:chOff x="6810738" y="4867275"/>
            <a:chExt cx="990631" cy="856488"/>
          </a:xfrm>
        </p:grpSpPr>
        <p:sp>
          <p:nvSpPr>
            <p:cNvPr id="30" name="Shape 22"/>
            <p:cNvSpPr/>
            <p:nvPr/>
          </p:nvSpPr>
          <p:spPr>
            <a:xfrm>
              <a:off x="6810738" y="4867275"/>
              <a:ext cx="990631" cy="856488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9050">
              <a:solidFill>
                <a:srgbClr val="1A472A"/>
              </a:solidFill>
              <a:prstDash val="solid"/>
            </a:ln>
            <a:effectLst>
              <a:outerShdw blurRad="127000" dist="38100" dir="5400000" algn="bl" rotWithShape="0">
                <a:srgbClr val="1A472A">
                  <a:alpha val="14000"/>
                </a:srgbClr>
              </a:outerShdw>
            </a:effectLst>
          </p:spPr>
        </p:sp>
        <p:pic>
          <p:nvPicPr>
            <p:cNvPr id="32" name="Image 6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163406" y="4952924"/>
              <a:ext cx="285293" cy="285293"/>
            </a:xfrm>
            <a:prstGeom prst="rect">
              <a:avLst/>
            </a:prstGeom>
          </p:spPr>
        </p:pic>
        <p:sp>
          <p:nvSpPr>
            <p:cNvPr id="33" name="Text 24"/>
            <p:cNvSpPr/>
            <p:nvPr/>
          </p:nvSpPr>
          <p:spPr>
            <a:xfrm>
              <a:off x="6823551" y="5230368"/>
              <a:ext cx="905269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1A1A2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Expenses</a:t>
              </a:r>
              <a:endParaRPr lang="en-US" sz="1350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C541D8F7-3BEC-F032-D76A-2BBB73BC3418}"/>
              </a:ext>
            </a:extLst>
          </p:cNvPr>
          <p:cNvGrpSpPr/>
          <p:nvPr/>
        </p:nvGrpSpPr>
        <p:grpSpPr>
          <a:xfrm>
            <a:off x="4705336" y="2133598"/>
            <a:ext cx="990631" cy="856490"/>
            <a:chOff x="12344386" y="4876798"/>
            <a:chExt cx="990631" cy="856490"/>
          </a:xfrm>
        </p:grpSpPr>
        <p:sp>
          <p:nvSpPr>
            <p:cNvPr id="38" name="Shape 28"/>
            <p:cNvSpPr/>
            <p:nvPr/>
          </p:nvSpPr>
          <p:spPr>
            <a:xfrm>
              <a:off x="12344386" y="4876798"/>
              <a:ext cx="990631" cy="85649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9050">
              <a:solidFill>
                <a:srgbClr val="1A472A"/>
              </a:solidFill>
              <a:prstDash val="solid"/>
            </a:ln>
            <a:effectLst>
              <a:outerShdw blurRad="127000" dist="38100" dir="5400000" algn="bl" rotWithShape="0">
                <a:srgbClr val="1A472A">
                  <a:alpha val="14000"/>
                </a:srgbClr>
              </a:outerShdw>
            </a:effectLst>
          </p:spPr>
        </p:sp>
        <p:pic>
          <p:nvPicPr>
            <p:cNvPr id="40" name="Image 8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697018" y="5017579"/>
              <a:ext cx="285293" cy="285293"/>
            </a:xfrm>
            <a:prstGeom prst="rect">
              <a:avLst/>
            </a:prstGeom>
          </p:spPr>
        </p:pic>
        <p:sp>
          <p:nvSpPr>
            <p:cNvPr id="41" name="Text 30"/>
            <p:cNvSpPr/>
            <p:nvPr/>
          </p:nvSpPr>
          <p:spPr>
            <a:xfrm>
              <a:off x="12442309" y="5302872"/>
              <a:ext cx="794784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1A1A2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Settings</a:t>
              </a:r>
              <a:endParaRPr lang="en-US" sz="1350" dirty="0"/>
            </a:p>
          </p:txBody>
        </p:sp>
      </p:grpSp>
      <p:sp>
        <p:nvSpPr>
          <p:cNvPr id="42" name="Text 31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000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5A5A6C7-8072-B9F6-FED1-0D989E92E565}"/>
              </a:ext>
            </a:extLst>
          </p:cNvPr>
          <p:cNvGrpSpPr/>
          <p:nvPr/>
        </p:nvGrpSpPr>
        <p:grpSpPr>
          <a:xfrm>
            <a:off x="9534888" y="4171950"/>
            <a:ext cx="990631" cy="856488"/>
            <a:chOff x="8315688" y="5648325"/>
            <a:chExt cx="990631" cy="856488"/>
          </a:xfrm>
        </p:grpSpPr>
        <p:sp>
          <p:nvSpPr>
            <p:cNvPr id="43" name="Shape 22">
              <a:extLst>
                <a:ext uri="{FF2B5EF4-FFF2-40B4-BE49-F238E27FC236}">
                  <a16:creationId xmlns:a16="http://schemas.microsoft.com/office/drawing/2014/main" id="{1BDD7534-ADC4-B691-C6AA-B9992EF23957}"/>
                </a:ext>
              </a:extLst>
            </p:cNvPr>
            <p:cNvSpPr/>
            <p:nvPr/>
          </p:nvSpPr>
          <p:spPr>
            <a:xfrm>
              <a:off x="8315688" y="5648325"/>
              <a:ext cx="990631" cy="856488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9050">
              <a:solidFill>
                <a:srgbClr val="1A472A"/>
              </a:solidFill>
              <a:prstDash val="solid"/>
            </a:ln>
            <a:effectLst>
              <a:outerShdw blurRad="127000" dist="38100" dir="5400000" algn="bl" rotWithShape="0">
                <a:srgbClr val="1A472A">
                  <a:alpha val="14000"/>
                </a:srgbClr>
              </a:outerShdw>
            </a:effectLst>
          </p:spPr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7417FDC7-9FBF-AB96-ABD3-FF8B74DCB038}"/>
                </a:ext>
              </a:extLst>
            </p:cNvPr>
            <p:cNvGrpSpPr/>
            <p:nvPr/>
          </p:nvGrpSpPr>
          <p:grpSpPr>
            <a:xfrm>
              <a:off x="8412778" y="5668632"/>
              <a:ext cx="796449" cy="728891"/>
              <a:chOff x="8412778" y="5668632"/>
              <a:chExt cx="796449" cy="728891"/>
            </a:xfrm>
          </p:grpSpPr>
          <p:sp>
            <p:nvSpPr>
              <p:cNvPr id="45" name="Text 24">
                <a:extLst>
                  <a:ext uri="{FF2B5EF4-FFF2-40B4-BE49-F238E27FC236}">
                    <a16:creationId xmlns:a16="http://schemas.microsoft.com/office/drawing/2014/main" id="{B8B990BF-2FEA-9E7C-B375-309DF1A37A67}"/>
                  </a:ext>
                </a:extLst>
              </p:cNvPr>
              <p:cNvSpPr/>
              <p:nvPr/>
            </p:nvSpPr>
            <p:spPr>
              <a:xfrm>
                <a:off x="8412778" y="6205285"/>
                <a:ext cx="796449" cy="19223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350" b="1" dirty="0">
                    <a:solidFill>
                      <a:srgbClr val="1A1A2E"/>
                    </a:solidFill>
                    <a:latin typeface="Segoe UI" pitchFamily="34" charset="0"/>
                    <a:ea typeface="Segoe UI" pitchFamily="34" charset="-122"/>
                    <a:cs typeface="Segoe UI" pitchFamily="34" charset="-120"/>
                  </a:rPr>
                  <a:t>Inventory </a:t>
                </a:r>
              </a:p>
              <a:p>
                <a:pPr marL="0" indent="0" algn="ctr">
                  <a:buNone/>
                </a:pPr>
                <a:r>
                  <a:rPr lang="en-US" sz="1350" b="1" dirty="0">
                    <a:solidFill>
                      <a:srgbClr val="1A1A2E"/>
                    </a:solidFill>
                    <a:latin typeface="Segoe UI" pitchFamily="34" charset="0"/>
                    <a:cs typeface="Segoe UI" pitchFamily="34" charset="-120"/>
                  </a:rPr>
                  <a:t>Batches</a:t>
                </a:r>
                <a:endParaRPr lang="en-US" sz="1350" dirty="0"/>
              </a:p>
            </p:txBody>
          </p:sp>
          <p:sp>
            <p:nvSpPr>
              <p:cNvPr id="46" name="Freeform 14">
                <a:extLst>
                  <a:ext uri="{FF2B5EF4-FFF2-40B4-BE49-F238E27FC236}">
                    <a16:creationId xmlns:a16="http://schemas.microsoft.com/office/drawing/2014/main" id="{4DE7BC84-BC7A-D5AB-1F5D-CD9AAABE9C7C}"/>
                  </a:ext>
                </a:extLst>
              </p:cNvPr>
              <p:cNvSpPr/>
              <p:nvPr/>
            </p:nvSpPr>
            <p:spPr>
              <a:xfrm>
                <a:off x="8594924" y="5668632"/>
                <a:ext cx="432155" cy="442129"/>
              </a:xfrm>
              <a:custGeom>
                <a:avLst/>
                <a:gdLst/>
                <a:ahLst/>
                <a:cxnLst/>
                <a:rect l="l" t="t" r="r" b="b"/>
                <a:pathLst>
                  <a:path w="727593" h="835440">
                    <a:moveTo>
                      <a:pt x="0" y="0"/>
                    </a:moveTo>
                    <a:lnTo>
                      <a:pt x="727593" y="0"/>
                    </a:lnTo>
                    <a:lnTo>
                      <a:pt x="727593" y="835441"/>
                    </a:lnTo>
                    <a:lnTo>
                      <a:pt x="0" y="83544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a:blipFill>
            </p:spPr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8DBD71C7-29C5-0B28-ECA7-C8649591BC0F}"/>
              </a:ext>
            </a:extLst>
          </p:cNvPr>
          <p:cNvGrpSpPr/>
          <p:nvPr/>
        </p:nvGrpSpPr>
        <p:grpSpPr>
          <a:xfrm>
            <a:off x="6819350" y="5029611"/>
            <a:ext cx="990631" cy="884881"/>
            <a:chOff x="11991680" y="1774789"/>
            <a:chExt cx="990631" cy="884881"/>
          </a:xfrm>
        </p:grpSpPr>
        <p:sp>
          <p:nvSpPr>
            <p:cNvPr id="48" name="Shape 16">
              <a:extLst>
                <a:ext uri="{FF2B5EF4-FFF2-40B4-BE49-F238E27FC236}">
                  <a16:creationId xmlns:a16="http://schemas.microsoft.com/office/drawing/2014/main" id="{D5FA6493-0477-EFBC-46C8-458D8948E614}"/>
                </a:ext>
              </a:extLst>
            </p:cNvPr>
            <p:cNvSpPr/>
            <p:nvPr/>
          </p:nvSpPr>
          <p:spPr>
            <a:xfrm>
              <a:off x="11991680" y="1774789"/>
              <a:ext cx="990631" cy="877291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9050">
              <a:solidFill>
                <a:srgbClr val="1A472A"/>
              </a:solidFill>
              <a:prstDash val="solid"/>
            </a:ln>
            <a:effectLst>
              <a:outerShdw blurRad="127000" dist="38100" dir="5400000" algn="bl" rotWithShape="0">
                <a:srgbClr val="1A472A">
                  <a:alpha val="14000"/>
                </a:srgbClr>
              </a:outerShdw>
            </a:effectLst>
          </p:spPr>
        </p:sp>
        <p:sp>
          <p:nvSpPr>
            <p:cNvPr id="50" name="Text 18">
              <a:extLst>
                <a:ext uri="{FF2B5EF4-FFF2-40B4-BE49-F238E27FC236}">
                  <a16:creationId xmlns:a16="http://schemas.microsoft.com/office/drawing/2014/main" id="{C7959EB9-54DC-BB35-D0C7-9570D9E3C3FB}"/>
                </a:ext>
              </a:extLst>
            </p:cNvPr>
            <p:cNvSpPr/>
            <p:nvPr/>
          </p:nvSpPr>
          <p:spPr>
            <a:xfrm>
              <a:off x="12062546" y="2293910"/>
              <a:ext cx="83899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1A1A2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products</a:t>
              </a:r>
              <a:endParaRPr lang="en-US" sz="1350" dirty="0"/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2CCCC15B-FB66-C013-47A6-45B79D38A5D4}"/>
                </a:ext>
              </a:extLst>
            </p:cNvPr>
            <p:cNvSpPr/>
            <p:nvPr/>
          </p:nvSpPr>
          <p:spPr>
            <a:xfrm>
              <a:off x="12223851" y="1865376"/>
              <a:ext cx="495301" cy="479133"/>
            </a:xfrm>
            <a:custGeom>
              <a:avLst/>
              <a:gdLst/>
              <a:ahLst/>
              <a:cxnLst/>
              <a:rect l="l" t="t" r="r" b="b"/>
              <a:pathLst>
                <a:path w="928806" h="896720">
                  <a:moveTo>
                    <a:pt x="0" y="0"/>
                  </a:moveTo>
                  <a:lnTo>
                    <a:pt x="928806" y="0"/>
                  </a:lnTo>
                  <a:lnTo>
                    <a:pt x="928806" y="896719"/>
                  </a:lnTo>
                  <a:lnTo>
                    <a:pt x="0" y="8967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4" name="Arrow: Left-Right 53">
            <a:extLst>
              <a:ext uri="{FF2B5EF4-FFF2-40B4-BE49-F238E27FC236}">
                <a16:creationId xmlns:a16="http://schemas.microsoft.com/office/drawing/2014/main" id="{20FF2122-A0E1-7EFA-AE7B-9903246B8420}"/>
              </a:ext>
            </a:extLst>
          </p:cNvPr>
          <p:cNvSpPr/>
          <p:nvPr/>
        </p:nvSpPr>
        <p:spPr>
          <a:xfrm>
            <a:off x="2247900" y="3429000"/>
            <a:ext cx="829056" cy="388773"/>
          </a:xfrm>
          <a:prstGeom prst="leftRightArrow">
            <a:avLst/>
          </a:prstGeom>
          <a:solidFill>
            <a:srgbClr val="1A47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CAAB1E01-8588-EF04-2384-9B7B1C3B528C}"/>
              </a:ext>
            </a:extLst>
          </p:cNvPr>
          <p:cNvGrpSpPr/>
          <p:nvPr/>
        </p:nvGrpSpPr>
        <p:grpSpPr>
          <a:xfrm>
            <a:off x="8323614" y="5697601"/>
            <a:ext cx="1171270" cy="962630"/>
            <a:chOff x="9228489" y="5621401"/>
            <a:chExt cx="1171270" cy="962630"/>
          </a:xfrm>
        </p:grpSpPr>
        <p:sp>
          <p:nvSpPr>
            <p:cNvPr id="75" name="Shape 19">
              <a:extLst>
                <a:ext uri="{FF2B5EF4-FFF2-40B4-BE49-F238E27FC236}">
                  <a16:creationId xmlns:a16="http://schemas.microsoft.com/office/drawing/2014/main" id="{91F258C2-6472-7553-B814-C28308304FDD}"/>
                </a:ext>
              </a:extLst>
            </p:cNvPr>
            <p:cNvSpPr/>
            <p:nvPr/>
          </p:nvSpPr>
          <p:spPr>
            <a:xfrm>
              <a:off x="9228489" y="5621401"/>
              <a:ext cx="1171270" cy="96263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9050">
              <a:solidFill>
                <a:srgbClr val="1A472A"/>
              </a:solidFill>
              <a:prstDash val="solid"/>
            </a:ln>
            <a:effectLst>
              <a:outerShdw blurRad="127000" dist="38100" dir="5400000" algn="bl" rotWithShape="0">
                <a:srgbClr val="1A472A">
                  <a:alpha val="14000"/>
                </a:srgbClr>
              </a:outerShdw>
            </a:effectLst>
          </p:spPr>
        </p:sp>
        <p:sp>
          <p:nvSpPr>
            <p:cNvPr id="77" name="Text 21">
              <a:extLst>
                <a:ext uri="{FF2B5EF4-FFF2-40B4-BE49-F238E27FC236}">
                  <a16:creationId xmlns:a16="http://schemas.microsoft.com/office/drawing/2014/main" id="{8098BE71-2235-762B-2A4D-A0A11D6E976A}"/>
                </a:ext>
              </a:extLst>
            </p:cNvPr>
            <p:cNvSpPr/>
            <p:nvPr/>
          </p:nvSpPr>
          <p:spPr>
            <a:xfrm>
              <a:off x="9261626" y="6095629"/>
              <a:ext cx="1104995" cy="4110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1A1A2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Supplier</a:t>
              </a:r>
              <a:br>
                <a:rPr lang="en-US" sz="1350" b="1" dirty="0">
                  <a:solidFill>
                    <a:srgbClr val="1A1A2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</a:br>
              <a:r>
                <a:rPr lang="en-US" sz="1350" b="1" dirty="0">
                  <a:solidFill>
                    <a:srgbClr val="1A1A2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Transactions</a:t>
              </a:r>
              <a:endParaRPr lang="en-US" sz="1350" dirty="0"/>
            </a:p>
          </p:txBody>
        </p:sp>
        <p:sp>
          <p:nvSpPr>
            <p:cNvPr id="78" name="Freeform 42">
              <a:extLst>
                <a:ext uri="{FF2B5EF4-FFF2-40B4-BE49-F238E27FC236}">
                  <a16:creationId xmlns:a16="http://schemas.microsoft.com/office/drawing/2014/main" id="{4334716F-CAB7-AC53-A405-D7687E2088C8}"/>
                </a:ext>
              </a:extLst>
            </p:cNvPr>
            <p:cNvSpPr/>
            <p:nvPr/>
          </p:nvSpPr>
          <p:spPr>
            <a:xfrm>
              <a:off x="9481632" y="5699468"/>
              <a:ext cx="707498" cy="411087"/>
            </a:xfrm>
            <a:custGeom>
              <a:avLst/>
              <a:gdLst/>
              <a:ahLst/>
              <a:cxnLst/>
              <a:rect l="l" t="t" r="r" b="b"/>
              <a:pathLst>
                <a:path w="1148191" h="989531">
                  <a:moveTo>
                    <a:pt x="0" y="0"/>
                  </a:moveTo>
                  <a:lnTo>
                    <a:pt x="1148190" y="0"/>
                  </a:lnTo>
                  <a:lnTo>
                    <a:pt x="1148190" y="989532"/>
                  </a:lnTo>
                  <a:lnTo>
                    <a:pt x="0" y="989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</p:grpSp>
      <p:cxnSp>
        <p:nvCxnSpPr>
          <p:cNvPr id="80" name="Connector: Curved 79">
            <a:extLst>
              <a:ext uri="{FF2B5EF4-FFF2-40B4-BE49-F238E27FC236}">
                <a16:creationId xmlns:a16="http://schemas.microsoft.com/office/drawing/2014/main" id="{0D203FB0-8486-8621-D585-3F931FDC819B}"/>
              </a:ext>
            </a:extLst>
          </p:cNvPr>
          <p:cNvCxnSpPr>
            <a:stCxn id="10" idx="0"/>
            <a:endCxn id="38" idx="1"/>
          </p:cNvCxnSpPr>
          <p:nvPr/>
        </p:nvCxnSpPr>
        <p:spPr>
          <a:xfrm rot="5400000" flipH="1" flipV="1">
            <a:off x="3832433" y="2231867"/>
            <a:ext cx="542926" cy="120287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Connector: Curved 82">
            <a:extLst>
              <a:ext uri="{FF2B5EF4-FFF2-40B4-BE49-F238E27FC236}">
                <a16:creationId xmlns:a16="http://schemas.microsoft.com/office/drawing/2014/main" id="{F35C7A29-3CCE-5E2B-F749-9886583D2468}"/>
              </a:ext>
            </a:extLst>
          </p:cNvPr>
          <p:cNvCxnSpPr>
            <a:stCxn id="10" idx="2"/>
            <a:endCxn id="22" idx="1"/>
          </p:cNvCxnSpPr>
          <p:nvPr/>
        </p:nvCxnSpPr>
        <p:spPr>
          <a:xfrm rot="16200000" flipH="1">
            <a:off x="3490684" y="4149813"/>
            <a:ext cx="678714" cy="65516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Connector: Curved 103">
            <a:extLst>
              <a:ext uri="{FF2B5EF4-FFF2-40B4-BE49-F238E27FC236}">
                <a16:creationId xmlns:a16="http://schemas.microsoft.com/office/drawing/2014/main" id="{41863EB8-8766-7A19-AF52-AB3BBEEDA87B}"/>
              </a:ext>
            </a:extLst>
          </p:cNvPr>
          <p:cNvCxnSpPr/>
          <p:nvPr/>
        </p:nvCxnSpPr>
        <p:spPr>
          <a:xfrm flipV="1">
            <a:off x="3916985" y="3242613"/>
            <a:ext cx="3450793" cy="58752"/>
          </a:xfrm>
          <a:prstGeom prst="curvedConnector3">
            <a:avLst>
              <a:gd name="adj1" fmla="val 10106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Connector: Curved 116">
            <a:extLst>
              <a:ext uri="{FF2B5EF4-FFF2-40B4-BE49-F238E27FC236}">
                <a16:creationId xmlns:a16="http://schemas.microsoft.com/office/drawing/2014/main" id="{A7741F09-FCA0-A6BA-E1C0-357043E97910}"/>
              </a:ext>
            </a:extLst>
          </p:cNvPr>
          <p:cNvCxnSpPr>
            <a:cxnSpLocks/>
            <a:stCxn id="10" idx="3"/>
            <a:endCxn id="48" idx="1"/>
          </p:cNvCxnSpPr>
          <p:nvPr/>
        </p:nvCxnSpPr>
        <p:spPr>
          <a:xfrm>
            <a:off x="3916985" y="3621405"/>
            <a:ext cx="2902365" cy="184685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EDF1CB99-97D0-39E0-E32F-D03C3F11390A}"/>
              </a:ext>
            </a:extLst>
          </p:cNvPr>
          <p:cNvCxnSpPr>
            <a:stCxn id="26" idx="0"/>
            <a:endCxn id="22" idx="2"/>
          </p:cNvCxnSpPr>
          <p:nvPr/>
        </p:nvCxnSpPr>
        <p:spPr>
          <a:xfrm flipH="1" flipV="1">
            <a:off x="4652942" y="5255400"/>
            <a:ext cx="576090" cy="4976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4" name="Connector: Curved 123">
            <a:extLst>
              <a:ext uri="{FF2B5EF4-FFF2-40B4-BE49-F238E27FC236}">
                <a16:creationId xmlns:a16="http://schemas.microsoft.com/office/drawing/2014/main" id="{81A4F702-71EC-3263-7593-ABD15E2AD7CB}"/>
              </a:ext>
            </a:extLst>
          </p:cNvPr>
          <p:cNvCxnSpPr>
            <a:cxnSpLocks/>
            <a:stCxn id="14" idx="3"/>
            <a:endCxn id="18" idx="0"/>
          </p:cNvCxnSpPr>
          <p:nvPr/>
        </p:nvCxnSpPr>
        <p:spPr>
          <a:xfrm>
            <a:off x="6610380" y="1480185"/>
            <a:ext cx="1347948" cy="147165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B2C52F5E-1BC5-FA18-608C-F1F93E078570}"/>
              </a:ext>
            </a:extLst>
          </p:cNvPr>
          <p:cNvCxnSpPr/>
          <p:nvPr/>
        </p:nvCxnSpPr>
        <p:spPr>
          <a:xfrm>
            <a:off x="3916985" y="3429000"/>
            <a:ext cx="1944541" cy="5124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34518BD1-3FBF-4035-D2DA-F094825B15BE}"/>
              </a:ext>
            </a:extLst>
          </p:cNvPr>
          <p:cNvCxnSpPr>
            <a:stCxn id="26" idx="3"/>
            <a:endCxn id="75" idx="1"/>
          </p:cNvCxnSpPr>
          <p:nvPr/>
        </p:nvCxnSpPr>
        <p:spPr>
          <a:xfrm flipV="1">
            <a:off x="5696707" y="6178916"/>
            <a:ext cx="2626907" cy="24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A4656C55-BA08-A369-61AE-D133A8514049}"/>
              </a:ext>
            </a:extLst>
          </p:cNvPr>
          <p:cNvCxnSpPr>
            <a:stCxn id="48" idx="3"/>
            <a:endCxn id="43" idx="1"/>
          </p:cNvCxnSpPr>
          <p:nvPr/>
        </p:nvCxnSpPr>
        <p:spPr>
          <a:xfrm flipV="1">
            <a:off x="7809981" y="4600194"/>
            <a:ext cx="1724907" cy="8680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9" name="Connector: Elbow 138">
            <a:extLst>
              <a:ext uri="{FF2B5EF4-FFF2-40B4-BE49-F238E27FC236}">
                <a16:creationId xmlns:a16="http://schemas.microsoft.com/office/drawing/2014/main" id="{60ED2F48-3CEB-67A4-0048-6EFBD29071D1}"/>
              </a:ext>
            </a:extLst>
          </p:cNvPr>
          <p:cNvCxnSpPr>
            <a:endCxn id="14" idx="1"/>
          </p:cNvCxnSpPr>
          <p:nvPr/>
        </p:nvCxnSpPr>
        <p:spPr>
          <a:xfrm flipV="1">
            <a:off x="3299994" y="1480185"/>
            <a:ext cx="2319755" cy="1624584"/>
          </a:xfrm>
          <a:prstGeom prst="bentConnector3">
            <a:avLst>
              <a:gd name="adj1" fmla="val -9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E7AB3B39-3887-8CFB-A357-49EF4DBFA8A0}"/>
              </a:ext>
            </a:extLst>
          </p:cNvPr>
          <p:cNvCxnSpPr/>
          <p:nvPr/>
        </p:nvCxnSpPr>
        <p:spPr>
          <a:xfrm>
            <a:off x="3328569" y="4138040"/>
            <a:ext cx="0" cy="20408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E053E56C-6F97-E1E5-7E8B-331F015D66D9}"/>
              </a:ext>
            </a:extLst>
          </p:cNvPr>
          <p:cNvCxnSpPr>
            <a:cxnSpLocks/>
          </p:cNvCxnSpPr>
          <p:nvPr/>
        </p:nvCxnSpPr>
        <p:spPr>
          <a:xfrm>
            <a:off x="3319044" y="6171829"/>
            <a:ext cx="1461363" cy="9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Text 1">
            <a:extLst>
              <a:ext uri="{FF2B5EF4-FFF2-40B4-BE49-F238E27FC236}">
                <a16:creationId xmlns:a16="http://schemas.microsoft.com/office/drawing/2014/main" id="{A1CC7BA4-F6C9-4904-875D-866BC969992D}"/>
              </a:ext>
            </a:extLst>
          </p:cNvPr>
          <p:cNvSpPr/>
          <p:nvPr/>
        </p:nvSpPr>
        <p:spPr>
          <a:xfrm>
            <a:off x="12622717" y="368046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472A"/>
                </a:solidFill>
                <a:latin typeface="Montserrat" pitchFamily="2" charset="0"/>
                <a:ea typeface="Segoe UI" pitchFamily="34" charset="-122"/>
                <a:cs typeface="Segoe UI" pitchFamily="34" charset="-120"/>
              </a:rPr>
              <a:t>Features</a:t>
            </a:r>
            <a:endParaRPr lang="en-US" sz="4000" dirty="0">
              <a:latin typeface="Montserrat" pitchFamily="2" charset="0"/>
            </a:endParaRPr>
          </a:p>
        </p:txBody>
      </p:sp>
      <p:sp>
        <p:nvSpPr>
          <p:cNvPr id="74" name="Shape 2">
            <a:extLst>
              <a:ext uri="{FF2B5EF4-FFF2-40B4-BE49-F238E27FC236}">
                <a16:creationId xmlns:a16="http://schemas.microsoft.com/office/drawing/2014/main" id="{BC92DA5A-C187-49E0-BF84-DCAFC27B277C}"/>
              </a:ext>
            </a:extLst>
          </p:cNvPr>
          <p:cNvSpPr/>
          <p:nvPr/>
        </p:nvSpPr>
        <p:spPr>
          <a:xfrm>
            <a:off x="12660817" y="1019937"/>
            <a:ext cx="502920" cy="41148"/>
          </a:xfrm>
          <a:prstGeom prst="rect">
            <a:avLst/>
          </a:prstGeom>
          <a:solidFill>
            <a:srgbClr val="E9C46A"/>
          </a:solidFill>
          <a:ln/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2">
                <a:lumMod val="20000"/>
                <a:lumOff val="80000"/>
              </a:schemeClr>
            </a:gs>
            <a:gs pos="0">
              <a:schemeClr val="tx2">
                <a:lumMod val="10000"/>
                <a:lumOff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58368" y="368046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472A"/>
                </a:solidFill>
                <a:latin typeface="Montserrat" pitchFamily="2" charset="0"/>
                <a:ea typeface="Segoe UI" pitchFamily="34" charset="-122"/>
                <a:cs typeface="Segoe UI" pitchFamily="34" charset="-120"/>
              </a:rPr>
              <a:t>Features</a:t>
            </a:r>
            <a:endParaRPr lang="en-US" sz="4000" dirty="0">
              <a:latin typeface="Montserrat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96468" y="1019937"/>
            <a:ext cx="502920" cy="4114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Text 3"/>
          <p:cNvSpPr/>
          <p:nvPr/>
        </p:nvSpPr>
        <p:spPr>
          <a:xfrm>
            <a:off x="696468" y="1447313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 err="1">
                <a:solidFill>
                  <a:srgbClr val="2D6A4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হালখাতা</a:t>
            </a:r>
            <a:r>
              <a:rPr lang="en-US" sz="1500" b="1" dirty="0">
                <a:solidFill>
                  <a:srgbClr val="2D6A4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Digital</a:t>
            </a:r>
            <a:r>
              <a:rPr lang="en-US" sz="15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delivers the complete lifecycle of small-business credit management in a single, lightweight web application.</a:t>
            </a:r>
            <a:endParaRPr lang="en-US" sz="1500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BAB558B-D9C4-EDE8-6448-E96F2C0102FB}"/>
              </a:ext>
            </a:extLst>
          </p:cNvPr>
          <p:cNvGrpSpPr/>
          <p:nvPr/>
        </p:nvGrpSpPr>
        <p:grpSpPr>
          <a:xfrm>
            <a:off x="169469" y="2552289"/>
            <a:ext cx="5299710" cy="541353"/>
            <a:chOff x="150419" y="2257014"/>
            <a:chExt cx="5299710" cy="557052"/>
          </a:xfrm>
        </p:grpSpPr>
        <p:sp>
          <p:nvSpPr>
            <p:cNvPr id="6" name="Shape 4"/>
            <p:cNvSpPr/>
            <p:nvPr/>
          </p:nvSpPr>
          <p:spPr>
            <a:xfrm>
              <a:off x="150419" y="2257014"/>
              <a:ext cx="5299710" cy="557052"/>
            </a:xfrm>
            <a:prstGeom prst="roundRect">
              <a:avLst>
                <a:gd name="adj" fmla="val 5854"/>
              </a:avLst>
            </a:prstGeom>
            <a:solidFill>
              <a:srgbClr val="FFFFFF"/>
            </a:solidFill>
            <a:ln w="12700">
              <a:solidFill>
                <a:srgbClr val="F5EAD4"/>
              </a:solidFill>
              <a:prstDash val="solid"/>
            </a:ln>
            <a:effectLst>
              <a:outerShdw blurRad="127000" dist="38100" dir="5400000" algn="bl" rotWithShape="0">
                <a:srgbClr val="1A472A">
                  <a:alpha val="14000"/>
                </a:srgbClr>
              </a:outerShdw>
            </a:effectLst>
          </p:spPr>
        </p:sp>
        <p:pic>
          <p:nvPicPr>
            <p:cNvPr id="8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8170" y="2424897"/>
              <a:ext cx="266273" cy="266273"/>
            </a:xfrm>
            <a:prstGeom prst="rect">
              <a:avLst/>
            </a:prstGeom>
          </p:spPr>
        </p:pic>
        <p:sp>
          <p:nvSpPr>
            <p:cNvPr id="9" name="Text 6"/>
            <p:cNvSpPr/>
            <p:nvPr/>
          </p:nvSpPr>
          <p:spPr>
            <a:xfrm>
              <a:off x="759333" y="2448306"/>
              <a:ext cx="427939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b="1" dirty="0">
                  <a:solidFill>
                    <a:srgbClr val="1A472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Customer Ledger </a:t>
              </a:r>
              <a:r>
                <a:rPr lang="en-US" sz="1200" dirty="0">
                  <a:solidFill>
                    <a:srgbClr val="6B728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Profiles, balances &amp; trust score</a:t>
              </a:r>
              <a:endParaRPr lang="en-US" sz="1200" dirty="0"/>
            </a:p>
            <a:p>
              <a:pPr marL="0" indent="0">
                <a:buNone/>
              </a:pPr>
              <a:endParaRPr lang="en-US" sz="1450" dirty="0"/>
            </a:p>
          </p:txBody>
        </p:sp>
      </p:grpSp>
      <p:sp>
        <p:nvSpPr>
          <p:cNvPr id="10" name="Text 7"/>
          <p:cNvSpPr/>
          <p:nvPr/>
        </p:nvSpPr>
        <p:spPr>
          <a:xfrm>
            <a:off x="381000" y="3831717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E3BB517-A6E0-7F0D-4336-D987D85AAF91}"/>
              </a:ext>
            </a:extLst>
          </p:cNvPr>
          <p:cNvGrpSpPr/>
          <p:nvPr/>
        </p:nvGrpSpPr>
        <p:grpSpPr>
          <a:xfrm>
            <a:off x="190119" y="3423255"/>
            <a:ext cx="5298110" cy="557052"/>
            <a:chOff x="152019" y="3127980"/>
            <a:chExt cx="5298110" cy="557052"/>
          </a:xfrm>
        </p:grpSpPr>
        <p:sp>
          <p:nvSpPr>
            <p:cNvPr id="11" name="Shape 8"/>
            <p:cNvSpPr/>
            <p:nvPr/>
          </p:nvSpPr>
          <p:spPr>
            <a:xfrm>
              <a:off x="152019" y="3127980"/>
              <a:ext cx="5298110" cy="557052"/>
            </a:xfrm>
            <a:prstGeom prst="roundRect">
              <a:avLst>
                <a:gd name="adj" fmla="val 5854"/>
              </a:avLst>
            </a:prstGeom>
            <a:solidFill>
              <a:srgbClr val="FFFFFF"/>
            </a:solidFill>
            <a:ln w="12700">
              <a:solidFill>
                <a:srgbClr val="F5EAD4"/>
              </a:solidFill>
              <a:prstDash val="solid"/>
            </a:ln>
            <a:effectLst>
              <a:outerShdw blurRad="127000" dist="38100" dir="5400000" algn="bl" rotWithShape="0">
                <a:srgbClr val="1A472A">
                  <a:alpha val="14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13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6860" y="3249466"/>
              <a:ext cx="266273" cy="266273"/>
            </a:xfrm>
            <a:prstGeom prst="rect">
              <a:avLst/>
            </a:prstGeom>
          </p:spPr>
        </p:pic>
        <p:sp>
          <p:nvSpPr>
            <p:cNvPr id="14" name="Text 10"/>
            <p:cNvSpPr/>
            <p:nvPr/>
          </p:nvSpPr>
          <p:spPr>
            <a:xfrm>
              <a:off x="770168" y="3276898"/>
              <a:ext cx="4404741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b="1" dirty="0">
                  <a:solidFill>
                    <a:srgbClr val="1A472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Sales &amp; Credit  </a:t>
              </a:r>
              <a:r>
                <a:rPr lang="en-US" sz="1100" dirty="0">
                  <a:solidFill>
                    <a:srgbClr val="6B728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Cash sales, credit sales, repayments</a:t>
              </a:r>
              <a:endParaRPr lang="en-US" sz="1100" dirty="0"/>
            </a:p>
            <a:p>
              <a:pPr marL="0" indent="0">
                <a:buNone/>
              </a:pPr>
              <a:endParaRPr lang="en-US" sz="1450" dirty="0"/>
            </a:p>
          </p:txBody>
        </p:sp>
      </p:grpSp>
      <p:sp>
        <p:nvSpPr>
          <p:cNvPr id="15" name="Text 11"/>
          <p:cNvSpPr/>
          <p:nvPr/>
        </p:nvSpPr>
        <p:spPr>
          <a:xfrm>
            <a:off x="4663440" y="3593592"/>
            <a:ext cx="3008376" cy="48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86919" y="5080842"/>
            <a:ext cx="5299710" cy="638175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5EAD4"/>
            </a:solidFill>
            <a:prstDash val="solid"/>
          </a:ln>
          <a:effectLst>
            <a:outerShdw blurRad="127000" dist="38100" dir="5400000" algn="bl" rotWithShape="0">
              <a:srgbClr val="1A472A">
                <a:alpha val="14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607" y="5232457"/>
            <a:ext cx="266273" cy="26627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5988" y="5408861"/>
            <a:ext cx="4286859" cy="125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A4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 Inventory  </a:t>
            </a: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FIFO stock across purchase batches</a:t>
            </a:r>
            <a:endParaRPr lang="en-US" sz="1100" dirty="0"/>
          </a:p>
          <a:p>
            <a:pPr marL="0" indent="0">
              <a:buNone/>
            </a:pP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412480" y="3593592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3B3959A-F2AC-FF83-4442-71580FC4CC3E}"/>
              </a:ext>
            </a:extLst>
          </p:cNvPr>
          <p:cNvGrpSpPr/>
          <p:nvPr/>
        </p:nvGrpSpPr>
        <p:grpSpPr>
          <a:xfrm>
            <a:off x="188519" y="4183380"/>
            <a:ext cx="5298110" cy="626387"/>
            <a:chOff x="150419" y="3964305"/>
            <a:chExt cx="5298110" cy="626387"/>
          </a:xfrm>
        </p:grpSpPr>
        <p:sp>
          <p:nvSpPr>
            <p:cNvPr id="21" name="Shape 16"/>
            <p:cNvSpPr/>
            <p:nvPr/>
          </p:nvSpPr>
          <p:spPr>
            <a:xfrm>
              <a:off x="150419" y="3964305"/>
              <a:ext cx="5298110" cy="626387"/>
            </a:xfrm>
            <a:prstGeom prst="roundRect">
              <a:avLst>
                <a:gd name="adj" fmla="val 5854"/>
              </a:avLst>
            </a:prstGeom>
            <a:solidFill>
              <a:srgbClr val="FFFFFF"/>
            </a:solidFill>
            <a:ln w="12700">
              <a:solidFill>
                <a:srgbClr val="F5EAD4"/>
              </a:solidFill>
              <a:prstDash val="solid"/>
            </a:ln>
            <a:effectLst>
              <a:outerShdw blurRad="127000" dist="38100" dir="5400000" algn="bl" rotWithShape="0">
                <a:srgbClr val="1A472A">
                  <a:alpha val="14000"/>
                </a:srgbClr>
              </a:outerShdw>
            </a:effectLst>
          </p:spPr>
        </p:sp>
        <p:pic>
          <p:nvPicPr>
            <p:cNvPr id="23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1274" y="4146255"/>
              <a:ext cx="266273" cy="266273"/>
            </a:xfrm>
            <a:prstGeom prst="rect">
              <a:avLst/>
            </a:prstGeom>
          </p:spPr>
        </p:pic>
        <p:sp>
          <p:nvSpPr>
            <p:cNvPr id="24" name="Text 18"/>
            <p:cNvSpPr/>
            <p:nvPr/>
          </p:nvSpPr>
          <p:spPr>
            <a:xfrm>
              <a:off x="665988" y="4186214"/>
              <a:ext cx="378480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b="1" dirty="0">
                  <a:solidFill>
                    <a:srgbClr val="1A472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Supplier Ledger </a:t>
              </a:r>
              <a:r>
                <a:rPr lang="en-US" sz="1100" dirty="0">
                  <a:solidFill>
                    <a:srgbClr val="6B728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Track dues owed to wholesalers</a:t>
              </a:r>
              <a:endParaRPr lang="en-US" sz="1600" dirty="0"/>
            </a:p>
            <a:p>
              <a:pPr marL="0" indent="0">
                <a:buNone/>
              </a:pPr>
              <a:endParaRPr lang="en-US" sz="1450" dirty="0"/>
            </a:p>
          </p:txBody>
        </p:sp>
      </p:grpSp>
      <p:sp>
        <p:nvSpPr>
          <p:cNvPr id="25" name="Text 19"/>
          <p:cNvSpPr/>
          <p:nvPr/>
        </p:nvSpPr>
        <p:spPr>
          <a:xfrm>
            <a:off x="914400" y="5696712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D6D7C88-5F17-C0B5-9333-E8750F7711B0}"/>
              </a:ext>
            </a:extLst>
          </p:cNvPr>
          <p:cNvGrpSpPr/>
          <p:nvPr/>
        </p:nvGrpSpPr>
        <p:grpSpPr>
          <a:xfrm>
            <a:off x="6558154" y="2559178"/>
            <a:ext cx="5178886" cy="630935"/>
            <a:chOff x="7153277" y="3016378"/>
            <a:chExt cx="4879076" cy="630935"/>
          </a:xfrm>
        </p:grpSpPr>
        <p:sp>
          <p:nvSpPr>
            <p:cNvPr id="26" name="Shape 20"/>
            <p:cNvSpPr/>
            <p:nvPr/>
          </p:nvSpPr>
          <p:spPr>
            <a:xfrm>
              <a:off x="7153277" y="3016378"/>
              <a:ext cx="4879076" cy="555796"/>
            </a:xfrm>
            <a:prstGeom prst="roundRect">
              <a:avLst>
                <a:gd name="adj" fmla="val 5854"/>
              </a:avLst>
            </a:prstGeom>
            <a:solidFill>
              <a:srgbClr val="FFFFFF"/>
            </a:solidFill>
            <a:ln w="12700">
              <a:solidFill>
                <a:srgbClr val="F5EAD4"/>
              </a:solidFill>
              <a:prstDash val="solid"/>
            </a:ln>
            <a:effectLst>
              <a:outerShdw blurRad="127000" dist="38100" dir="5400000" algn="bl" rotWithShape="0">
                <a:srgbClr val="1A472A">
                  <a:alpha val="14000"/>
                </a:srgbClr>
              </a:outerShdw>
            </a:effectLst>
          </p:spPr>
        </p:sp>
        <p:pic>
          <p:nvPicPr>
            <p:cNvPr id="28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13963" y="3226712"/>
              <a:ext cx="266273" cy="266273"/>
            </a:xfrm>
            <a:prstGeom prst="rect">
              <a:avLst/>
            </a:prstGeom>
          </p:spPr>
        </p:pic>
        <p:sp>
          <p:nvSpPr>
            <p:cNvPr id="29" name="Text 22"/>
            <p:cNvSpPr/>
            <p:nvPr/>
          </p:nvSpPr>
          <p:spPr>
            <a:xfrm>
              <a:off x="7754059" y="3281553"/>
              <a:ext cx="4152191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b="1" dirty="0">
                  <a:solidFill>
                    <a:srgbClr val="1A472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Smart Reports </a:t>
              </a:r>
              <a:r>
                <a:rPr lang="en-US" sz="1100" dirty="0">
                  <a:solidFill>
                    <a:srgbClr val="6B728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Monthly &amp; yearly analytics with charts</a:t>
              </a:r>
              <a:endParaRPr lang="en-US" sz="1100" dirty="0"/>
            </a:p>
            <a:p>
              <a:pPr marL="0" indent="0">
                <a:buNone/>
              </a:pPr>
              <a:endParaRPr lang="en-US" sz="1450" dirty="0"/>
            </a:p>
          </p:txBody>
        </p:sp>
      </p:grpSp>
      <p:sp>
        <p:nvSpPr>
          <p:cNvPr id="30" name="Text 23"/>
          <p:cNvSpPr/>
          <p:nvPr/>
        </p:nvSpPr>
        <p:spPr>
          <a:xfrm>
            <a:off x="8167208" y="3638169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E2F2B29-66E1-BB2F-75D0-5BA779EC231A}"/>
              </a:ext>
            </a:extLst>
          </p:cNvPr>
          <p:cNvGrpSpPr/>
          <p:nvPr/>
        </p:nvGrpSpPr>
        <p:grpSpPr>
          <a:xfrm>
            <a:off x="6567678" y="3448050"/>
            <a:ext cx="5290185" cy="667512"/>
            <a:chOff x="6643878" y="5297447"/>
            <a:chExt cx="5290185" cy="656440"/>
          </a:xfrm>
        </p:grpSpPr>
        <p:sp>
          <p:nvSpPr>
            <p:cNvPr id="31" name="Shape 24"/>
            <p:cNvSpPr/>
            <p:nvPr/>
          </p:nvSpPr>
          <p:spPr>
            <a:xfrm>
              <a:off x="6643878" y="5297447"/>
              <a:ext cx="5169362" cy="638175"/>
            </a:xfrm>
            <a:prstGeom prst="roundRect">
              <a:avLst>
                <a:gd name="adj" fmla="val 5854"/>
              </a:avLst>
            </a:prstGeom>
            <a:solidFill>
              <a:srgbClr val="FFFFFF"/>
            </a:solidFill>
            <a:ln w="12700">
              <a:solidFill>
                <a:srgbClr val="F5EAD4"/>
              </a:solidFill>
              <a:prstDash val="solid"/>
            </a:ln>
            <a:effectLst>
              <a:outerShdw blurRad="127000" dist="38100" dir="5400000" algn="bl" rotWithShape="0">
                <a:srgbClr val="1A472A">
                  <a:alpha val="14000"/>
                </a:srgbClr>
              </a:outerShdw>
            </a:effectLst>
          </p:spPr>
        </p:sp>
        <p:pic>
          <p:nvPicPr>
            <p:cNvPr id="33" name="Image 5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849450" y="5598414"/>
              <a:ext cx="266273" cy="266273"/>
            </a:xfrm>
            <a:prstGeom prst="rect">
              <a:avLst/>
            </a:prstGeom>
          </p:spPr>
        </p:pic>
        <p:sp>
          <p:nvSpPr>
            <p:cNvPr id="34" name="Text 26"/>
            <p:cNvSpPr/>
            <p:nvPr/>
          </p:nvSpPr>
          <p:spPr>
            <a:xfrm>
              <a:off x="7165467" y="5671589"/>
              <a:ext cx="4768596" cy="282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b="1" dirty="0">
                  <a:solidFill>
                    <a:srgbClr val="1A472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Multi-Branch/ shop support </a:t>
              </a:r>
              <a:r>
                <a:rPr lang="en-US" sz="1100" dirty="0">
                  <a:solidFill>
                    <a:srgbClr val="6B728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One account, many shop 			         locations</a:t>
              </a:r>
              <a:endParaRPr lang="en-US" sz="1100" dirty="0"/>
            </a:p>
            <a:p>
              <a:pPr marL="0" indent="0">
                <a:buNone/>
              </a:pPr>
              <a:endParaRPr lang="en-US" dirty="0"/>
            </a:p>
          </p:txBody>
        </p:sp>
      </p:grpSp>
      <p:sp>
        <p:nvSpPr>
          <p:cNvPr id="35" name="Text 27"/>
          <p:cNvSpPr/>
          <p:nvPr/>
        </p:nvSpPr>
        <p:spPr>
          <a:xfrm>
            <a:off x="8412480" y="5696712"/>
            <a:ext cx="3165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FEC38B8-5ED2-FF95-595C-4C849047763B}"/>
              </a:ext>
            </a:extLst>
          </p:cNvPr>
          <p:cNvGrpSpPr/>
          <p:nvPr/>
        </p:nvGrpSpPr>
        <p:grpSpPr>
          <a:xfrm>
            <a:off x="6558916" y="4449700"/>
            <a:ext cx="5298947" cy="648939"/>
            <a:chOff x="6568441" y="5049775"/>
            <a:chExt cx="5298947" cy="648939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164BF2FC-8AB2-1732-1239-44655425036E}"/>
                </a:ext>
              </a:extLst>
            </p:cNvPr>
            <p:cNvGrpSpPr/>
            <p:nvPr/>
          </p:nvGrpSpPr>
          <p:grpSpPr>
            <a:xfrm>
              <a:off x="6568441" y="5049775"/>
              <a:ext cx="5298947" cy="648939"/>
              <a:chOff x="6643878" y="5297447"/>
              <a:chExt cx="5298947" cy="638175"/>
            </a:xfrm>
          </p:grpSpPr>
          <p:sp>
            <p:nvSpPr>
              <p:cNvPr id="46" name="Shape 24">
                <a:extLst>
                  <a:ext uri="{FF2B5EF4-FFF2-40B4-BE49-F238E27FC236}">
                    <a16:creationId xmlns:a16="http://schemas.microsoft.com/office/drawing/2014/main" id="{E759839D-EBA7-62B3-1BCA-24E3C4034ACE}"/>
                  </a:ext>
                </a:extLst>
              </p:cNvPr>
              <p:cNvSpPr/>
              <p:nvPr/>
            </p:nvSpPr>
            <p:spPr>
              <a:xfrm>
                <a:off x="6643878" y="5297447"/>
                <a:ext cx="5225247" cy="638175"/>
              </a:xfrm>
              <a:prstGeom prst="roundRect">
                <a:avLst>
                  <a:gd name="adj" fmla="val 5854"/>
                </a:avLst>
              </a:prstGeom>
              <a:solidFill>
                <a:srgbClr val="FFFFFF"/>
              </a:solidFill>
              <a:ln w="12700">
                <a:solidFill>
                  <a:srgbClr val="F5EAD4"/>
                </a:solidFill>
                <a:prstDash val="solid"/>
              </a:ln>
              <a:effectLst>
                <a:outerShdw blurRad="127000" dist="38100" dir="5400000" algn="bl" rotWithShape="0">
                  <a:srgbClr val="1A472A">
                    <a:alpha val="14000"/>
                  </a:srgbClr>
                </a:outerShdw>
              </a:effectLst>
            </p:spPr>
          </p:sp>
          <p:sp>
            <p:nvSpPr>
              <p:cNvPr id="48" name="Text 26">
                <a:extLst>
                  <a:ext uri="{FF2B5EF4-FFF2-40B4-BE49-F238E27FC236}">
                    <a16:creationId xmlns:a16="http://schemas.microsoft.com/office/drawing/2014/main" id="{F68DCB7A-6BEE-6206-F4AF-4EB8F2419F75}"/>
                  </a:ext>
                </a:extLst>
              </p:cNvPr>
              <p:cNvSpPr/>
              <p:nvPr/>
            </p:nvSpPr>
            <p:spPr>
              <a:xfrm>
                <a:off x="7174229" y="5534006"/>
                <a:ext cx="4768596" cy="28229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1A472A"/>
                    </a:solidFill>
                    <a:latin typeface="Segoe UI" pitchFamily="34" charset="0"/>
                    <a:ea typeface="Segoe UI" pitchFamily="34" charset="-122"/>
                    <a:cs typeface="Segoe UI" pitchFamily="34" charset="-120"/>
                  </a:rPr>
                  <a:t>PWA Support</a:t>
                </a:r>
                <a:r>
                  <a:rPr lang="en-US" sz="1400" b="1" dirty="0">
                    <a:solidFill>
                      <a:srgbClr val="6B7280"/>
                    </a:solidFill>
                    <a:latin typeface="Segoe UI" pitchFamily="34" charset="0"/>
                    <a:ea typeface="Segoe UI" pitchFamily="34" charset="-122"/>
                    <a:cs typeface="Segoe UI" pitchFamily="34" charset="-120"/>
                  </a:rPr>
                  <a:t> </a:t>
                </a:r>
                <a:r>
                  <a:rPr lang="en-US" sz="1100" dirty="0">
                    <a:solidFill>
                      <a:srgbClr val="6B7280"/>
                    </a:solidFill>
                    <a:latin typeface="Segoe UI" pitchFamily="34" charset="0"/>
                    <a:ea typeface="Segoe UI" pitchFamily="34" charset="-122"/>
                    <a:cs typeface="Segoe UI" pitchFamily="34" charset="-120"/>
                  </a:rPr>
                  <a:t>Instant home-screen access with app-like 		                experience</a:t>
                </a:r>
                <a:endParaRPr lang="en-US" dirty="0"/>
              </a:p>
            </p:txBody>
          </p:sp>
        </p:grpSp>
        <p:pic>
          <p:nvPicPr>
            <p:cNvPr id="38" name="Image 6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720308" y="5244541"/>
              <a:ext cx="332842" cy="332842"/>
            </a:xfrm>
            <a:prstGeom prst="rect">
              <a:avLst/>
            </a:prstGeom>
          </p:spPr>
        </p:pic>
      </p:grpSp>
      <p:sp>
        <p:nvSpPr>
          <p:cNvPr id="39" name="Text 23"/>
          <p:cNvSpPr/>
          <p:nvPr/>
        </p:nvSpPr>
        <p:spPr>
          <a:xfrm>
            <a:off x="6194298" y="3126105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CFE3E01-E4D4-4D3E-A28F-BFF8852AA684}"/>
              </a:ext>
            </a:extLst>
          </p:cNvPr>
          <p:cNvGrpSpPr/>
          <p:nvPr/>
        </p:nvGrpSpPr>
        <p:grpSpPr>
          <a:xfrm>
            <a:off x="190135" y="5077254"/>
            <a:ext cx="5299710" cy="638175"/>
            <a:chOff x="190135" y="5077254"/>
            <a:chExt cx="5299710" cy="638175"/>
          </a:xfrm>
        </p:grpSpPr>
        <p:sp>
          <p:nvSpPr>
            <p:cNvPr id="65" name="Shape 12">
              <a:extLst>
                <a:ext uri="{FF2B5EF4-FFF2-40B4-BE49-F238E27FC236}">
                  <a16:creationId xmlns:a16="http://schemas.microsoft.com/office/drawing/2014/main" id="{1DBA437F-A923-4B96-9C7C-BBFB150E5A8A}"/>
                </a:ext>
              </a:extLst>
            </p:cNvPr>
            <p:cNvSpPr/>
            <p:nvPr/>
          </p:nvSpPr>
          <p:spPr>
            <a:xfrm>
              <a:off x="190135" y="5077254"/>
              <a:ext cx="5299710" cy="638175"/>
            </a:xfrm>
            <a:prstGeom prst="roundRect">
              <a:avLst>
                <a:gd name="adj" fmla="val 5854"/>
              </a:avLst>
            </a:prstGeom>
            <a:solidFill>
              <a:srgbClr val="FFFFFF"/>
            </a:solidFill>
            <a:ln w="12700">
              <a:solidFill>
                <a:srgbClr val="F5EAD4"/>
              </a:solidFill>
              <a:prstDash val="solid"/>
            </a:ln>
            <a:effectLst>
              <a:outerShdw blurRad="127000" dist="38100" dir="5400000" algn="bl" rotWithShape="0">
                <a:srgbClr val="1A472A">
                  <a:alpha val="14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66" name="Image 2" descr="preencoded.png">
              <a:extLst>
                <a:ext uri="{FF2B5EF4-FFF2-40B4-BE49-F238E27FC236}">
                  <a16:creationId xmlns:a16="http://schemas.microsoft.com/office/drawing/2014/main" id="{61E28A73-5A53-4CFA-B9CC-E15ACF4EA5E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1823" y="5228869"/>
              <a:ext cx="266273" cy="266273"/>
            </a:xfrm>
            <a:prstGeom prst="rect">
              <a:avLst/>
            </a:prstGeom>
          </p:spPr>
        </p:pic>
        <p:sp>
          <p:nvSpPr>
            <p:cNvPr id="67" name="Text 14">
              <a:extLst>
                <a:ext uri="{FF2B5EF4-FFF2-40B4-BE49-F238E27FC236}">
                  <a16:creationId xmlns:a16="http://schemas.microsoft.com/office/drawing/2014/main" id="{11589E5C-20A5-4CA2-814D-FC0B1925DB8A}"/>
                </a:ext>
              </a:extLst>
            </p:cNvPr>
            <p:cNvSpPr/>
            <p:nvPr/>
          </p:nvSpPr>
          <p:spPr>
            <a:xfrm>
              <a:off x="669204" y="5405273"/>
              <a:ext cx="4286859" cy="1258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b="1" dirty="0">
                  <a:solidFill>
                    <a:srgbClr val="1A472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Batch Inventory  </a:t>
              </a:r>
              <a:r>
                <a:rPr lang="en-US" sz="1100" dirty="0">
                  <a:solidFill>
                    <a:srgbClr val="6B728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FIFO stock across purchase batches</a:t>
              </a:r>
              <a:endParaRPr lang="en-US" sz="1100" dirty="0"/>
            </a:p>
            <a:p>
              <a:pPr marL="0" indent="0">
                <a:buNone/>
              </a:pPr>
              <a:endParaRPr lang="en-US" sz="1450" dirty="0"/>
            </a:p>
          </p:txBody>
        </p:sp>
      </p:grpSp>
      <p:sp>
        <p:nvSpPr>
          <p:cNvPr id="68" name="Text 1">
            <a:extLst>
              <a:ext uri="{FF2B5EF4-FFF2-40B4-BE49-F238E27FC236}">
                <a16:creationId xmlns:a16="http://schemas.microsoft.com/office/drawing/2014/main" id="{61472962-58A2-4E26-9257-700B6374C16E}"/>
              </a:ext>
            </a:extLst>
          </p:cNvPr>
          <p:cNvSpPr/>
          <p:nvPr/>
        </p:nvSpPr>
        <p:spPr>
          <a:xfrm>
            <a:off x="12468467" y="363474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472A"/>
                </a:solidFill>
                <a:latin typeface="Montserrat" pitchFamily="2" charset="0"/>
                <a:ea typeface="Segoe UI" pitchFamily="34" charset="-122"/>
                <a:cs typeface="Segoe UI" pitchFamily="34" charset="-120"/>
              </a:rPr>
              <a:t>Workflow (User Journey)</a:t>
            </a:r>
            <a:endParaRPr lang="en-US" sz="4000" dirty="0">
              <a:latin typeface="Montserrat" pitchFamily="2" charset="0"/>
            </a:endParaRPr>
          </a:p>
        </p:txBody>
      </p:sp>
      <p:sp>
        <p:nvSpPr>
          <p:cNvPr id="69" name="Shape 2">
            <a:extLst>
              <a:ext uri="{FF2B5EF4-FFF2-40B4-BE49-F238E27FC236}">
                <a16:creationId xmlns:a16="http://schemas.microsoft.com/office/drawing/2014/main" id="{8690A7A3-567E-40EA-AF54-74760C6BA45B}"/>
              </a:ext>
            </a:extLst>
          </p:cNvPr>
          <p:cNvSpPr/>
          <p:nvPr/>
        </p:nvSpPr>
        <p:spPr>
          <a:xfrm>
            <a:off x="12468467" y="1060577"/>
            <a:ext cx="502920" cy="41148"/>
          </a:xfrm>
          <a:prstGeom prst="rect">
            <a:avLst/>
          </a:prstGeom>
          <a:solidFill>
            <a:srgbClr val="E9C46A"/>
          </a:solidFill>
          <a:ln/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30" grpId="0" animBg="1"/>
      <p:bldP spid="3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10000"/>
                <a:lumOff val="90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999971F-388B-4777-B2B6-E9E47B1BFDC5}"/>
              </a:ext>
            </a:extLst>
          </p:cNvPr>
          <p:cNvSpPr/>
          <p:nvPr/>
        </p:nvSpPr>
        <p:spPr>
          <a:xfrm>
            <a:off x="472444" y="2193236"/>
            <a:ext cx="1149926" cy="741218"/>
          </a:xfrm>
          <a:prstGeom prst="roundRect">
            <a:avLst/>
          </a:prstGeom>
          <a:solidFill>
            <a:srgbClr val="FBF4E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User (Shop Owner)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D8D53B-6C46-4301-963B-D63F1E59BE2E}"/>
              </a:ext>
            </a:extLst>
          </p:cNvPr>
          <p:cNvSpPr/>
          <p:nvPr/>
        </p:nvSpPr>
        <p:spPr>
          <a:xfrm>
            <a:off x="472444" y="3396849"/>
            <a:ext cx="1149926" cy="741218"/>
          </a:xfrm>
          <a:prstGeom prst="roundRect">
            <a:avLst/>
          </a:prstGeom>
          <a:solidFill>
            <a:srgbClr val="FBF4E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🔐</a:t>
            </a:r>
          </a:p>
          <a:p>
            <a:pPr algn="ctr"/>
            <a:r>
              <a:rPr lang="en-US" sz="1400" dirty="0" err="1">
                <a:solidFill>
                  <a:schemeClr val="tx1"/>
                </a:solidFill>
              </a:rPr>
              <a:t>LogIn</a:t>
            </a:r>
            <a:r>
              <a:rPr lang="en-US" sz="1400" dirty="0">
                <a:solidFill>
                  <a:schemeClr val="tx1"/>
                </a:solidFill>
              </a:rPr>
              <a:t>/</a:t>
            </a:r>
          </a:p>
          <a:p>
            <a:pPr algn="ctr"/>
            <a:r>
              <a:rPr lang="en-US" sz="1400" dirty="0" err="1">
                <a:solidFill>
                  <a:schemeClr val="tx1"/>
                </a:solidFill>
              </a:rPr>
              <a:t>SignUp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9322E335-CBD1-4B74-A9AC-CB5EE905B76D}"/>
              </a:ext>
            </a:extLst>
          </p:cNvPr>
          <p:cNvSpPr/>
          <p:nvPr/>
        </p:nvSpPr>
        <p:spPr>
          <a:xfrm>
            <a:off x="1885609" y="2934454"/>
            <a:ext cx="1447800" cy="1666008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FDEAE3-5E30-4D19-A790-A12816859F8D}"/>
              </a:ext>
            </a:extLst>
          </p:cNvPr>
          <p:cNvSpPr txBox="1"/>
          <p:nvPr/>
        </p:nvSpPr>
        <p:spPr>
          <a:xfrm>
            <a:off x="1885609" y="3614847"/>
            <a:ext cx="144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C00000"/>
                </a:solidFill>
              </a:rPr>
              <a:t>Authenticated</a:t>
            </a:r>
          </a:p>
          <a:p>
            <a:pPr algn="ctr"/>
            <a:r>
              <a:rPr lang="en-US" sz="1400" dirty="0">
                <a:solidFill>
                  <a:srgbClr val="C00000"/>
                </a:solidFill>
              </a:rPr>
              <a:t>?</a:t>
            </a:r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4147D189-554F-46B8-B935-727877AFA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653" y="2249534"/>
            <a:ext cx="223971" cy="223971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9037617-F79C-4848-88BD-90422340C217}"/>
              </a:ext>
            </a:extLst>
          </p:cNvPr>
          <p:cNvSpPr/>
          <p:nvPr/>
        </p:nvSpPr>
        <p:spPr>
          <a:xfrm>
            <a:off x="3596648" y="3396849"/>
            <a:ext cx="1149926" cy="741218"/>
          </a:xfrm>
          <a:prstGeom prst="roundRect">
            <a:avLst/>
          </a:prstGeom>
          <a:solidFill>
            <a:srgbClr val="FBF4E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Dashboard</a:t>
            </a:r>
          </a:p>
        </p:txBody>
      </p:sp>
      <p:pic>
        <p:nvPicPr>
          <p:cNvPr id="15" name="Image 6" descr="preencoded.png">
            <a:extLst>
              <a:ext uri="{FF2B5EF4-FFF2-40B4-BE49-F238E27FC236}">
                <a16:creationId xmlns:a16="http://schemas.microsoft.com/office/drawing/2014/main" id="{E675E11E-3529-41F2-A08B-E87FB2AAA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797" y="3506033"/>
            <a:ext cx="217627" cy="217627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28BB622-9CA7-4BAC-9139-09A4B68486B1}"/>
              </a:ext>
            </a:extLst>
          </p:cNvPr>
          <p:cNvSpPr/>
          <p:nvPr/>
        </p:nvSpPr>
        <p:spPr>
          <a:xfrm>
            <a:off x="6996990" y="1098657"/>
            <a:ext cx="1149926" cy="74121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Customers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7F0DC7C-B775-46C4-B7BD-A125907B1A9A}"/>
              </a:ext>
            </a:extLst>
          </p:cNvPr>
          <p:cNvSpPr/>
          <p:nvPr/>
        </p:nvSpPr>
        <p:spPr>
          <a:xfrm>
            <a:off x="6996990" y="4412443"/>
            <a:ext cx="1149926" cy="74121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Suppliers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07AE572-ACB6-40B0-A24F-1B1D66783BBA}"/>
              </a:ext>
            </a:extLst>
          </p:cNvPr>
          <p:cNvSpPr/>
          <p:nvPr/>
        </p:nvSpPr>
        <p:spPr>
          <a:xfrm>
            <a:off x="6996988" y="5572612"/>
            <a:ext cx="1149926" cy="74121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Expense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60CAFCE-82DF-4E00-8B54-E8EAEE960B80}"/>
              </a:ext>
            </a:extLst>
          </p:cNvPr>
          <p:cNvSpPr/>
          <p:nvPr/>
        </p:nvSpPr>
        <p:spPr>
          <a:xfrm>
            <a:off x="6996988" y="2269089"/>
            <a:ext cx="1149926" cy="74121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Transactions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71DEEC2-79BA-4D8A-8FC5-FFCA3D84F2B4}"/>
              </a:ext>
            </a:extLst>
          </p:cNvPr>
          <p:cNvSpPr/>
          <p:nvPr/>
        </p:nvSpPr>
        <p:spPr>
          <a:xfrm>
            <a:off x="6996990" y="3373196"/>
            <a:ext cx="1149926" cy="74121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Inventory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EFE32CA-1BC7-431E-AC97-ECC05F9C5A75}"/>
              </a:ext>
            </a:extLst>
          </p:cNvPr>
          <p:cNvSpPr/>
          <p:nvPr/>
        </p:nvSpPr>
        <p:spPr>
          <a:xfrm>
            <a:off x="8944052" y="3396849"/>
            <a:ext cx="1149926" cy="741218"/>
          </a:xfrm>
          <a:prstGeom prst="roundRect">
            <a:avLst/>
          </a:prstGeom>
          <a:solidFill>
            <a:srgbClr val="FDF6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Reports &amp;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analytics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DFFAF1B-A138-411A-80D6-F123DD88B377}"/>
              </a:ext>
            </a:extLst>
          </p:cNvPr>
          <p:cNvSpPr/>
          <p:nvPr/>
        </p:nvSpPr>
        <p:spPr>
          <a:xfrm>
            <a:off x="10753826" y="3111904"/>
            <a:ext cx="1149926" cy="140213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DF6E3"/>
                </a:solidFill>
              </a:rPr>
              <a:t>🎯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Make Smart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BUSINESS 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DECISIONS </a:t>
            </a:r>
            <a:br>
              <a:rPr lang="en-US" sz="1400" dirty="0">
                <a:solidFill>
                  <a:schemeClr val="tx1"/>
                </a:solidFill>
              </a:rPr>
            </a:b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72C4ABB-CFE3-4A9F-AB9C-7B786789CD7C}"/>
              </a:ext>
            </a:extLst>
          </p:cNvPr>
          <p:cNvSpPr/>
          <p:nvPr/>
        </p:nvSpPr>
        <p:spPr>
          <a:xfrm>
            <a:off x="5215433" y="3396849"/>
            <a:ext cx="1149926" cy="741218"/>
          </a:xfrm>
          <a:prstGeom prst="roundRect">
            <a:avLst/>
          </a:prstGeom>
          <a:solidFill>
            <a:srgbClr val="FBF4E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Choose Shop </a:t>
            </a:r>
          </a:p>
        </p:txBody>
      </p:sp>
      <p:pic>
        <p:nvPicPr>
          <p:cNvPr id="25" name="Image 5" descr="preencoded.png">
            <a:extLst>
              <a:ext uri="{FF2B5EF4-FFF2-40B4-BE49-F238E27FC236}">
                <a16:creationId xmlns:a16="http://schemas.microsoft.com/office/drawing/2014/main" id="{503E0EC8-80F0-44A4-9414-D83167FDF4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8539" y="3429000"/>
            <a:ext cx="266273" cy="266273"/>
          </a:xfrm>
          <a:prstGeom prst="rect">
            <a:avLst/>
          </a:prstGeom>
        </p:spPr>
      </p:pic>
      <p:pic>
        <p:nvPicPr>
          <p:cNvPr id="26" name="Image 2" descr="preencoded.png">
            <a:extLst>
              <a:ext uri="{FF2B5EF4-FFF2-40B4-BE49-F238E27FC236}">
                <a16:creationId xmlns:a16="http://schemas.microsoft.com/office/drawing/2014/main" id="{117DBE27-2ACF-490D-A9AC-820496620E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306" y="1183973"/>
            <a:ext cx="285293" cy="285293"/>
          </a:xfrm>
          <a:prstGeom prst="rect">
            <a:avLst/>
          </a:prstGeom>
        </p:spPr>
      </p:pic>
      <p:pic>
        <p:nvPicPr>
          <p:cNvPr id="27" name="Image 3" descr="preencoded.png">
            <a:extLst>
              <a:ext uri="{FF2B5EF4-FFF2-40B4-BE49-F238E27FC236}">
                <a16:creationId xmlns:a16="http://schemas.microsoft.com/office/drawing/2014/main" id="{42788D77-F68A-414F-99BC-04F4095A2C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306" y="2330858"/>
            <a:ext cx="285293" cy="285293"/>
          </a:xfrm>
          <a:prstGeom prst="rect">
            <a:avLst/>
          </a:prstGeom>
        </p:spPr>
      </p:pic>
      <p:pic>
        <p:nvPicPr>
          <p:cNvPr id="28" name="Image 4" descr="preencoded.png">
            <a:extLst>
              <a:ext uri="{FF2B5EF4-FFF2-40B4-BE49-F238E27FC236}">
                <a16:creationId xmlns:a16="http://schemas.microsoft.com/office/drawing/2014/main" id="{C831720D-E599-4EC5-9D57-BD7F1D5D73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9305" y="3506033"/>
            <a:ext cx="285293" cy="285293"/>
          </a:xfrm>
          <a:prstGeom prst="rect">
            <a:avLst/>
          </a:prstGeom>
        </p:spPr>
      </p:pic>
      <p:pic>
        <p:nvPicPr>
          <p:cNvPr id="29" name="Image 5" descr="preencoded.png">
            <a:extLst>
              <a:ext uri="{FF2B5EF4-FFF2-40B4-BE49-F238E27FC236}">
                <a16:creationId xmlns:a16="http://schemas.microsoft.com/office/drawing/2014/main" id="{49283D8F-5A91-4546-9251-8AF3C83D1904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429305" y="4497759"/>
            <a:ext cx="285293" cy="285293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30" name="Image 6" descr="preencoded.png">
            <a:extLst>
              <a:ext uri="{FF2B5EF4-FFF2-40B4-BE49-F238E27FC236}">
                <a16:creationId xmlns:a16="http://schemas.microsoft.com/office/drawing/2014/main" id="{130C6E16-1F0A-4DC0-9CAE-93E1A02162E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9305" y="5616696"/>
            <a:ext cx="285293" cy="285293"/>
          </a:xfrm>
          <a:prstGeom prst="rect">
            <a:avLst/>
          </a:prstGeom>
        </p:spPr>
      </p:pic>
      <p:pic>
        <p:nvPicPr>
          <p:cNvPr id="31" name="Image 9" descr="preencoded.png">
            <a:extLst>
              <a:ext uri="{FF2B5EF4-FFF2-40B4-BE49-F238E27FC236}">
                <a16:creationId xmlns:a16="http://schemas.microsoft.com/office/drawing/2014/main" id="{05CC5F70-BE3C-4C62-9E26-846333EAA69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23917" y="3467038"/>
            <a:ext cx="190195" cy="190195"/>
          </a:xfrm>
          <a:prstGeom prst="rect">
            <a:avLst/>
          </a:prstGeom>
        </p:spPr>
      </p:pic>
      <p:sp>
        <p:nvSpPr>
          <p:cNvPr id="35" name="Left Bracket 34">
            <a:extLst>
              <a:ext uri="{FF2B5EF4-FFF2-40B4-BE49-F238E27FC236}">
                <a16:creationId xmlns:a16="http://schemas.microsoft.com/office/drawing/2014/main" id="{A09338DA-1923-4761-9CD3-FFFAE3E3B047}"/>
              </a:ext>
            </a:extLst>
          </p:cNvPr>
          <p:cNvSpPr/>
          <p:nvPr/>
        </p:nvSpPr>
        <p:spPr>
          <a:xfrm>
            <a:off x="6711948" y="1389888"/>
            <a:ext cx="285039" cy="4615891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Left Bracket 35">
            <a:extLst>
              <a:ext uri="{FF2B5EF4-FFF2-40B4-BE49-F238E27FC236}">
                <a16:creationId xmlns:a16="http://schemas.microsoft.com/office/drawing/2014/main" id="{33177071-C428-40D9-BBFC-01C8F2721043}"/>
              </a:ext>
            </a:extLst>
          </p:cNvPr>
          <p:cNvSpPr/>
          <p:nvPr/>
        </p:nvSpPr>
        <p:spPr>
          <a:xfrm rot="10800000">
            <a:off x="8166457" y="1425246"/>
            <a:ext cx="285039" cy="4615891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6C7FD5D-D050-456E-B878-A85FBDC09870}"/>
              </a:ext>
            </a:extLst>
          </p:cNvPr>
          <p:cNvCxnSpPr>
            <a:cxnSpLocks/>
          </p:cNvCxnSpPr>
          <p:nvPr/>
        </p:nvCxnSpPr>
        <p:spPr>
          <a:xfrm>
            <a:off x="6711948" y="2765146"/>
            <a:ext cx="3105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E278DC0-DDA1-48AE-957D-A4E4DD962C39}"/>
              </a:ext>
            </a:extLst>
          </p:cNvPr>
          <p:cNvCxnSpPr>
            <a:cxnSpLocks/>
          </p:cNvCxnSpPr>
          <p:nvPr/>
        </p:nvCxnSpPr>
        <p:spPr>
          <a:xfrm>
            <a:off x="6725359" y="3722221"/>
            <a:ext cx="3105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6609C7E-4208-435D-94A7-C9073C60864C}"/>
              </a:ext>
            </a:extLst>
          </p:cNvPr>
          <p:cNvCxnSpPr>
            <a:cxnSpLocks/>
          </p:cNvCxnSpPr>
          <p:nvPr/>
        </p:nvCxnSpPr>
        <p:spPr>
          <a:xfrm>
            <a:off x="6716826" y="4789023"/>
            <a:ext cx="3105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17CCF09-1ACA-4E29-9BB1-A77C772ED36E}"/>
              </a:ext>
            </a:extLst>
          </p:cNvPr>
          <p:cNvCxnSpPr>
            <a:cxnSpLocks/>
          </p:cNvCxnSpPr>
          <p:nvPr/>
        </p:nvCxnSpPr>
        <p:spPr>
          <a:xfrm>
            <a:off x="8146916" y="2765146"/>
            <a:ext cx="3105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EA33CCD-00C0-422B-B500-F964D7AAD960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8160328" y="3751479"/>
            <a:ext cx="783724" cy="159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547ECDB-2E52-47E6-8C7C-D1159A59A11B}"/>
              </a:ext>
            </a:extLst>
          </p:cNvPr>
          <p:cNvCxnSpPr>
            <a:cxnSpLocks/>
          </p:cNvCxnSpPr>
          <p:nvPr/>
        </p:nvCxnSpPr>
        <p:spPr>
          <a:xfrm>
            <a:off x="8151798" y="4796336"/>
            <a:ext cx="3105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0B47873-87AC-4D30-A542-1C595906EAFC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6365359" y="3727098"/>
            <a:ext cx="364778" cy="403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159AFEF-1B3B-4F5F-AFD9-0BA9FCC88DF2}"/>
              </a:ext>
            </a:extLst>
          </p:cNvPr>
          <p:cNvCxnSpPr>
            <a:cxnSpLocks/>
          </p:cNvCxnSpPr>
          <p:nvPr/>
        </p:nvCxnSpPr>
        <p:spPr>
          <a:xfrm>
            <a:off x="10093978" y="3791326"/>
            <a:ext cx="659848" cy="40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826490D-80EF-4CE8-B983-0B5E76D135F9}"/>
              </a:ext>
            </a:extLst>
          </p:cNvPr>
          <p:cNvCxnSpPr>
            <a:stCxn id="14" idx="3"/>
            <a:endCxn id="24" idx="1"/>
          </p:cNvCxnSpPr>
          <p:nvPr/>
        </p:nvCxnSpPr>
        <p:spPr>
          <a:xfrm>
            <a:off x="4746574" y="3767458"/>
            <a:ext cx="4688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84E9ADA-595B-4C65-8995-BAE0C2BFAABD}"/>
              </a:ext>
            </a:extLst>
          </p:cNvPr>
          <p:cNvCxnSpPr>
            <a:cxnSpLocks/>
          </p:cNvCxnSpPr>
          <p:nvPr/>
        </p:nvCxnSpPr>
        <p:spPr>
          <a:xfrm>
            <a:off x="3294384" y="3747417"/>
            <a:ext cx="3105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2EB847DF-777D-4391-B755-99E86CEB6BD8}"/>
              </a:ext>
            </a:extLst>
          </p:cNvPr>
          <p:cNvSpPr txBox="1"/>
          <p:nvPr/>
        </p:nvSpPr>
        <p:spPr>
          <a:xfrm>
            <a:off x="3202692" y="3396849"/>
            <a:ext cx="7488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Yes</a:t>
            </a:r>
          </a:p>
        </p:txBody>
      </p: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A90858AA-92F6-4A11-B331-98FE49F66641}"/>
              </a:ext>
            </a:extLst>
          </p:cNvPr>
          <p:cNvCxnSpPr>
            <a:cxnSpLocks/>
            <a:stCxn id="10" idx="2"/>
            <a:endCxn id="9" idx="2"/>
          </p:cNvCxnSpPr>
          <p:nvPr/>
        </p:nvCxnSpPr>
        <p:spPr>
          <a:xfrm rot="5400000" flipH="1">
            <a:off x="1597260" y="3588214"/>
            <a:ext cx="462395" cy="1562102"/>
          </a:xfrm>
          <a:prstGeom prst="bentConnector3">
            <a:avLst>
              <a:gd name="adj1" fmla="val -4943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FD7F3204-CAFF-4D39-AF5A-E6573CB7923E}"/>
              </a:ext>
            </a:extLst>
          </p:cNvPr>
          <p:cNvSpPr txBox="1"/>
          <p:nvPr/>
        </p:nvSpPr>
        <p:spPr>
          <a:xfrm>
            <a:off x="1615454" y="4497759"/>
            <a:ext cx="501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DBFF1E1-8601-4E33-90FC-B8ED4B28ABDF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47407" y="2934454"/>
            <a:ext cx="0" cy="462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 1">
            <a:extLst>
              <a:ext uri="{FF2B5EF4-FFF2-40B4-BE49-F238E27FC236}">
                <a16:creationId xmlns:a16="http://schemas.microsoft.com/office/drawing/2014/main" id="{11F68A32-1FCE-44E8-8BE2-71DBEA90F48D}"/>
              </a:ext>
            </a:extLst>
          </p:cNvPr>
          <p:cNvSpPr/>
          <p:nvPr/>
        </p:nvSpPr>
        <p:spPr>
          <a:xfrm>
            <a:off x="696468" y="363474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472A"/>
                </a:solidFill>
                <a:latin typeface="Montserrat" pitchFamily="2" charset="0"/>
                <a:ea typeface="Segoe UI" pitchFamily="34" charset="-122"/>
                <a:cs typeface="Segoe UI" pitchFamily="34" charset="-120"/>
              </a:rPr>
              <a:t>Workflow (User Journey)</a:t>
            </a:r>
            <a:endParaRPr lang="en-US" sz="4000" dirty="0">
              <a:latin typeface="Montserrat" pitchFamily="2" charset="0"/>
            </a:endParaRPr>
          </a:p>
        </p:txBody>
      </p:sp>
      <p:sp>
        <p:nvSpPr>
          <p:cNvPr id="79" name="Shape 2">
            <a:extLst>
              <a:ext uri="{FF2B5EF4-FFF2-40B4-BE49-F238E27FC236}">
                <a16:creationId xmlns:a16="http://schemas.microsoft.com/office/drawing/2014/main" id="{79E3B632-0C62-42F1-B11B-1D56F2B94CA8}"/>
              </a:ext>
            </a:extLst>
          </p:cNvPr>
          <p:cNvSpPr/>
          <p:nvPr/>
        </p:nvSpPr>
        <p:spPr>
          <a:xfrm>
            <a:off x="696468" y="1060577"/>
            <a:ext cx="502920" cy="4114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84" name="Shape 2">
            <a:extLst>
              <a:ext uri="{FF2B5EF4-FFF2-40B4-BE49-F238E27FC236}">
                <a16:creationId xmlns:a16="http://schemas.microsoft.com/office/drawing/2014/main" id="{1F2FAFA9-C16B-4659-ACAA-E9E7208BD82B}"/>
              </a:ext>
            </a:extLst>
          </p:cNvPr>
          <p:cNvSpPr/>
          <p:nvPr/>
        </p:nvSpPr>
        <p:spPr>
          <a:xfrm>
            <a:off x="12754639" y="946186"/>
            <a:ext cx="502920" cy="4114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85" name="Text 1">
            <a:extLst>
              <a:ext uri="{FF2B5EF4-FFF2-40B4-BE49-F238E27FC236}">
                <a16:creationId xmlns:a16="http://schemas.microsoft.com/office/drawing/2014/main" id="{C76DB756-3A70-429B-8ACC-9F261FD29DBC}"/>
              </a:ext>
            </a:extLst>
          </p:cNvPr>
          <p:cNvSpPr/>
          <p:nvPr/>
        </p:nvSpPr>
        <p:spPr>
          <a:xfrm>
            <a:off x="12754639" y="26751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472A"/>
                </a:solidFill>
                <a:latin typeface="Segoe UI" pitchFamily="34" charset="0"/>
                <a:cs typeface="Segoe UI" pitchFamily="34" charset="-120"/>
              </a:rPr>
              <a:t>UI at a glance</a:t>
            </a:r>
            <a:endParaRPr lang="en-US" sz="4000" dirty="0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212FA817-9F0B-4D80-8212-1A680ED13712}"/>
              </a:ext>
            </a:extLst>
          </p:cNvPr>
          <p:cNvGrpSpPr/>
          <p:nvPr/>
        </p:nvGrpSpPr>
        <p:grpSpPr>
          <a:xfrm>
            <a:off x="640080" y="7766877"/>
            <a:ext cx="6263640" cy="4480560"/>
            <a:chOff x="640080" y="1691640"/>
            <a:chExt cx="6263640" cy="4480560"/>
          </a:xfrm>
        </p:grpSpPr>
        <p:sp>
          <p:nvSpPr>
            <p:cNvPr id="87" name="Shape 3">
              <a:extLst>
                <a:ext uri="{FF2B5EF4-FFF2-40B4-BE49-F238E27FC236}">
                  <a16:creationId xmlns:a16="http://schemas.microsoft.com/office/drawing/2014/main" id="{25848342-D86D-4063-9D35-AA94CBFAB3AC}"/>
                </a:ext>
              </a:extLst>
            </p:cNvPr>
            <p:cNvSpPr/>
            <p:nvPr/>
          </p:nvSpPr>
          <p:spPr>
            <a:xfrm>
              <a:off x="640080" y="1691640"/>
              <a:ext cx="6263640" cy="4480560"/>
            </a:xfrm>
            <a:prstGeom prst="roundRect">
              <a:avLst>
                <a:gd name="adj" fmla="val 2041"/>
              </a:avLst>
            </a:prstGeom>
            <a:solidFill>
              <a:srgbClr val="FFFFFF"/>
            </a:solidFill>
            <a:ln w="12700">
              <a:solidFill>
                <a:srgbClr val="F5EAD4"/>
              </a:solidFill>
              <a:prstDash val="solid"/>
            </a:ln>
            <a:effectLst>
              <a:outerShdw blurRad="127000" dist="38100" dir="5400000" algn="bl" rotWithShape="0">
                <a:srgbClr val="1A472A">
                  <a:alpha val="14000"/>
                </a:srgbClr>
              </a:outerShdw>
            </a:effectLst>
          </p:spPr>
        </p:sp>
        <p:sp>
          <p:nvSpPr>
            <p:cNvPr id="88" name="Shape 4">
              <a:extLst>
                <a:ext uri="{FF2B5EF4-FFF2-40B4-BE49-F238E27FC236}">
                  <a16:creationId xmlns:a16="http://schemas.microsoft.com/office/drawing/2014/main" id="{B0608868-3430-4DEE-B60C-B591F37CB784}"/>
                </a:ext>
              </a:extLst>
            </p:cNvPr>
            <p:cNvSpPr/>
            <p:nvPr/>
          </p:nvSpPr>
          <p:spPr>
            <a:xfrm>
              <a:off x="640080" y="1691640"/>
              <a:ext cx="6263640" cy="292608"/>
            </a:xfrm>
            <a:prstGeom prst="roundRect">
              <a:avLst>
                <a:gd name="adj" fmla="val 31250"/>
              </a:avLst>
            </a:prstGeom>
            <a:solidFill>
              <a:srgbClr val="F5EAD4"/>
            </a:solidFill>
            <a:ln/>
          </p:spPr>
        </p:sp>
        <p:sp>
          <p:nvSpPr>
            <p:cNvPr id="89" name="Shape 5">
              <a:extLst>
                <a:ext uri="{FF2B5EF4-FFF2-40B4-BE49-F238E27FC236}">
                  <a16:creationId xmlns:a16="http://schemas.microsoft.com/office/drawing/2014/main" id="{1DE53D87-5909-46DA-9419-91FE18CB5C92}"/>
                </a:ext>
              </a:extLst>
            </p:cNvPr>
            <p:cNvSpPr/>
            <p:nvPr/>
          </p:nvSpPr>
          <p:spPr>
            <a:xfrm>
              <a:off x="640080" y="1837944"/>
              <a:ext cx="6263640" cy="146304"/>
            </a:xfrm>
            <a:prstGeom prst="rect">
              <a:avLst/>
            </a:prstGeom>
            <a:solidFill>
              <a:srgbClr val="F5EAD4"/>
            </a:solidFill>
            <a:ln/>
          </p:spPr>
        </p:sp>
        <p:sp>
          <p:nvSpPr>
            <p:cNvPr id="90" name="Shape 6">
              <a:extLst>
                <a:ext uri="{FF2B5EF4-FFF2-40B4-BE49-F238E27FC236}">
                  <a16:creationId xmlns:a16="http://schemas.microsoft.com/office/drawing/2014/main" id="{D9768914-0949-4A92-9803-BA4DFE53AFCB}"/>
                </a:ext>
              </a:extLst>
            </p:cNvPr>
            <p:cNvSpPr/>
            <p:nvPr/>
          </p:nvSpPr>
          <p:spPr>
            <a:xfrm>
              <a:off x="768096" y="1783080"/>
              <a:ext cx="91440" cy="91440"/>
            </a:xfrm>
            <a:prstGeom prst="ellipse">
              <a:avLst/>
            </a:prstGeom>
            <a:solidFill>
              <a:srgbClr val="E9C46A"/>
            </a:solidFill>
            <a:ln/>
          </p:spPr>
        </p:sp>
        <p:sp>
          <p:nvSpPr>
            <p:cNvPr id="91" name="Shape 7">
              <a:extLst>
                <a:ext uri="{FF2B5EF4-FFF2-40B4-BE49-F238E27FC236}">
                  <a16:creationId xmlns:a16="http://schemas.microsoft.com/office/drawing/2014/main" id="{BABCAE0B-7F93-4C4B-B40F-C8F21E469019}"/>
                </a:ext>
              </a:extLst>
            </p:cNvPr>
            <p:cNvSpPr/>
            <p:nvPr/>
          </p:nvSpPr>
          <p:spPr>
            <a:xfrm>
              <a:off x="950976" y="1783080"/>
              <a:ext cx="91440" cy="91440"/>
            </a:xfrm>
            <a:prstGeom prst="ellipse">
              <a:avLst/>
            </a:prstGeom>
            <a:solidFill>
              <a:srgbClr val="40916C"/>
            </a:solidFill>
            <a:ln/>
          </p:spPr>
        </p:sp>
        <p:sp>
          <p:nvSpPr>
            <p:cNvPr id="92" name="Shape 8">
              <a:extLst>
                <a:ext uri="{FF2B5EF4-FFF2-40B4-BE49-F238E27FC236}">
                  <a16:creationId xmlns:a16="http://schemas.microsoft.com/office/drawing/2014/main" id="{8FE04516-0C3C-4465-AAF3-1F04E5EAD2DA}"/>
                </a:ext>
              </a:extLst>
            </p:cNvPr>
            <p:cNvSpPr/>
            <p:nvPr/>
          </p:nvSpPr>
          <p:spPr>
            <a:xfrm>
              <a:off x="1133856" y="1783080"/>
              <a:ext cx="91440" cy="91440"/>
            </a:xfrm>
            <a:prstGeom prst="ellipse">
              <a:avLst/>
            </a:prstGeom>
            <a:solidFill>
              <a:srgbClr val="2D6A4F"/>
            </a:solidFill>
            <a:ln/>
          </p:spPr>
        </p:sp>
        <p:sp>
          <p:nvSpPr>
            <p:cNvPr id="93" name="Shape 9">
              <a:extLst>
                <a:ext uri="{FF2B5EF4-FFF2-40B4-BE49-F238E27FC236}">
                  <a16:creationId xmlns:a16="http://schemas.microsoft.com/office/drawing/2014/main" id="{71B6E7BD-7DB4-4F9E-8606-0FBB1B083C34}"/>
                </a:ext>
              </a:extLst>
            </p:cNvPr>
            <p:cNvSpPr/>
            <p:nvPr/>
          </p:nvSpPr>
          <p:spPr>
            <a:xfrm>
              <a:off x="841248" y="2148840"/>
              <a:ext cx="5861304" cy="3822192"/>
            </a:xfrm>
            <a:prstGeom prst="roundRect">
              <a:avLst>
                <a:gd name="adj" fmla="val 1675"/>
              </a:avLst>
            </a:prstGeom>
            <a:solidFill>
              <a:srgbClr val="FDF6E3"/>
            </a:solidFill>
            <a:ln w="19050">
              <a:solidFill>
                <a:srgbClr val="40916C"/>
              </a:solidFill>
              <a:prstDash val="dash"/>
            </a:ln>
          </p:spPr>
        </p:sp>
        <p:sp>
          <p:nvSpPr>
            <p:cNvPr id="94" name="Text 11">
              <a:extLst>
                <a:ext uri="{FF2B5EF4-FFF2-40B4-BE49-F238E27FC236}">
                  <a16:creationId xmlns:a16="http://schemas.microsoft.com/office/drawing/2014/main" id="{27573E66-A7AB-495E-90BA-4C633B4AE5E3}"/>
                </a:ext>
              </a:extLst>
            </p:cNvPr>
            <p:cNvSpPr/>
            <p:nvPr/>
          </p:nvSpPr>
          <p:spPr>
            <a:xfrm>
              <a:off x="841248" y="4105656"/>
              <a:ext cx="586130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200" dirty="0"/>
            </a:p>
          </p:txBody>
        </p:sp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B48681D7-30C4-4FAF-8998-236BF7E741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080" y="1984248"/>
              <a:ext cx="6263640" cy="4187952"/>
            </a:xfrm>
            <a:prstGeom prst="rect">
              <a:avLst/>
            </a:prstGeom>
          </p:spPr>
        </p:pic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243D067-0F09-0F48-EA20-7000D02F3BDA}"/>
              </a:ext>
            </a:extLst>
          </p:cNvPr>
          <p:cNvCxnSpPr>
            <a:cxnSpLocks/>
          </p:cNvCxnSpPr>
          <p:nvPr/>
        </p:nvCxnSpPr>
        <p:spPr>
          <a:xfrm flipV="1">
            <a:off x="1622370" y="3766467"/>
            <a:ext cx="263239" cy="200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9365907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10000"/>
                <a:lumOff val="90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4259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3010747" y="1086673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4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89788" y="946186"/>
            <a:ext cx="502920" cy="4114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5" name="Text 12"/>
          <p:cNvSpPr/>
          <p:nvPr/>
        </p:nvSpPr>
        <p:spPr>
          <a:xfrm>
            <a:off x="658368" y="6307098"/>
            <a:ext cx="5861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2E7C66A-E765-4B16-A973-3308180EEE8E}"/>
              </a:ext>
            </a:extLst>
          </p:cNvPr>
          <p:cNvGrpSpPr/>
          <p:nvPr/>
        </p:nvGrpSpPr>
        <p:grpSpPr>
          <a:xfrm>
            <a:off x="7670611" y="1702923"/>
            <a:ext cx="4187647" cy="4480560"/>
            <a:chOff x="7670611" y="1702923"/>
            <a:chExt cx="4187647" cy="4480560"/>
          </a:xfrm>
        </p:grpSpPr>
        <p:sp>
          <p:nvSpPr>
            <p:cNvPr id="16" name="Shape 13"/>
            <p:cNvSpPr/>
            <p:nvPr/>
          </p:nvSpPr>
          <p:spPr>
            <a:xfrm>
              <a:off x="7670611" y="1702923"/>
              <a:ext cx="4187647" cy="4480560"/>
            </a:xfrm>
            <a:prstGeom prst="roundRect">
              <a:avLst>
                <a:gd name="adj" fmla="val 2510"/>
              </a:avLst>
            </a:prstGeom>
            <a:solidFill>
              <a:schemeClr val="bg1">
                <a:alpha val="50000"/>
              </a:schemeClr>
            </a:solidFill>
            <a:ln w="12700">
              <a:solidFill>
                <a:srgbClr val="F5EAD4"/>
              </a:solidFill>
              <a:prstDash val="solid"/>
            </a:ln>
            <a:effectLst>
              <a:outerShdw blurRad="127000" dist="38100" dir="5400000" algn="bl" rotWithShape="0">
                <a:srgbClr val="1A472A">
                  <a:alpha val="14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18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46519" y="2086295"/>
              <a:ext cx="161666" cy="161666"/>
            </a:xfrm>
            <a:prstGeom prst="rect">
              <a:avLst/>
            </a:prstGeom>
          </p:spPr>
        </p:pic>
        <p:sp>
          <p:nvSpPr>
            <p:cNvPr id="19" name="Text 15"/>
            <p:cNvSpPr/>
            <p:nvPr/>
          </p:nvSpPr>
          <p:spPr>
            <a:xfrm>
              <a:off x="8447392" y="1965960"/>
              <a:ext cx="3364992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300" dirty="0">
                  <a:solidFill>
                    <a:srgbClr val="1A1A2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Live totals: receivable, collected &amp; overdue amounts</a:t>
              </a:r>
              <a:endParaRPr lang="en-US" sz="1300" dirty="0"/>
            </a:p>
          </p:txBody>
        </p:sp>
        <p:pic>
          <p:nvPicPr>
            <p:cNvPr id="21" name="Image 2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46519" y="2927543"/>
              <a:ext cx="161666" cy="161666"/>
            </a:xfrm>
            <a:prstGeom prst="rect">
              <a:avLst/>
            </a:prstGeom>
          </p:spPr>
        </p:pic>
        <p:sp>
          <p:nvSpPr>
            <p:cNvPr id="22" name="Text 17"/>
            <p:cNvSpPr/>
            <p:nvPr/>
          </p:nvSpPr>
          <p:spPr>
            <a:xfrm>
              <a:off x="8447392" y="2807208"/>
              <a:ext cx="3364992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300" dirty="0">
                  <a:solidFill>
                    <a:srgbClr val="1A1A2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Recent transactions feed, updated in real time</a:t>
              </a:r>
              <a:endParaRPr lang="en-US" sz="1300" dirty="0"/>
            </a:p>
          </p:txBody>
        </p:sp>
        <p:pic>
          <p:nvPicPr>
            <p:cNvPr id="24" name="Image 3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46519" y="3768791"/>
              <a:ext cx="161666" cy="161666"/>
            </a:xfrm>
            <a:prstGeom prst="rect">
              <a:avLst/>
            </a:prstGeom>
          </p:spPr>
        </p:pic>
        <p:sp>
          <p:nvSpPr>
            <p:cNvPr id="25" name="Text 19"/>
            <p:cNvSpPr/>
            <p:nvPr/>
          </p:nvSpPr>
          <p:spPr>
            <a:xfrm>
              <a:off x="8447392" y="3648456"/>
              <a:ext cx="3364992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300" dirty="0">
                  <a:solidFill>
                    <a:srgbClr val="1A1A2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Ranked list of highest-due customers</a:t>
              </a:r>
              <a:endParaRPr lang="en-US" sz="1300" dirty="0"/>
            </a:p>
          </p:txBody>
        </p:sp>
        <p:pic>
          <p:nvPicPr>
            <p:cNvPr id="27" name="Image 4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46519" y="4610039"/>
              <a:ext cx="161666" cy="161666"/>
            </a:xfrm>
            <a:prstGeom prst="rect">
              <a:avLst/>
            </a:prstGeom>
          </p:spPr>
        </p:pic>
        <p:sp>
          <p:nvSpPr>
            <p:cNvPr id="28" name="Text 21"/>
            <p:cNvSpPr/>
            <p:nvPr/>
          </p:nvSpPr>
          <p:spPr>
            <a:xfrm>
              <a:off x="8447392" y="4489704"/>
              <a:ext cx="3364992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300" dirty="0">
                  <a:solidFill>
                    <a:srgbClr val="1A1A2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Short-term income vs. expense trend chart</a:t>
              </a:r>
              <a:endParaRPr lang="en-US" sz="1300" dirty="0"/>
            </a:p>
          </p:txBody>
        </p:sp>
        <p:pic>
          <p:nvPicPr>
            <p:cNvPr id="30" name="Image 5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46519" y="5451287"/>
              <a:ext cx="161666" cy="161666"/>
            </a:xfrm>
            <a:prstGeom prst="rect">
              <a:avLst/>
            </a:prstGeom>
          </p:spPr>
        </p:pic>
        <p:sp>
          <p:nvSpPr>
            <p:cNvPr id="31" name="Text 23"/>
            <p:cNvSpPr/>
            <p:nvPr/>
          </p:nvSpPr>
          <p:spPr>
            <a:xfrm>
              <a:off x="8447392" y="5330952"/>
              <a:ext cx="3364992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300" dirty="0">
                  <a:solidFill>
                    <a:srgbClr val="1A1A2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One-tap branch switcher across every widget</a:t>
              </a:r>
              <a:endParaRPr lang="en-US" sz="1300" dirty="0"/>
            </a:p>
          </p:txBody>
        </p:sp>
      </p:grpSp>
      <p:sp>
        <p:nvSpPr>
          <p:cNvPr id="32" name="Text 2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000" dirty="0"/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DB7BBEC9-1740-4D6F-924C-AEAE18E384BE}"/>
              </a:ext>
            </a:extLst>
          </p:cNvPr>
          <p:cNvSpPr/>
          <p:nvPr/>
        </p:nvSpPr>
        <p:spPr>
          <a:xfrm>
            <a:off x="589788" y="26751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472A"/>
                </a:solidFill>
                <a:latin typeface="Segoe UI" pitchFamily="34" charset="0"/>
                <a:cs typeface="Segoe UI" pitchFamily="34" charset="-120"/>
              </a:rPr>
              <a:t>UI at a glance</a:t>
            </a:r>
            <a:endParaRPr lang="en-US" sz="40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04B8992-1794-4E87-A7C2-FD109FA3DA23}"/>
              </a:ext>
            </a:extLst>
          </p:cNvPr>
          <p:cNvGrpSpPr/>
          <p:nvPr/>
        </p:nvGrpSpPr>
        <p:grpSpPr>
          <a:xfrm>
            <a:off x="640080" y="1691640"/>
            <a:ext cx="6263640" cy="4480560"/>
            <a:chOff x="640080" y="1691640"/>
            <a:chExt cx="6263640" cy="4480560"/>
          </a:xfrm>
        </p:grpSpPr>
        <p:sp>
          <p:nvSpPr>
            <p:cNvPr id="5" name="Shape 3"/>
            <p:cNvSpPr/>
            <p:nvPr/>
          </p:nvSpPr>
          <p:spPr>
            <a:xfrm>
              <a:off x="640080" y="1691640"/>
              <a:ext cx="6263640" cy="4480560"/>
            </a:xfrm>
            <a:prstGeom prst="roundRect">
              <a:avLst>
                <a:gd name="adj" fmla="val 2041"/>
              </a:avLst>
            </a:prstGeom>
            <a:solidFill>
              <a:srgbClr val="FFFFFF"/>
            </a:solidFill>
            <a:ln w="12700">
              <a:solidFill>
                <a:srgbClr val="F5EAD4"/>
              </a:solidFill>
              <a:prstDash val="solid"/>
            </a:ln>
            <a:effectLst>
              <a:outerShdw blurRad="127000" dist="38100" dir="5400000" algn="bl" rotWithShape="0">
                <a:srgbClr val="1A472A">
                  <a:alpha val="14000"/>
                </a:srgbClr>
              </a:outerShdw>
            </a:effectLst>
          </p:spPr>
        </p:sp>
        <p:sp>
          <p:nvSpPr>
            <p:cNvPr id="6" name="Shape 4"/>
            <p:cNvSpPr/>
            <p:nvPr/>
          </p:nvSpPr>
          <p:spPr>
            <a:xfrm>
              <a:off x="640080" y="1691640"/>
              <a:ext cx="6263640" cy="292608"/>
            </a:xfrm>
            <a:prstGeom prst="roundRect">
              <a:avLst>
                <a:gd name="adj" fmla="val 31250"/>
              </a:avLst>
            </a:prstGeom>
            <a:solidFill>
              <a:srgbClr val="F5EAD4"/>
            </a:solidFill>
            <a:ln/>
          </p:spPr>
        </p:sp>
        <p:sp>
          <p:nvSpPr>
            <p:cNvPr id="7" name="Shape 5"/>
            <p:cNvSpPr/>
            <p:nvPr/>
          </p:nvSpPr>
          <p:spPr>
            <a:xfrm>
              <a:off x="640080" y="1837944"/>
              <a:ext cx="6263640" cy="146304"/>
            </a:xfrm>
            <a:prstGeom prst="rect">
              <a:avLst/>
            </a:prstGeom>
            <a:solidFill>
              <a:srgbClr val="F5EAD4"/>
            </a:solidFill>
            <a:ln/>
          </p:spPr>
        </p:sp>
        <p:sp>
          <p:nvSpPr>
            <p:cNvPr id="8" name="Shape 6"/>
            <p:cNvSpPr/>
            <p:nvPr/>
          </p:nvSpPr>
          <p:spPr>
            <a:xfrm>
              <a:off x="768096" y="1783080"/>
              <a:ext cx="91440" cy="91440"/>
            </a:xfrm>
            <a:prstGeom prst="ellipse">
              <a:avLst/>
            </a:prstGeom>
            <a:solidFill>
              <a:srgbClr val="E9C46A"/>
            </a:solidFill>
            <a:ln/>
          </p:spPr>
        </p:sp>
        <p:sp>
          <p:nvSpPr>
            <p:cNvPr id="9" name="Shape 7"/>
            <p:cNvSpPr/>
            <p:nvPr/>
          </p:nvSpPr>
          <p:spPr>
            <a:xfrm>
              <a:off x="950976" y="1783080"/>
              <a:ext cx="91440" cy="91440"/>
            </a:xfrm>
            <a:prstGeom prst="ellipse">
              <a:avLst/>
            </a:prstGeom>
            <a:solidFill>
              <a:srgbClr val="40916C"/>
            </a:solidFill>
            <a:ln/>
          </p:spPr>
        </p:sp>
        <p:sp>
          <p:nvSpPr>
            <p:cNvPr id="10" name="Shape 8"/>
            <p:cNvSpPr/>
            <p:nvPr/>
          </p:nvSpPr>
          <p:spPr>
            <a:xfrm>
              <a:off x="1133856" y="1783080"/>
              <a:ext cx="91440" cy="91440"/>
            </a:xfrm>
            <a:prstGeom prst="ellipse">
              <a:avLst/>
            </a:prstGeom>
            <a:solidFill>
              <a:srgbClr val="2D6A4F"/>
            </a:solidFill>
            <a:ln/>
          </p:spPr>
        </p:sp>
        <p:sp>
          <p:nvSpPr>
            <p:cNvPr id="11" name="Shape 9"/>
            <p:cNvSpPr/>
            <p:nvPr/>
          </p:nvSpPr>
          <p:spPr>
            <a:xfrm>
              <a:off x="841248" y="2148840"/>
              <a:ext cx="5861304" cy="3822192"/>
            </a:xfrm>
            <a:prstGeom prst="roundRect">
              <a:avLst>
                <a:gd name="adj" fmla="val 1675"/>
              </a:avLst>
            </a:prstGeom>
            <a:solidFill>
              <a:srgbClr val="FDF6E3"/>
            </a:solidFill>
            <a:ln w="19050">
              <a:solidFill>
                <a:srgbClr val="40916C"/>
              </a:solidFill>
              <a:prstDash val="dash"/>
            </a:ln>
          </p:spPr>
        </p:sp>
        <p:sp>
          <p:nvSpPr>
            <p:cNvPr id="14" name="Text 11"/>
            <p:cNvSpPr/>
            <p:nvPr/>
          </p:nvSpPr>
          <p:spPr>
            <a:xfrm>
              <a:off x="841248" y="4105656"/>
              <a:ext cx="586130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200" dirty="0"/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1FB69E6F-6A9B-4FF1-B2AE-426350DBC5E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080" y="1984248"/>
              <a:ext cx="6263640" cy="418795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10000"/>
                <a:lumOff val="90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7685" y="231175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4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1029" y="790956"/>
            <a:ext cx="502920" cy="41148"/>
          </a:xfrm>
          <a:prstGeom prst="rect">
            <a:avLst/>
          </a:prstGeom>
          <a:solidFill>
            <a:srgbClr val="E9C46A"/>
          </a:solidFill>
          <a:ln/>
        </p:spPr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8B998C3-0F3E-469E-8CB4-25DF48B66C15}"/>
              </a:ext>
            </a:extLst>
          </p:cNvPr>
          <p:cNvGrpSpPr/>
          <p:nvPr/>
        </p:nvGrpSpPr>
        <p:grpSpPr>
          <a:xfrm>
            <a:off x="501048" y="1549809"/>
            <a:ext cx="5511732" cy="4243888"/>
            <a:chOff x="640080" y="1691640"/>
            <a:chExt cx="6263640" cy="4480560"/>
          </a:xfrm>
        </p:grpSpPr>
        <p:sp>
          <p:nvSpPr>
            <p:cNvPr id="5" name="Shape 3"/>
            <p:cNvSpPr/>
            <p:nvPr/>
          </p:nvSpPr>
          <p:spPr>
            <a:xfrm>
              <a:off x="640080" y="1691640"/>
              <a:ext cx="6263640" cy="4480560"/>
            </a:xfrm>
            <a:prstGeom prst="roundRect">
              <a:avLst>
                <a:gd name="adj" fmla="val 2041"/>
              </a:avLst>
            </a:prstGeom>
            <a:solidFill>
              <a:srgbClr val="FFFFFF"/>
            </a:solidFill>
            <a:ln w="12700">
              <a:solidFill>
                <a:srgbClr val="F5EAD4"/>
              </a:solidFill>
              <a:prstDash val="solid"/>
            </a:ln>
            <a:effectLst>
              <a:outerShdw blurRad="127000" dist="38100" dir="5400000" algn="bl" rotWithShape="0">
                <a:srgbClr val="1A472A">
                  <a:alpha val="14000"/>
                </a:srgbClr>
              </a:outerShdw>
            </a:effectLst>
          </p:spPr>
        </p:sp>
        <p:sp>
          <p:nvSpPr>
            <p:cNvPr id="6" name="Shape 4"/>
            <p:cNvSpPr/>
            <p:nvPr/>
          </p:nvSpPr>
          <p:spPr>
            <a:xfrm>
              <a:off x="640080" y="1691640"/>
              <a:ext cx="6263640" cy="292608"/>
            </a:xfrm>
            <a:prstGeom prst="roundRect">
              <a:avLst>
                <a:gd name="adj" fmla="val 31250"/>
              </a:avLst>
            </a:prstGeom>
            <a:solidFill>
              <a:srgbClr val="F5EAD4"/>
            </a:solidFill>
            <a:ln/>
          </p:spPr>
        </p:sp>
        <p:sp>
          <p:nvSpPr>
            <p:cNvPr id="7" name="Shape 5"/>
            <p:cNvSpPr/>
            <p:nvPr/>
          </p:nvSpPr>
          <p:spPr>
            <a:xfrm>
              <a:off x="640080" y="1837944"/>
              <a:ext cx="6263640" cy="146304"/>
            </a:xfrm>
            <a:prstGeom prst="rect">
              <a:avLst/>
            </a:prstGeom>
            <a:solidFill>
              <a:srgbClr val="F5EAD4"/>
            </a:solidFill>
            <a:ln/>
          </p:spPr>
        </p:sp>
        <p:sp>
          <p:nvSpPr>
            <p:cNvPr id="8" name="Shape 6"/>
            <p:cNvSpPr/>
            <p:nvPr/>
          </p:nvSpPr>
          <p:spPr>
            <a:xfrm>
              <a:off x="768096" y="1783080"/>
              <a:ext cx="91440" cy="91440"/>
            </a:xfrm>
            <a:prstGeom prst="ellipse">
              <a:avLst/>
            </a:prstGeom>
            <a:solidFill>
              <a:srgbClr val="E9C46A"/>
            </a:solidFill>
            <a:ln/>
          </p:spPr>
        </p:sp>
        <p:sp>
          <p:nvSpPr>
            <p:cNvPr id="9" name="Shape 7"/>
            <p:cNvSpPr/>
            <p:nvPr/>
          </p:nvSpPr>
          <p:spPr>
            <a:xfrm>
              <a:off x="950976" y="1783080"/>
              <a:ext cx="91440" cy="91440"/>
            </a:xfrm>
            <a:prstGeom prst="ellipse">
              <a:avLst/>
            </a:prstGeom>
            <a:solidFill>
              <a:srgbClr val="40916C"/>
            </a:solidFill>
            <a:ln/>
          </p:spPr>
        </p:sp>
        <p:sp>
          <p:nvSpPr>
            <p:cNvPr id="10" name="Shape 8"/>
            <p:cNvSpPr/>
            <p:nvPr/>
          </p:nvSpPr>
          <p:spPr>
            <a:xfrm>
              <a:off x="1133856" y="1783080"/>
              <a:ext cx="91440" cy="91440"/>
            </a:xfrm>
            <a:prstGeom prst="ellipse">
              <a:avLst/>
            </a:prstGeom>
            <a:solidFill>
              <a:srgbClr val="2D6A4F"/>
            </a:solidFill>
            <a:ln/>
          </p:spPr>
        </p:sp>
        <p:sp>
          <p:nvSpPr>
            <p:cNvPr id="11" name="Shape 9"/>
            <p:cNvSpPr/>
            <p:nvPr/>
          </p:nvSpPr>
          <p:spPr>
            <a:xfrm>
              <a:off x="841248" y="2148840"/>
              <a:ext cx="5861304" cy="3822192"/>
            </a:xfrm>
            <a:prstGeom prst="roundRect">
              <a:avLst>
                <a:gd name="adj" fmla="val 1675"/>
              </a:avLst>
            </a:prstGeom>
            <a:solidFill>
              <a:srgbClr val="FDF6E3"/>
            </a:solidFill>
            <a:ln w="19050">
              <a:solidFill>
                <a:srgbClr val="40916C"/>
              </a:solidFill>
              <a:prstDash val="dash"/>
            </a:ln>
          </p:spPr>
        </p:sp>
        <p:sp>
          <p:nvSpPr>
            <p:cNvPr id="12" name="Shape 10"/>
            <p:cNvSpPr/>
            <p:nvPr/>
          </p:nvSpPr>
          <p:spPr>
            <a:xfrm>
              <a:off x="3479292" y="3602736"/>
              <a:ext cx="585216" cy="585216"/>
            </a:xfrm>
            <a:prstGeom prst="ellipse">
              <a:avLst/>
            </a:prstGeom>
            <a:solidFill>
              <a:srgbClr val="40916C"/>
            </a:solidFill>
            <a:ln/>
          </p:spPr>
        </p:sp>
        <p:pic>
          <p:nvPicPr>
            <p:cNvPr id="1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19744" y="3743188"/>
              <a:ext cx="304312" cy="304312"/>
            </a:xfrm>
            <a:prstGeom prst="rect">
              <a:avLst/>
            </a:prstGeom>
          </p:spPr>
        </p:pic>
        <p:sp>
          <p:nvSpPr>
            <p:cNvPr id="14" name="Text 11"/>
            <p:cNvSpPr/>
            <p:nvPr/>
          </p:nvSpPr>
          <p:spPr>
            <a:xfrm>
              <a:off x="841248" y="4105656"/>
              <a:ext cx="586130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2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841248" y="4379976"/>
              <a:ext cx="586130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100" dirty="0"/>
            </a:p>
          </p:txBody>
        </p:sp>
      </p:grpSp>
      <p:sp>
        <p:nvSpPr>
          <p:cNvPr id="32" name="Text 2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8FD483B-52D4-4180-B076-88DBE1897FA8}"/>
              </a:ext>
            </a:extLst>
          </p:cNvPr>
          <p:cNvGrpSpPr/>
          <p:nvPr/>
        </p:nvGrpSpPr>
        <p:grpSpPr>
          <a:xfrm>
            <a:off x="6334729" y="1559804"/>
            <a:ext cx="5511732" cy="4243888"/>
            <a:chOff x="640080" y="1691640"/>
            <a:chExt cx="6263640" cy="4480560"/>
          </a:xfrm>
        </p:grpSpPr>
        <p:sp>
          <p:nvSpPr>
            <p:cNvPr id="50" name="Shape 3">
              <a:extLst>
                <a:ext uri="{FF2B5EF4-FFF2-40B4-BE49-F238E27FC236}">
                  <a16:creationId xmlns:a16="http://schemas.microsoft.com/office/drawing/2014/main" id="{511EC269-1F90-4DC6-B26D-1AE1761AC708}"/>
                </a:ext>
              </a:extLst>
            </p:cNvPr>
            <p:cNvSpPr/>
            <p:nvPr/>
          </p:nvSpPr>
          <p:spPr>
            <a:xfrm>
              <a:off x="640080" y="1691640"/>
              <a:ext cx="6263640" cy="4480560"/>
            </a:xfrm>
            <a:prstGeom prst="roundRect">
              <a:avLst>
                <a:gd name="adj" fmla="val 2041"/>
              </a:avLst>
            </a:prstGeom>
            <a:solidFill>
              <a:srgbClr val="FFFFFF"/>
            </a:solidFill>
            <a:ln w="12700">
              <a:solidFill>
                <a:srgbClr val="F5EAD4"/>
              </a:solidFill>
              <a:prstDash val="solid"/>
            </a:ln>
            <a:effectLst>
              <a:outerShdw blurRad="127000" dist="38100" dir="5400000" algn="bl" rotWithShape="0">
                <a:srgbClr val="1A472A">
                  <a:alpha val="14000"/>
                </a:srgbClr>
              </a:outerShdw>
            </a:effectLst>
          </p:spPr>
        </p:sp>
        <p:sp>
          <p:nvSpPr>
            <p:cNvPr id="51" name="Shape 4">
              <a:extLst>
                <a:ext uri="{FF2B5EF4-FFF2-40B4-BE49-F238E27FC236}">
                  <a16:creationId xmlns:a16="http://schemas.microsoft.com/office/drawing/2014/main" id="{3766EB48-3DF8-42AE-8D45-A574458E177B}"/>
                </a:ext>
              </a:extLst>
            </p:cNvPr>
            <p:cNvSpPr/>
            <p:nvPr/>
          </p:nvSpPr>
          <p:spPr>
            <a:xfrm>
              <a:off x="640080" y="1691640"/>
              <a:ext cx="6263640" cy="292608"/>
            </a:xfrm>
            <a:prstGeom prst="roundRect">
              <a:avLst>
                <a:gd name="adj" fmla="val 31250"/>
              </a:avLst>
            </a:prstGeom>
            <a:solidFill>
              <a:srgbClr val="F5EAD4"/>
            </a:solidFill>
            <a:ln/>
          </p:spPr>
        </p:sp>
        <p:sp>
          <p:nvSpPr>
            <p:cNvPr id="52" name="Shape 5">
              <a:extLst>
                <a:ext uri="{FF2B5EF4-FFF2-40B4-BE49-F238E27FC236}">
                  <a16:creationId xmlns:a16="http://schemas.microsoft.com/office/drawing/2014/main" id="{DD31DF91-037C-4C12-A867-A91C6C7F1AB6}"/>
                </a:ext>
              </a:extLst>
            </p:cNvPr>
            <p:cNvSpPr/>
            <p:nvPr/>
          </p:nvSpPr>
          <p:spPr>
            <a:xfrm>
              <a:off x="640080" y="1837944"/>
              <a:ext cx="6263640" cy="146304"/>
            </a:xfrm>
            <a:prstGeom prst="rect">
              <a:avLst/>
            </a:prstGeom>
            <a:solidFill>
              <a:srgbClr val="F5EAD4"/>
            </a:solidFill>
            <a:ln/>
          </p:spPr>
        </p:sp>
        <p:sp>
          <p:nvSpPr>
            <p:cNvPr id="53" name="Shape 6">
              <a:extLst>
                <a:ext uri="{FF2B5EF4-FFF2-40B4-BE49-F238E27FC236}">
                  <a16:creationId xmlns:a16="http://schemas.microsoft.com/office/drawing/2014/main" id="{0EBFBCF4-E898-426A-946A-08D9282D1AB9}"/>
                </a:ext>
              </a:extLst>
            </p:cNvPr>
            <p:cNvSpPr/>
            <p:nvPr/>
          </p:nvSpPr>
          <p:spPr>
            <a:xfrm>
              <a:off x="768096" y="1783080"/>
              <a:ext cx="91440" cy="91440"/>
            </a:xfrm>
            <a:prstGeom prst="ellipse">
              <a:avLst/>
            </a:prstGeom>
            <a:solidFill>
              <a:srgbClr val="E9C46A"/>
            </a:solidFill>
            <a:ln/>
          </p:spPr>
        </p:sp>
        <p:sp>
          <p:nvSpPr>
            <p:cNvPr id="54" name="Shape 7">
              <a:extLst>
                <a:ext uri="{FF2B5EF4-FFF2-40B4-BE49-F238E27FC236}">
                  <a16:creationId xmlns:a16="http://schemas.microsoft.com/office/drawing/2014/main" id="{36FB4095-EFE6-40A2-9068-9A3619C4C9C3}"/>
                </a:ext>
              </a:extLst>
            </p:cNvPr>
            <p:cNvSpPr/>
            <p:nvPr/>
          </p:nvSpPr>
          <p:spPr>
            <a:xfrm>
              <a:off x="950976" y="1783080"/>
              <a:ext cx="91440" cy="91440"/>
            </a:xfrm>
            <a:prstGeom prst="ellipse">
              <a:avLst/>
            </a:prstGeom>
            <a:solidFill>
              <a:srgbClr val="40916C"/>
            </a:solidFill>
            <a:ln/>
          </p:spPr>
        </p:sp>
        <p:sp>
          <p:nvSpPr>
            <p:cNvPr id="55" name="Shape 8">
              <a:extLst>
                <a:ext uri="{FF2B5EF4-FFF2-40B4-BE49-F238E27FC236}">
                  <a16:creationId xmlns:a16="http://schemas.microsoft.com/office/drawing/2014/main" id="{74B0737E-67E0-4E05-A2C2-96699CBAAE3C}"/>
                </a:ext>
              </a:extLst>
            </p:cNvPr>
            <p:cNvSpPr/>
            <p:nvPr/>
          </p:nvSpPr>
          <p:spPr>
            <a:xfrm>
              <a:off x="1133856" y="1783080"/>
              <a:ext cx="91440" cy="91440"/>
            </a:xfrm>
            <a:prstGeom prst="ellipse">
              <a:avLst/>
            </a:prstGeom>
            <a:solidFill>
              <a:srgbClr val="2D6A4F"/>
            </a:solidFill>
            <a:ln/>
          </p:spPr>
        </p:sp>
        <p:sp>
          <p:nvSpPr>
            <p:cNvPr id="56" name="Shape 9">
              <a:extLst>
                <a:ext uri="{FF2B5EF4-FFF2-40B4-BE49-F238E27FC236}">
                  <a16:creationId xmlns:a16="http://schemas.microsoft.com/office/drawing/2014/main" id="{BBC234BB-FC44-4F6C-BF30-2DA0BE71CCB0}"/>
                </a:ext>
              </a:extLst>
            </p:cNvPr>
            <p:cNvSpPr/>
            <p:nvPr/>
          </p:nvSpPr>
          <p:spPr>
            <a:xfrm>
              <a:off x="841248" y="2148840"/>
              <a:ext cx="5861304" cy="3822192"/>
            </a:xfrm>
            <a:prstGeom prst="roundRect">
              <a:avLst>
                <a:gd name="adj" fmla="val 1675"/>
              </a:avLst>
            </a:prstGeom>
            <a:solidFill>
              <a:srgbClr val="FDF6E3"/>
            </a:solidFill>
            <a:ln w="19050">
              <a:solidFill>
                <a:srgbClr val="40916C"/>
              </a:solidFill>
              <a:prstDash val="dash"/>
            </a:ln>
          </p:spPr>
        </p:sp>
        <p:sp>
          <p:nvSpPr>
            <p:cNvPr id="57" name="Shape 10">
              <a:extLst>
                <a:ext uri="{FF2B5EF4-FFF2-40B4-BE49-F238E27FC236}">
                  <a16:creationId xmlns:a16="http://schemas.microsoft.com/office/drawing/2014/main" id="{F5CCF4CF-F75B-4C27-8DB5-55F3DD851FB7}"/>
                </a:ext>
              </a:extLst>
            </p:cNvPr>
            <p:cNvSpPr/>
            <p:nvPr/>
          </p:nvSpPr>
          <p:spPr>
            <a:xfrm>
              <a:off x="3479292" y="3602736"/>
              <a:ext cx="585216" cy="585216"/>
            </a:xfrm>
            <a:prstGeom prst="ellipse">
              <a:avLst/>
            </a:prstGeom>
            <a:solidFill>
              <a:srgbClr val="40916C"/>
            </a:solidFill>
            <a:ln/>
          </p:spPr>
        </p:sp>
        <p:pic>
          <p:nvPicPr>
            <p:cNvPr id="58" name="Image 0" descr="preencoded.png">
              <a:extLst>
                <a:ext uri="{FF2B5EF4-FFF2-40B4-BE49-F238E27FC236}">
                  <a16:creationId xmlns:a16="http://schemas.microsoft.com/office/drawing/2014/main" id="{D5D09535-E835-42EC-8069-AFA7663A4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19744" y="3743188"/>
              <a:ext cx="304312" cy="304312"/>
            </a:xfrm>
            <a:prstGeom prst="rect">
              <a:avLst/>
            </a:prstGeom>
          </p:spPr>
        </p:pic>
        <p:sp>
          <p:nvSpPr>
            <p:cNvPr id="59" name="Text 11">
              <a:extLst>
                <a:ext uri="{FF2B5EF4-FFF2-40B4-BE49-F238E27FC236}">
                  <a16:creationId xmlns:a16="http://schemas.microsoft.com/office/drawing/2014/main" id="{2B2E952C-AA42-4607-9572-8F3EE7E70C83}"/>
                </a:ext>
              </a:extLst>
            </p:cNvPr>
            <p:cNvSpPr/>
            <p:nvPr/>
          </p:nvSpPr>
          <p:spPr>
            <a:xfrm>
              <a:off x="841248" y="4105656"/>
              <a:ext cx="586130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i="1" dirty="0">
                  <a:solidFill>
                    <a:srgbClr val="6B728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Screenshot Placeholder</a:t>
              </a:r>
              <a:endParaRPr lang="en-US" sz="1200" dirty="0"/>
            </a:p>
          </p:txBody>
        </p:sp>
        <p:sp>
          <p:nvSpPr>
            <p:cNvPr id="60" name="Text 12">
              <a:extLst>
                <a:ext uri="{FF2B5EF4-FFF2-40B4-BE49-F238E27FC236}">
                  <a16:creationId xmlns:a16="http://schemas.microsoft.com/office/drawing/2014/main" id="{925BC1A4-0FAB-4754-8346-43ABCE03288D}"/>
                </a:ext>
              </a:extLst>
            </p:cNvPr>
            <p:cNvSpPr/>
            <p:nvPr/>
          </p:nvSpPr>
          <p:spPr>
            <a:xfrm>
              <a:off x="841248" y="4379976"/>
              <a:ext cx="586130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2D6A4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Customer &amp; Transaction View</a:t>
              </a:r>
              <a:endParaRPr lang="en-US" sz="1100" dirty="0"/>
            </a:p>
          </p:txBody>
        </p:sp>
      </p:grpSp>
      <p:pic>
        <p:nvPicPr>
          <p:cNvPr id="62" name="Picture 61">
            <a:extLst>
              <a:ext uri="{FF2B5EF4-FFF2-40B4-BE49-F238E27FC236}">
                <a16:creationId xmlns:a16="http://schemas.microsoft.com/office/drawing/2014/main" id="{EA1988F0-0E34-4ADE-BFB4-9B402AB8EC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049" y="1826962"/>
            <a:ext cx="5511732" cy="3966736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7F9EE192-B683-4C64-8594-70122C248F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728" y="1828801"/>
            <a:ext cx="5511732" cy="3964896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F7CC57E8-C4A7-433E-8C09-224D81B42A66}"/>
              </a:ext>
            </a:extLst>
          </p:cNvPr>
          <p:cNvSpPr txBox="1"/>
          <p:nvPr/>
        </p:nvSpPr>
        <p:spPr>
          <a:xfrm>
            <a:off x="2508979" y="1131678"/>
            <a:ext cx="60972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A4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Customers</a:t>
            </a:r>
            <a:endParaRPr lang="en-US" sz="24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1DE3B67-9116-4EAF-AB68-DE98F8DA5261}"/>
              </a:ext>
            </a:extLst>
          </p:cNvPr>
          <p:cNvSpPr txBox="1"/>
          <p:nvPr/>
        </p:nvSpPr>
        <p:spPr>
          <a:xfrm>
            <a:off x="8164017" y="1118233"/>
            <a:ext cx="60972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A472A"/>
                </a:solidFill>
                <a:latin typeface="Segoe UI" pitchFamily="34" charset="0"/>
                <a:cs typeface="Segoe UI" pitchFamily="34" charset="-120"/>
              </a:rPr>
              <a:t>Transactions</a:t>
            </a:r>
            <a:endParaRPr lang="en-US" sz="2400" dirty="0"/>
          </a:p>
        </p:txBody>
      </p: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7685" y="231175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4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1029" y="790956"/>
            <a:ext cx="502920" cy="41148"/>
          </a:xfrm>
          <a:prstGeom prst="rect">
            <a:avLst/>
          </a:prstGeom>
          <a:solidFill>
            <a:srgbClr val="E9C46A"/>
          </a:solidFill>
          <a:ln/>
        </p:spPr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8B998C3-0F3E-469E-8CB4-25DF48B66C15}"/>
              </a:ext>
            </a:extLst>
          </p:cNvPr>
          <p:cNvGrpSpPr/>
          <p:nvPr/>
        </p:nvGrpSpPr>
        <p:grpSpPr>
          <a:xfrm>
            <a:off x="501048" y="1549809"/>
            <a:ext cx="5511732" cy="4243888"/>
            <a:chOff x="640080" y="1691640"/>
            <a:chExt cx="6263640" cy="4480560"/>
          </a:xfrm>
        </p:grpSpPr>
        <p:sp>
          <p:nvSpPr>
            <p:cNvPr id="5" name="Shape 3"/>
            <p:cNvSpPr/>
            <p:nvPr/>
          </p:nvSpPr>
          <p:spPr>
            <a:xfrm>
              <a:off x="640080" y="1691640"/>
              <a:ext cx="6263640" cy="4480560"/>
            </a:xfrm>
            <a:prstGeom prst="roundRect">
              <a:avLst>
                <a:gd name="adj" fmla="val 2041"/>
              </a:avLst>
            </a:prstGeom>
            <a:solidFill>
              <a:srgbClr val="FFFFFF"/>
            </a:solidFill>
            <a:ln w="12700">
              <a:solidFill>
                <a:srgbClr val="F5EAD4"/>
              </a:solidFill>
              <a:prstDash val="solid"/>
            </a:ln>
            <a:effectLst>
              <a:outerShdw blurRad="127000" dist="38100" dir="5400000" algn="bl" rotWithShape="0">
                <a:srgbClr val="1A472A">
                  <a:alpha val="14000"/>
                </a:srgbClr>
              </a:outerShdw>
            </a:effectLst>
          </p:spPr>
        </p:sp>
        <p:sp>
          <p:nvSpPr>
            <p:cNvPr id="6" name="Shape 4"/>
            <p:cNvSpPr/>
            <p:nvPr/>
          </p:nvSpPr>
          <p:spPr>
            <a:xfrm>
              <a:off x="640080" y="1691640"/>
              <a:ext cx="6263640" cy="292608"/>
            </a:xfrm>
            <a:prstGeom prst="roundRect">
              <a:avLst>
                <a:gd name="adj" fmla="val 31250"/>
              </a:avLst>
            </a:prstGeom>
            <a:solidFill>
              <a:srgbClr val="F5EAD4"/>
            </a:solidFill>
            <a:ln/>
          </p:spPr>
        </p:sp>
        <p:sp>
          <p:nvSpPr>
            <p:cNvPr id="7" name="Shape 5"/>
            <p:cNvSpPr/>
            <p:nvPr/>
          </p:nvSpPr>
          <p:spPr>
            <a:xfrm>
              <a:off x="640080" y="1837944"/>
              <a:ext cx="6263640" cy="146304"/>
            </a:xfrm>
            <a:prstGeom prst="rect">
              <a:avLst/>
            </a:prstGeom>
            <a:solidFill>
              <a:srgbClr val="F5EAD4"/>
            </a:solidFill>
            <a:ln/>
          </p:spPr>
        </p:sp>
        <p:sp>
          <p:nvSpPr>
            <p:cNvPr id="8" name="Shape 6"/>
            <p:cNvSpPr/>
            <p:nvPr/>
          </p:nvSpPr>
          <p:spPr>
            <a:xfrm>
              <a:off x="768096" y="1783080"/>
              <a:ext cx="91440" cy="91440"/>
            </a:xfrm>
            <a:prstGeom prst="ellipse">
              <a:avLst/>
            </a:prstGeom>
            <a:solidFill>
              <a:srgbClr val="E9C46A"/>
            </a:solidFill>
            <a:ln/>
          </p:spPr>
        </p:sp>
        <p:sp>
          <p:nvSpPr>
            <p:cNvPr id="9" name="Shape 7"/>
            <p:cNvSpPr/>
            <p:nvPr/>
          </p:nvSpPr>
          <p:spPr>
            <a:xfrm>
              <a:off x="950976" y="1783080"/>
              <a:ext cx="91440" cy="91440"/>
            </a:xfrm>
            <a:prstGeom prst="ellipse">
              <a:avLst/>
            </a:prstGeom>
            <a:solidFill>
              <a:srgbClr val="40916C"/>
            </a:solidFill>
            <a:ln/>
          </p:spPr>
        </p:sp>
        <p:sp>
          <p:nvSpPr>
            <p:cNvPr id="10" name="Shape 8"/>
            <p:cNvSpPr/>
            <p:nvPr/>
          </p:nvSpPr>
          <p:spPr>
            <a:xfrm>
              <a:off x="1133856" y="1783080"/>
              <a:ext cx="91440" cy="91440"/>
            </a:xfrm>
            <a:prstGeom prst="ellipse">
              <a:avLst/>
            </a:prstGeom>
            <a:solidFill>
              <a:srgbClr val="2D6A4F"/>
            </a:solidFill>
            <a:ln/>
          </p:spPr>
        </p:sp>
        <p:sp>
          <p:nvSpPr>
            <p:cNvPr id="11" name="Shape 9"/>
            <p:cNvSpPr/>
            <p:nvPr/>
          </p:nvSpPr>
          <p:spPr>
            <a:xfrm>
              <a:off x="841248" y="2148840"/>
              <a:ext cx="5861304" cy="3822192"/>
            </a:xfrm>
            <a:prstGeom prst="roundRect">
              <a:avLst>
                <a:gd name="adj" fmla="val 1675"/>
              </a:avLst>
            </a:prstGeom>
            <a:solidFill>
              <a:srgbClr val="FDF6E3"/>
            </a:solidFill>
            <a:ln w="19050">
              <a:solidFill>
                <a:srgbClr val="40916C"/>
              </a:solidFill>
              <a:prstDash val="dash"/>
            </a:ln>
          </p:spPr>
        </p:sp>
        <p:sp>
          <p:nvSpPr>
            <p:cNvPr id="12" name="Shape 10"/>
            <p:cNvSpPr/>
            <p:nvPr/>
          </p:nvSpPr>
          <p:spPr>
            <a:xfrm>
              <a:off x="3479292" y="3602736"/>
              <a:ext cx="585216" cy="585216"/>
            </a:xfrm>
            <a:prstGeom prst="ellipse">
              <a:avLst/>
            </a:prstGeom>
            <a:solidFill>
              <a:srgbClr val="40916C"/>
            </a:solidFill>
            <a:ln/>
          </p:spPr>
        </p:sp>
        <p:pic>
          <p:nvPicPr>
            <p:cNvPr id="1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19744" y="3743188"/>
              <a:ext cx="304312" cy="304312"/>
            </a:xfrm>
            <a:prstGeom prst="rect">
              <a:avLst/>
            </a:prstGeom>
          </p:spPr>
        </p:pic>
        <p:sp>
          <p:nvSpPr>
            <p:cNvPr id="14" name="Text 11"/>
            <p:cNvSpPr/>
            <p:nvPr/>
          </p:nvSpPr>
          <p:spPr>
            <a:xfrm>
              <a:off x="841248" y="4105656"/>
              <a:ext cx="586130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2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841248" y="4379976"/>
              <a:ext cx="586130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100" dirty="0"/>
            </a:p>
          </p:txBody>
        </p:sp>
      </p:grpSp>
      <p:sp>
        <p:nvSpPr>
          <p:cNvPr id="32" name="Text 2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8FD483B-52D4-4180-B076-88DBE1897FA8}"/>
              </a:ext>
            </a:extLst>
          </p:cNvPr>
          <p:cNvGrpSpPr/>
          <p:nvPr/>
        </p:nvGrpSpPr>
        <p:grpSpPr>
          <a:xfrm>
            <a:off x="6322029" y="888803"/>
            <a:ext cx="5511732" cy="5496612"/>
            <a:chOff x="640080" y="1691640"/>
            <a:chExt cx="6263640" cy="4480560"/>
          </a:xfrm>
        </p:grpSpPr>
        <p:sp>
          <p:nvSpPr>
            <p:cNvPr id="50" name="Shape 3">
              <a:extLst>
                <a:ext uri="{FF2B5EF4-FFF2-40B4-BE49-F238E27FC236}">
                  <a16:creationId xmlns:a16="http://schemas.microsoft.com/office/drawing/2014/main" id="{511EC269-1F90-4DC6-B26D-1AE1761AC708}"/>
                </a:ext>
              </a:extLst>
            </p:cNvPr>
            <p:cNvSpPr/>
            <p:nvPr/>
          </p:nvSpPr>
          <p:spPr>
            <a:xfrm>
              <a:off x="640080" y="1691640"/>
              <a:ext cx="6263640" cy="4480560"/>
            </a:xfrm>
            <a:prstGeom prst="roundRect">
              <a:avLst>
                <a:gd name="adj" fmla="val 2041"/>
              </a:avLst>
            </a:prstGeom>
            <a:solidFill>
              <a:srgbClr val="FFFFFF"/>
            </a:solidFill>
            <a:ln w="12700">
              <a:solidFill>
                <a:srgbClr val="F5EAD4"/>
              </a:solidFill>
              <a:prstDash val="solid"/>
            </a:ln>
            <a:effectLst>
              <a:outerShdw blurRad="127000" dist="38100" dir="5400000" algn="bl" rotWithShape="0">
                <a:srgbClr val="1A472A">
                  <a:alpha val="14000"/>
                </a:srgbClr>
              </a:outerShdw>
            </a:effectLst>
          </p:spPr>
        </p:sp>
        <p:sp>
          <p:nvSpPr>
            <p:cNvPr id="51" name="Shape 4">
              <a:extLst>
                <a:ext uri="{FF2B5EF4-FFF2-40B4-BE49-F238E27FC236}">
                  <a16:creationId xmlns:a16="http://schemas.microsoft.com/office/drawing/2014/main" id="{3766EB48-3DF8-42AE-8D45-A574458E177B}"/>
                </a:ext>
              </a:extLst>
            </p:cNvPr>
            <p:cNvSpPr/>
            <p:nvPr/>
          </p:nvSpPr>
          <p:spPr>
            <a:xfrm>
              <a:off x="640080" y="1691640"/>
              <a:ext cx="6263640" cy="292608"/>
            </a:xfrm>
            <a:prstGeom prst="roundRect">
              <a:avLst>
                <a:gd name="adj" fmla="val 31250"/>
              </a:avLst>
            </a:prstGeom>
            <a:solidFill>
              <a:srgbClr val="F5EAD4"/>
            </a:solidFill>
            <a:ln/>
          </p:spPr>
        </p:sp>
        <p:sp>
          <p:nvSpPr>
            <p:cNvPr id="52" name="Shape 5">
              <a:extLst>
                <a:ext uri="{FF2B5EF4-FFF2-40B4-BE49-F238E27FC236}">
                  <a16:creationId xmlns:a16="http://schemas.microsoft.com/office/drawing/2014/main" id="{DD31DF91-037C-4C12-A867-A91C6C7F1AB6}"/>
                </a:ext>
              </a:extLst>
            </p:cNvPr>
            <p:cNvSpPr/>
            <p:nvPr/>
          </p:nvSpPr>
          <p:spPr>
            <a:xfrm>
              <a:off x="640080" y="1837944"/>
              <a:ext cx="6263640" cy="146304"/>
            </a:xfrm>
            <a:prstGeom prst="rect">
              <a:avLst/>
            </a:prstGeom>
            <a:solidFill>
              <a:srgbClr val="F5EAD4"/>
            </a:solidFill>
            <a:ln/>
          </p:spPr>
        </p:sp>
        <p:sp>
          <p:nvSpPr>
            <p:cNvPr id="53" name="Shape 6">
              <a:extLst>
                <a:ext uri="{FF2B5EF4-FFF2-40B4-BE49-F238E27FC236}">
                  <a16:creationId xmlns:a16="http://schemas.microsoft.com/office/drawing/2014/main" id="{0EBFBCF4-E898-426A-946A-08D9282D1AB9}"/>
                </a:ext>
              </a:extLst>
            </p:cNvPr>
            <p:cNvSpPr/>
            <p:nvPr/>
          </p:nvSpPr>
          <p:spPr>
            <a:xfrm>
              <a:off x="768096" y="1783080"/>
              <a:ext cx="91440" cy="91440"/>
            </a:xfrm>
            <a:prstGeom prst="ellipse">
              <a:avLst/>
            </a:prstGeom>
            <a:solidFill>
              <a:srgbClr val="E9C46A"/>
            </a:solidFill>
            <a:ln/>
          </p:spPr>
        </p:sp>
        <p:sp>
          <p:nvSpPr>
            <p:cNvPr id="54" name="Shape 7">
              <a:extLst>
                <a:ext uri="{FF2B5EF4-FFF2-40B4-BE49-F238E27FC236}">
                  <a16:creationId xmlns:a16="http://schemas.microsoft.com/office/drawing/2014/main" id="{36FB4095-EFE6-40A2-9068-9A3619C4C9C3}"/>
                </a:ext>
              </a:extLst>
            </p:cNvPr>
            <p:cNvSpPr/>
            <p:nvPr/>
          </p:nvSpPr>
          <p:spPr>
            <a:xfrm>
              <a:off x="950976" y="1783080"/>
              <a:ext cx="91440" cy="91440"/>
            </a:xfrm>
            <a:prstGeom prst="ellipse">
              <a:avLst/>
            </a:prstGeom>
            <a:solidFill>
              <a:srgbClr val="40916C"/>
            </a:solidFill>
            <a:ln/>
          </p:spPr>
        </p:sp>
        <p:sp>
          <p:nvSpPr>
            <p:cNvPr id="55" name="Shape 8">
              <a:extLst>
                <a:ext uri="{FF2B5EF4-FFF2-40B4-BE49-F238E27FC236}">
                  <a16:creationId xmlns:a16="http://schemas.microsoft.com/office/drawing/2014/main" id="{74B0737E-67E0-4E05-A2C2-96699CBAAE3C}"/>
                </a:ext>
              </a:extLst>
            </p:cNvPr>
            <p:cNvSpPr/>
            <p:nvPr/>
          </p:nvSpPr>
          <p:spPr>
            <a:xfrm>
              <a:off x="1133856" y="1783080"/>
              <a:ext cx="91440" cy="91440"/>
            </a:xfrm>
            <a:prstGeom prst="ellipse">
              <a:avLst/>
            </a:prstGeom>
            <a:solidFill>
              <a:srgbClr val="2D6A4F"/>
            </a:solidFill>
            <a:ln/>
          </p:spPr>
        </p:sp>
        <p:sp>
          <p:nvSpPr>
            <p:cNvPr id="56" name="Shape 9">
              <a:extLst>
                <a:ext uri="{FF2B5EF4-FFF2-40B4-BE49-F238E27FC236}">
                  <a16:creationId xmlns:a16="http://schemas.microsoft.com/office/drawing/2014/main" id="{BBC234BB-FC44-4F6C-BF30-2DA0BE71CCB0}"/>
                </a:ext>
              </a:extLst>
            </p:cNvPr>
            <p:cNvSpPr/>
            <p:nvPr/>
          </p:nvSpPr>
          <p:spPr>
            <a:xfrm>
              <a:off x="841248" y="2148840"/>
              <a:ext cx="5861304" cy="3822192"/>
            </a:xfrm>
            <a:prstGeom prst="roundRect">
              <a:avLst>
                <a:gd name="adj" fmla="val 1675"/>
              </a:avLst>
            </a:prstGeom>
            <a:solidFill>
              <a:srgbClr val="FDF6E3"/>
            </a:solidFill>
            <a:ln w="19050">
              <a:solidFill>
                <a:srgbClr val="40916C"/>
              </a:solidFill>
              <a:prstDash val="dash"/>
            </a:ln>
          </p:spPr>
        </p:sp>
        <p:sp>
          <p:nvSpPr>
            <p:cNvPr id="57" name="Shape 10">
              <a:extLst>
                <a:ext uri="{FF2B5EF4-FFF2-40B4-BE49-F238E27FC236}">
                  <a16:creationId xmlns:a16="http://schemas.microsoft.com/office/drawing/2014/main" id="{F5CCF4CF-F75B-4C27-8DB5-55F3DD851FB7}"/>
                </a:ext>
              </a:extLst>
            </p:cNvPr>
            <p:cNvSpPr/>
            <p:nvPr/>
          </p:nvSpPr>
          <p:spPr>
            <a:xfrm>
              <a:off x="3479292" y="3602736"/>
              <a:ext cx="585216" cy="585216"/>
            </a:xfrm>
            <a:prstGeom prst="ellipse">
              <a:avLst/>
            </a:prstGeom>
            <a:solidFill>
              <a:srgbClr val="40916C"/>
            </a:solidFill>
            <a:ln/>
          </p:spPr>
        </p:sp>
        <p:pic>
          <p:nvPicPr>
            <p:cNvPr id="58" name="Image 0" descr="preencoded.png">
              <a:extLst>
                <a:ext uri="{FF2B5EF4-FFF2-40B4-BE49-F238E27FC236}">
                  <a16:creationId xmlns:a16="http://schemas.microsoft.com/office/drawing/2014/main" id="{D5D09535-E835-42EC-8069-AFA7663A4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19744" y="3743188"/>
              <a:ext cx="304312" cy="304312"/>
            </a:xfrm>
            <a:prstGeom prst="rect">
              <a:avLst/>
            </a:prstGeom>
          </p:spPr>
        </p:pic>
        <p:sp>
          <p:nvSpPr>
            <p:cNvPr id="59" name="Text 11">
              <a:extLst>
                <a:ext uri="{FF2B5EF4-FFF2-40B4-BE49-F238E27FC236}">
                  <a16:creationId xmlns:a16="http://schemas.microsoft.com/office/drawing/2014/main" id="{2B2E952C-AA42-4607-9572-8F3EE7E70C83}"/>
                </a:ext>
              </a:extLst>
            </p:cNvPr>
            <p:cNvSpPr/>
            <p:nvPr/>
          </p:nvSpPr>
          <p:spPr>
            <a:xfrm>
              <a:off x="841248" y="4105656"/>
              <a:ext cx="586130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200" dirty="0"/>
            </a:p>
          </p:txBody>
        </p:sp>
        <p:sp>
          <p:nvSpPr>
            <p:cNvPr id="60" name="Text 12">
              <a:extLst>
                <a:ext uri="{FF2B5EF4-FFF2-40B4-BE49-F238E27FC236}">
                  <a16:creationId xmlns:a16="http://schemas.microsoft.com/office/drawing/2014/main" id="{925BC1A4-0FAB-4754-8346-43ABCE03288D}"/>
                </a:ext>
              </a:extLst>
            </p:cNvPr>
            <p:cNvSpPr/>
            <p:nvPr/>
          </p:nvSpPr>
          <p:spPr>
            <a:xfrm>
              <a:off x="841248" y="4379976"/>
              <a:ext cx="586130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100" dirty="0"/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F7CC57E8-C4A7-433E-8C09-224D81B42A66}"/>
              </a:ext>
            </a:extLst>
          </p:cNvPr>
          <p:cNvSpPr txBox="1"/>
          <p:nvPr/>
        </p:nvSpPr>
        <p:spPr>
          <a:xfrm>
            <a:off x="2508979" y="1131678"/>
            <a:ext cx="60972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A4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</a:t>
            </a:r>
            <a:endParaRPr lang="en-US" sz="24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1DE3B67-9116-4EAF-AB68-DE98F8DA5261}"/>
              </a:ext>
            </a:extLst>
          </p:cNvPr>
          <p:cNvSpPr txBox="1"/>
          <p:nvPr/>
        </p:nvSpPr>
        <p:spPr>
          <a:xfrm>
            <a:off x="8125917" y="273391"/>
            <a:ext cx="60972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A472A"/>
                </a:solidFill>
                <a:latin typeface="Segoe UI" pitchFamily="34" charset="0"/>
                <a:cs typeface="Segoe UI" pitchFamily="34" charset="-120"/>
              </a:rPr>
              <a:t>Supplier Ledger</a:t>
            </a:r>
            <a:endParaRPr lang="en-US" sz="2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F32D16F-AD6F-4CDC-80A9-AB7F1C9135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047" y="1826961"/>
            <a:ext cx="5511733" cy="396489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47D7009-C186-4B94-AF30-ADD059EECF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0950" y="1176549"/>
            <a:ext cx="5500710" cy="520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148829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7685" y="231175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4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1029" y="790956"/>
            <a:ext cx="502920" cy="41148"/>
          </a:xfrm>
          <a:prstGeom prst="rect">
            <a:avLst/>
          </a:prstGeom>
          <a:solidFill>
            <a:srgbClr val="E9C46A"/>
          </a:solidFill>
          <a:ln/>
        </p:spPr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8B998C3-0F3E-469E-8CB4-25DF48B66C15}"/>
              </a:ext>
            </a:extLst>
          </p:cNvPr>
          <p:cNvGrpSpPr/>
          <p:nvPr/>
        </p:nvGrpSpPr>
        <p:grpSpPr>
          <a:xfrm>
            <a:off x="501048" y="1549809"/>
            <a:ext cx="5511732" cy="4243888"/>
            <a:chOff x="640080" y="1691640"/>
            <a:chExt cx="6263640" cy="4480560"/>
          </a:xfrm>
        </p:grpSpPr>
        <p:sp>
          <p:nvSpPr>
            <p:cNvPr id="5" name="Shape 3"/>
            <p:cNvSpPr/>
            <p:nvPr/>
          </p:nvSpPr>
          <p:spPr>
            <a:xfrm>
              <a:off x="640080" y="1691640"/>
              <a:ext cx="6263640" cy="4480560"/>
            </a:xfrm>
            <a:prstGeom prst="roundRect">
              <a:avLst>
                <a:gd name="adj" fmla="val 2041"/>
              </a:avLst>
            </a:prstGeom>
            <a:solidFill>
              <a:srgbClr val="FFFFFF"/>
            </a:solidFill>
            <a:ln w="12700">
              <a:solidFill>
                <a:srgbClr val="F5EAD4"/>
              </a:solidFill>
              <a:prstDash val="solid"/>
            </a:ln>
            <a:effectLst>
              <a:outerShdw blurRad="127000" dist="38100" dir="5400000" algn="bl" rotWithShape="0">
                <a:srgbClr val="1A472A">
                  <a:alpha val="14000"/>
                </a:srgbClr>
              </a:outerShdw>
            </a:effectLst>
          </p:spPr>
        </p:sp>
        <p:sp>
          <p:nvSpPr>
            <p:cNvPr id="6" name="Shape 4"/>
            <p:cNvSpPr/>
            <p:nvPr/>
          </p:nvSpPr>
          <p:spPr>
            <a:xfrm>
              <a:off x="640080" y="1691640"/>
              <a:ext cx="6263640" cy="292608"/>
            </a:xfrm>
            <a:prstGeom prst="roundRect">
              <a:avLst>
                <a:gd name="adj" fmla="val 31250"/>
              </a:avLst>
            </a:prstGeom>
            <a:solidFill>
              <a:srgbClr val="F5EAD4"/>
            </a:solidFill>
            <a:ln/>
          </p:spPr>
        </p:sp>
        <p:sp>
          <p:nvSpPr>
            <p:cNvPr id="7" name="Shape 5"/>
            <p:cNvSpPr/>
            <p:nvPr/>
          </p:nvSpPr>
          <p:spPr>
            <a:xfrm>
              <a:off x="640080" y="1837944"/>
              <a:ext cx="6263640" cy="146304"/>
            </a:xfrm>
            <a:prstGeom prst="rect">
              <a:avLst/>
            </a:prstGeom>
            <a:solidFill>
              <a:srgbClr val="F5EAD4"/>
            </a:solidFill>
            <a:ln/>
          </p:spPr>
        </p:sp>
        <p:sp>
          <p:nvSpPr>
            <p:cNvPr id="8" name="Shape 6"/>
            <p:cNvSpPr/>
            <p:nvPr/>
          </p:nvSpPr>
          <p:spPr>
            <a:xfrm>
              <a:off x="768096" y="1783080"/>
              <a:ext cx="91440" cy="91440"/>
            </a:xfrm>
            <a:prstGeom prst="ellipse">
              <a:avLst/>
            </a:prstGeom>
            <a:solidFill>
              <a:srgbClr val="E9C46A"/>
            </a:solidFill>
            <a:ln/>
          </p:spPr>
        </p:sp>
        <p:sp>
          <p:nvSpPr>
            <p:cNvPr id="9" name="Shape 7"/>
            <p:cNvSpPr/>
            <p:nvPr/>
          </p:nvSpPr>
          <p:spPr>
            <a:xfrm>
              <a:off x="950976" y="1783080"/>
              <a:ext cx="91440" cy="91440"/>
            </a:xfrm>
            <a:prstGeom prst="ellipse">
              <a:avLst/>
            </a:prstGeom>
            <a:solidFill>
              <a:srgbClr val="40916C"/>
            </a:solidFill>
            <a:ln/>
          </p:spPr>
        </p:sp>
        <p:sp>
          <p:nvSpPr>
            <p:cNvPr id="10" name="Shape 8"/>
            <p:cNvSpPr/>
            <p:nvPr/>
          </p:nvSpPr>
          <p:spPr>
            <a:xfrm>
              <a:off x="1133856" y="1783080"/>
              <a:ext cx="91440" cy="91440"/>
            </a:xfrm>
            <a:prstGeom prst="ellipse">
              <a:avLst/>
            </a:prstGeom>
            <a:solidFill>
              <a:srgbClr val="2D6A4F"/>
            </a:solidFill>
            <a:ln/>
          </p:spPr>
        </p:sp>
        <p:sp>
          <p:nvSpPr>
            <p:cNvPr id="11" name="Shape 9"/>
            <p:cNvSpPr/>
            <p:nvPr/>
          </p:nvSpPr>
          <p:spPr>
            <a:xfrm>
              <a:off x="841248" y="2148840"/>
              <a:ext cx="5861304" cy="3822192"/>
            </a:xfrm>
            <a:prstGeom prst="roundRect">
              <a:avLst>
                <a:gd name="adj" fmla="val 1675"/>
              </a:avLst>
            </a:prstGeom>
            <a:solidFill>
              <a:srgbClr val="FDF6E3"/>
            </a:solidFill>
            <a:ln w="19050">
              <a:solidFill>
                <a:srgbClr val="40916C"/>
              </a:solidFill>
              <a:prstDash val="dash"/>
            </a:ln>
          </p:spPr>
        </p:sp>
        <p:sp>
          <p:nvSpPr>
            <p:cNvPr id="12" name="Shape 10"/>
            <p:cNvSpPr/>
            <p:nvPr/>
          </p:nvSpPr>
          <p:spPr>
            <a:xfrm>
              <a:off x="3479292" y="3602736"/>
              <a:ext cx="585216" cy="585216"/>
            </a:xfrm>
            <a:prstGeom prst="ellipse">
              <a:avLst/>
            </a:prstGeom>
            <a:solidFill>
              <a:srgbClr val="40916C"/>
            </a:solidFill>
            <a:ln/>
          </p:spPr>
        </p:sp>
        <p:pic>
          <p:nvPicPr>
            <p:cNvPr id="1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19744" y="3743188"/>
              <a:ext cx="304312" cy="304312"/>
            </a:xfrm>
            <a:prstGeom prst="rect">
              <a:avLst/>
            </a:prstGeom>
          </p:spPr>
        </p:pic>
        <p:sp>
          <p:nvSpPr>
            <p:cNvPr id="14" name="Text 11"/>
            <p:cNvSpPr/>
            <p:nvPr/>
          </p:nvSpPr>
          <p:spPr>
            <a:xfrm>
              <a:off x="841248" y="4105656"/>
              <a:ext cx="586130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2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841248" y="4379976"/>
              <a:ext cx="586130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100" dirty="0"/>
            </a:p>
          </p:txBody>
        </p:sp>
      </p:grpSp>
      <p:sp>
        <p:nvSpPr>
          <p:cNvPr id="32" name="Text 2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7CC57E8-C4A7-433E-8C09-224D81B42A66}"/>
              </a:ext>
            </a:extLst>
          </p:cNvPr>
          <p:cNvSpPr txBox="1"/>
          <p:nvPr/>
        </p:nvSpPr>
        <p:spPr>
          <a:xfrm>
            <a:off x="1832461" y="1033181"/>
            <a:ext cx="60972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A472A"/>
                </a:solidFill>
                <a:latin typeface="Segoe UI" pitchFamily="34" charset="0"/>
                <a:cs typeface="Segoe UI" pitchFamily="34" charset="-120"/>
              </a:rPr>
              <a:t>Reports  &amp; Analytics</a:t>
            </a:r>
            <a:endParaRPr lang="en-US" sz="2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796458B-CDAD-4087-AB63-09C0806E20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048" y="1818071"/>
            <a:ext cx="5511732" cy="3975626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F0C211FC-6A29-4A39-9F4F-960878F2F065}"/>
              </a:ext>
            </a:extLst>
          </p:cNvPr>
          <p:cNvGrpSpPr/>
          <p:nvPr/>
        </p:nvGrpSpPr>
        <p:grpSpPr>
          <a:xfrm>
            <a:off x="6368448" y="1568859"/>
            <a:ext cx="5511732" cy="4243888"/>
            <a:chOff x="640080" y="1691640"/>
            <a:chExt cx="6263640" cy="4480560"/>
          </a:xfrm>
        </p:grpSpPr>
        <p:sp>
          <p:nvSpPr>
            <p:cNvPr id="38" name="Shape 3">
              <a:extLst>
                <a:ext uri="{FF2B5EF4-FFF2-40B4-BE49-F238E27FC236}">
                  <a16:creationId xmlns:a16="http://schemas.microsoft.com/office/drawing/2014/main" id="{F6E8A9AB-9147-4081-919C-FD03BA49AEB2}"/>
                </a:ext>
              </a:extLst>
            </p:cNvPr>
            <p:cNvSpPr/>
            <p:nvPr/>
          </p:nvSpPr>
          <p:spPr>
            <a:xfrm>
              <a:off x="640080" y="1691640"/>
              <a:ext cx="6263640" cy="4480560"/>
            </a:xfrm>
            <a:prstGeom prst="roundRect">
              <a:avLst>
                <a:gd name="adj" fmla="val 2041"/>
              </a:avLst>
            </a:prstGeom>
            <a:solidFill>
              <a:srgbClr val="FFFFFF"/>
            </a:solidFill>
            <a:ln w="12700">
              <a:solidFill>
                <a:srgbClr val="F5EAD4"/>
              </a:solidFill>
              <a:prstDash val="solid"/>
            </a:ln>
            <a:effectLst>
              <a:outerShdw blurRad="127000" dist="38100" dir="5400000" algn="bl" rotWithShape="0">
                <a:srgbClr val="1A472A">
                  <a:alpha val="14000"/>
                </a:srgbClr>
              </a:outerShdw>
            </a:effectLst>
          </p:spPr>
        </p:sp>
        <p:sp>
          <p:nvSpPr>
            <p:cNvPr id="39" name="Shape 4">
              <a:extLst>
                <a:ext uri="{FF2B5EF4-FFF2-40B4-BE49-F238E27FC236}">
                  <a16:creationId xmlns:a16="http://schemas.microsoft.com/office/drawing/2014/main" id="{57A47F7C-E204-49E4-B844-3E7E9C3042E5}"/>
                </a:ext>
              </a:extLst>
            </p:cNvPr>
            <p:cNvSpPr/>
            <p:nvPr/>
          </p:nvSpPr>
          <p:spPr>
            <a:xfrm>
              <a:off x="640080" y="1691640"/>
              <a:ext cx="6263640" cy="292608"/>
            </a:xfrm>
            <a:prstGeom prst="roundRect">
              <a:avLst>
                <a:gd name="adj" fmla="val 31250"/>
              </a:avLst>
            </a:prstGeom>
            <a:solidFill>
              <a:srgbClr val="F5EAD4"/>
            </a:solidFill>
            <a:ln/>
          </p:spPr>
        </p:sp>
        <p:sp>
          <p:nvSpPr>
            <p:cNvPr id="40" name="Shape 5">
              <a:extLst>
                <a:ext uri="{FF2B5EF4-FFF2-40B4-BE49-F238E27FC236}">
                  <a16:creationId xmlns:a16="http://schemas.microsoft.com/office/drawing/2014/main" id="{6FC0C3C3-B8EB-47F2-A663-ECD2E27AEA51}"/>
                </a:ext>
              </a:extLst>
            </p:cNvPr>
            <p:cNvSpPr/>
            <p:nvPr/>
          </p:nvSpPr>
          <p:spPr>
            <a:xfrm>
              <a:off x="640080" y="1837944"/>
              <a:ext cx="6263640" cy="146304"/>
            </a:xfrm>
            <a:prstGeom prst="rect">
              <a:avLst/>
            </a:prstGeom>
            <a:solidFill>
              <a:srgbClr val="F5EAD4"/>
            </a:solidFill>
            <a:ln/>
          </p:spPr>
        </p:sp>
        <p:sp>
          <p:nvSpPr>
            <p:cNvPr id="41" name="Shape 6">
              <a:extLst>
                <a:ext uri="{FF2B5EF4-FFF2-40B4-BE49-F238E27FC236}">
                  <a16:creationId xmlns:a16="http://schemas.microsoft.com/office/drawing/2014/main" id="{09295D87-D266-486F-969B-5240CCE5C4B6}"/>
                </a:ext>
              </a:extLst>
            </p:cNvPr>
            <p:cNvSpPr/>
            <p:nvPr/>
          </p:nvSpPr>
          <p:spPr>
            <a:xfrm>
              <a:off x="768096" y="1783080"/>
              <a:ext cx="91440" cy="91440"/>
            </a:xfrm>
            <a:prstGeom prst="ellipse">
              <a:avLst/>
            </a:prstGeom>
            <a:solidFill>
              <a:srgbClr val="E9C46A"/>
            </a:solidFill>
            <a:ln/>
          </p:spPr>
        </p:sp>
        <p:sp>
          <p:nvSpPr>
            <p:cNvPr id="42" name="Shape 7">
              <a:extLst>
                <a:ext uri="{FF2B5EF4-FFF2-40B4-BE49-F238E27FC236}">
                  <a16:creationId xmlns:a16="http://schemas.microsoft.com/office/drawing/2014/main" id="{936B3695-BC46-4124-8844-CE267EC69BA5}"/>
                </a:ext>
              </a:extLst>
            </p:cNvPr>
            <p:cNvSpPr/>
            <p:nvPr/>
          </p:nvSpPr>
          <p:spPr>
            <a:xfrm>
              <a:off x="950976" y="1783080"/>
              <a:ext cx="91440" cy="91440"/>
            </a:xfrm>
            <a:prstGeom prst="ellipse">
              <a:avLst/>
            </a:prstGeom>
            <a:solidFill>
              <a:srgbClr val="40916C"/>
            </a:solidFill>
            <a:ln/>
          </p:spPr>
        </p:sp>
        <p:sp>
          <p:nvSpPr>
            <p:cNvPr id="43" name="Shape 8">
              <a:extLst>
                <a:ext uri="{FF2B5EF4-FFF2-40B4-BE49-F238E27FC236}">
                  <a16:creationId xmlns:a16="http://schemas.microsoft.com/office/drawing/2014/main" id="{0DAD8D2F-9742-44E0-8346-94BC917E6738}"/>
                </a:ext>
              </a:extLst>
            </p:cNvPr>
            <p:cNvSpPr/>
            <p:nvPr/>
          </p:nvSpPr>
          <p:spPr>
            <a:xfrm>
              <a:off x="1133856" y="1783080"/>
              <a:ext cx="91440" cy="91440"/>
            </a:xfrm>
            <a:prstGeom prst="ellipse">
              <a:avLst/>
            </a:prstGeom>
            <a:solidFill>
              <a:srgbClr val="2D6A4F"/>
            </a:solidFill>
            <a:ln/>
          </p:spPr>
        </p:sp>
        <p:sp>
          <p:nvSpPr>
            <p:cNvPr id="44" name="Shape 9">
              <a:extLst>
                <a:ext uri="{FF2B5EF4-FFF2-40B4-BE49-F238E27FC236}">
                  <a16:creationId xmlns:a16="http://schemas.microsoft.com/office/drawing/2014/main" id="{345868D6-55B2-404C-91AF-4625E9004F34}"/>
                </a:ext>
              </a:extLst>
            </p:cNvPr>
            <p:cNvSpPr/>
            <p:nvPr/>
          </p:nvSpPr>
          <p:spPr>
            <a:xfrm>
              <a:off x="841248" y="2148840"/>
              <a:ext cx="5861304" cy="3822192"/>
            </a:xfrm>
            <a:prstGeom prst="roundRect">
              <a:avLst>
                <a:gd name="adj" fmla="val 1675"/>
              </a:avLst>
            </a:prstGeom>
            <a:solidFill>
              <a:srgbClr val="FDF6E3"/>
            </a:solidFill>
            <a:ln w="19050">
              <a:solidFill>
                <a:srgbClr val="40916C"/>
              </a:solidFill>
              <a:prstDash val="dash"/>
            </a:ln>
          </p:spPr>
        </p:sp>
        <p:sp>
          <p:nvSpPr>
            <p:cNvPr id="45" name="Shape 10">
              <a:extLst>
                <a:ext uri="{FF2B5EF4-FFF2-40B4-BE49-F238E27FC236}">
                  <a16:creationId xmlns:a16="http://schemas.microsoft.com/office/drawing/2014/main" id="{738347EE-5F0E-402C-B6EC-669336B0B137}"/>
                </a:ext>
              </a:extLst>
            </p:cNvPr>
            <p:cNvSpPr/>
            <p:nvPr/>
          </p:nvSpPr>
          <p:spPr>
            <a:xfrm>
              <a:off x="3479292" y="3602736"/>
              <a:ext cx="585216" cy="585216"/>
            </a:xfrm>
            <a:prstGeom prst="ellipse">
              <a:avLst/>
            </a:prstGeom>
            <a:solidFill>
              <a:srgbClr val="40916C"/>
            </a:solidFill>
            <a:ln/>
          </p:spPr>
        </p:sp>
        <p:pic>
          <p:nvPicPr>
            <p:cNvPr id="46" name="Image 0" descr="preencoded.png">
              <a:extLst>
                <a:ext uri="{FF2B5EF4-FFF2-40B4-BE49-F238E27FC236}">
                  <a16:creationId xmlns:a16="http://schemas.microsoft.com/office/drawing/2014/main" id="{34F6ABC7-66E4-4BB3-8145-43FF9A998D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19744" y="3743188"/>
              <a:ext cx="304312" cy="304312"/>
            </a:xfrm>
            <a:prstGeom prst="rect">
              <a:avLst/>
            </a:prstGeom>
          </p:spPr>
        </p:pic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83B91C00-93D4-4758-9C2A-BB35C480AD5E}"/>
                </a:ext>
              </a:extLst>
            </p:cNvPr>
            <p:cNvSpPr/>
            <p:nvPr/>
          </p:nvSpPr>
          <p:spPr>
            <a:xfrm>
              <a:off x="841248" y="4105656"/>
              <a:ext cx="586130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200" dirty="0"/>
            </a:p>
          </p:txBody>
        </p:sp>
        <p:sp>
          <p:nvSpPr>
            <p:cNvPr id="48" name="Text 12">
              <a:extLst>
                <a:ext uri="{FF2B5EF4-FFF2-40B4-BE49-F238E27FC236}">
                  <a16:creationId xmlns:a16="http://schemas.microsoft.com/office/drawing/2014/main" id="{45E3A647-884A-461E-A69F-A5B786320D33}"/>
                </a:ext>
              </a:extLst>
            </p:cNvPr>
            <p:cNvSpPr/>
            <p:nvPr/>
          </p:nvSpPr>
          <p:spPr>
            <a:xfrm>
              <a:off x="841248" y="4379976"/>
              <a:ext cx="586130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100" dirty="0"/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CC9F116F-D458-4A6D-A425-A7C8D7A1C4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8448" y="1837121"/>
            <a:ext cx="5511732" cy="3975626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117284BB-3066-449B-8DFA-AD8D36705736}"/>
              </a:ext>
            </a:extLst>
          </p:cNvPr>
          <p:cNvSpPr txBox="1"/>
          <p:nvPr/>
        </p:nvSpPr>
        <p:spPr>
          <a:xfrm>
            <a:off x="7503011" y="1096681"/>
            <a:ext cx="60972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A472A"/>
                </a:solidFill>
                <a:latin typeface="Segoe UI" pitchFamily="34" charset="0"/>
                <a:cs typeface="Segoe UI" pitchFamily="34" charset="-120"/>
              </a:rPr>
              <a:t>Authentication &amp; Settings</a:t>
            </a:r>
            <a:endParaRPr lang="en-US" sz="2400" dirty="0"/>
          </a:p>
        </p:txBody>
      </p:sp>
      <p:sp>
        <p:nvSpPr>
          <p:cNvPr id="68" name="Text 1">
            <a:extLst>
              <a:ext uri="{FF2B5EF4-FFF2-40B4-BE49-F238E27FC236}">
                <a16:creationId xmlns:a16="http://schemas.microsoft.com/office/drawing/2014/main" id="{F87E8E05-EBA4-4572-AF85-9C13B84810BC}"/>
              </a:ext>
            </a:extLst>
          </p:cNvPr>
          <p:cNvSpPr/>
          <p:nvPr/>
        </p:nvSpPr>
        <p:spPr>
          <a:xfrm>
            <a:off x="-6241218" y="656151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4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Improvements</a:t>
            </a:r>
            <a:endParaRPr lang="en-US" sz="3000" dirty="0"/>
          </a:p>
        </p:txBody>
      </p:sp>
      <p:sp>
        <p:nvSpPr>
          <p:cNvPr id="69" name="Shape 2">
            <a:extLst>
              <a:ext uri="{FF2B5EF4-FFF2-40B4-BE49-F238E27FC236}">
                <a16:creationId xmlns:a16="http://schemas.microsoft.com/office/drawing/2014/main" id="{72321CAD-4DCD-41E0-B75B-D62978D7D3FC}"/>
              </a:ext>
            </a:extLst>
          </p:cNvPr>
          <p:cNvSpPr/>
          <p:nvPr/>
        </p:nvSpPr>
        <p:spPr>
          <a:xfrm>
            <a:off x="-6241218" y="1353312"/>
            <a:ext cx="502920" cy="4114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84" name="Shape 3">
            <a:extLst>
              <a:ext uri="{FF2B5EF4-FFF2-40B4-BE49-F238E27FC236}">
                <a16:creationId xmlns:a16="http://schemas.microsoft.com/office/drawing/2014/main" id="{7B040612-84C1-4C19-9D7B-EDA20CEBA2E3}"/>
              </a:ext>
            </a:extLst>
          </p:cNvPr>
          <p:cNvSpPr/>
          <p:nvPr/>
        </p:nvSpPr>
        <p:spPr>
          <a:xfrm>
            <a:off x="658368" y="7717945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5EAD4"/>
            </a:solidFill>
            <a:prstDash val="solid"/>
          </a:ln>
          <a:effectLst>
            <a:outerShdw blurRad="127000" dist="38100" dir="5400000" algn="bl" rotWithShape="0">
              <a:srgbClr val="1A472A">
                <a:alpha val="14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85" name="Image 0" descr="preencoded.png">
            <a:extLst>
              <a:ext uri="{FF2B5EF4-FFF2-40B4-BE49-F238E27FC236}">
                <a16:creationId xmlns:a16="http://schemas.microsoft.com/office/drawing/2014/main" id="{CF65A13B-9689-465C-9605-4C34F93001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9682" y="8086631"/>
            <a:ext cx="323332" cy="323332"/>
          </a:xfrm>
          <a:prstGeom prst="rect">
            <a:avLst/>
          </a:prstGeom>
        </p:spPr>
      </p:pic>
      <p:sp>
        <p:nvSpPr>
          <p:cNvPr id="86" name="Text 5">
            <a:extLst>
              <a:ext uri="{FF2B5EF4-FFF2-40B4-BE49-F238E27FC236}">
                <a16:creationId xmlns:a16="http://schemas.microsoft.com/office/drawing/2014/main" id="{3985F95F-7127-4877-B771-74719BEE1D96}"/>
              </a:ext>
            </a:extLst>
          </p:cNvPr>
          <p:cNvSpPr/>
          <p:nvPr/>
        </p:nvSpPr>
        <p:spPr>
          <a:xfrm>
            <a:off x="749808" y="8678065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 Support</a:t>
            </a:r>
            <a:endParaRPr lang="en-US" sz="1150" dirty="0"/>
          </a:p>
        </p:txBody>
      </p:sp>
      <p:sp>
        <p:nvSpPr>
          <p:cNvPr id="87" name="Shape 6">
            <a:extLst>
              <a:ext uri="{FF2B5EF4-FFF2-40B4-BE49-F238E27FC236}">
                <a16:creationId xmlns:a16="http://schemas.microsoft.com/office/drawing/2014/main" id="{E5E3990D-8CA0-40C2-92A3-A5CA94782819}"/>
              </a:ext>
            </a:extLst>
          </p:cNvPr>
          <p:cNvSpPr/>
          <p:nvPr/>
        </p:nvSpPr>
        <p:spPr>
          <a:xfrm>
            <a:off x="2798064" y="7717945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5EAD4"/>
            </a:solidFill>
            <a:prstDash val="solid"/>
          </a:ln>
          <a:effectLst>
            <a:outerShdw blurRad="127000" dist="38100" dir="5400000" algn="bl" rotWithShape="0">
              <a:srgbClr val="1A472A">
                <a:alpha val="14000"/>
              </a:srgbClr>
            </a:outerShdw>
          </a:effectLst>
        </p:spPr>
      </p:sp>
      <p:pic>
        <p:nvPicPr>
          <p:cNvPr id="88" name="Image 1" descr="preencoded.png">
            <a:extLst>
              <a:ext uri="{FF2B5EF4-FFF2-40B4-BE49-F238E27FC236}">
                <a16:creationId xmlns:a16="http://schemas.microsoft.com/office/drawing/2014/main" id="{C78378C5-BA9C-4867-B8B7-5040E6E497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378" y="8086631"/>
            <a:ext cx="323332" cy="323332"/>
          </a:xfrm>
          <a:prstGeom prst="rect">
            <a:avLst/>
          </a:prstGeom>
        </p:spPr>
      </p:pic>
      <p:sp>
        <p:nvSpPr>
          <p:cNvPr id="89" name="Text 8">
            <a:extLst>
              <a:ext uri="{FF2B5EF4-FFF2-40B4-BE49-F238E27FC236}">
                <a16:creationId xmlns:a16="http://schemas.microsoft.com/office/drawing/2014/main" id="{7004E6AB-1406-4C17-B7E2-E3C640A6F292}"/>
              </a:ext>
            </a:extLst>
          </p:cNvPr>
          <p:cNvSpPr/>
          <p:nvPr/>
        </p:nvSpPr>
        <p:spPr>
          <a:xfrm>
            <a:off x="2889504" y="8678065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Android App</a:t>
            </a:r>
            <a:endParaRPr lang="en-US" sz="1150" dirty="0"/>
          </a:p>
        </p:txBody>
      </p:sp>
      <p:sp>
        <p:nvSpPr>
          <p:cNvPr id="90" name="Text 11">
            <a:extLst>
              <a:ext uri="{FF2B5EF4-FFF2-40B4-BE49-F238E27FC236}">
                <a16:creationId xmlns:a16="http://schemas.microsoft.com/office/drawing/2014/main" id="{50BF4EBD-FA41-49D3-8DA3-4E1A2E63A60F}"/>
              </a:ext>
            </a:extLst>
          </p:cNvPr>
          <p:cNvSpPr/>
          <p:nvPr/>
        </p:nvSpPr>
        <p:spPr>
          <a:xfrm>
            <a:off x="5029200" y="8678065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endParaRPr lang="en-US" sz="1150" dirty="0"/>
          </a:p>
        </p:txBody>
      </p:sp>
      <p:sp>
        <p:nvSpPr>
          <p:cNvPr id="91" name="Shape 12">
            <a:extLst>
              <a:ext uri="{FF2B5EF4-FFF2-40B4-BE49-F238E27FC236}">
                <a16:creationId xmlns:a16="http://schemas.microsoft.com/office/drawing/2014/main" id="{D7591710-5218-4859-9EEE-2B1217E39375}"/>
              </a:ext>
            </a:extLst>
          </p:cNvPr>
          <p:cNvSpPr/>
          <p:nvPr/>
        </p:nvSpPr>
        <p:spPr>
          <a:xfrm>
            <a:off x="7077456" y="7717945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5EAD4"/>
            </a:solidFill>
            <a:prstDash val="solid"/>
          </a:ln>
          <a:effectLst>
            <a:outerShdw blurRad="127000" dist="38100" dir="5400000" algn="bl" rotWithShape="0">
              <a:srgbClr val="1A472A">
                <a:alpha val="14000"/>
              </a:srgbClr>
            </a:outerShdw>
          </a:effectLst>
        </p:spPr>
      </p:sp>
      <p:pic>
        <p:nvPicPr>
          <p:cNvPr id="92" name="Image 3" descr="preencoded.png">
            <a:extLst>
              <a:ext uri="{FF2B5EF4-FFF2-40B4-BE49-F238E27FC236}">
                <a16:creationId xmlns:a16="http://schemas.microsoft.com/office/drawing/2014/main" id="{4D47175F-86D8-40CF-BA30-BAC82E737A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8770" y="8086631"/>
            <a:ext cx="323332" cy="323332"/>
          </a:xfrm>
          <a:prstGeom prst="rect">
            <a:avLst/>
          </a:prstGeom>
        </p:spPr>
      </p:pic>
      <p:sp>
        <p:nvSpPr>
          <p:cNvPr id="93" name="Text 14">
            <a:extLst>
              <a:ext uri="{FF2B5EF4-FFF2-40B4-BE49-F238E27FC236}">
                <a16:creationId xmlns:a16="http://schemas.microsoft.com/office/drawing/2014/main" id="{793F368B-B343-41F4-AE18-435786F58ECB}"/>
              </a:ext>
            </a:extLst>
          </p:cNvPr>
          <p:cNvSpPr/>
          <p:nvPr/>
        </p:nvSpPr>
        <p:spPr>
          <a:xfrm>
            <a:off x="7168896" y="8678065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Barcode / QR Scan</a:t>
            </a:r>
            <a:endParaRPr lang="en-US" sz="1150" dirty="0"/>
          </a:p>
        </p:txBody>
      </p:sp>
      <p:sp>
        <p:nvSpPr>
          <p:cNvPr id="94" name="Shape 15">
            <a:extLst>
              <a:ext uri="{FF2B5EF4-FFF2-40B4-BE49-F238E27FC236}">
                <a16:creationId xmlns:a16="http://schemas.microsoft.com/office/drawing/2014/main" id="{CFF5C675-79EF-4723-B374-0FCE13839480}"/>
              </a:ext>
            </a:extLst>
          </p:cNvPr>
          <p:cNvSpPr/>
          <p:nvPr/>
        </p:nvSpPr>
        <p:spPr>
          <a:xfrm>
            <a:off x="9217152" y="7717945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5EAD4"/>
            </a:solidFill>
            <a:prstDash val="solid"/>
          </a:ln>
          <a:effectLst>
            <a:outerShdw blurRad="127000" dist="38100" dir="5400000" algn="bl" rotWithShape="0">
              <a:srgbClr val="1A472A">
                <a:alpha val="14000"/>
              </a:srgbClr>
            </a:outerShdw>
          </a:effectLst>
        </p:spPr>
      </p:sp>
      <p:pic>
        <p:nvPicPr>
          <p:cNvPr id="95" name="Image 4" descr="preencoded.png">
            <a:extLst>
              <a:ext uri="{FF2B5EF4-FFF2-40B4-BE49-F238E27FC236}">
                <a16:creationId xmlns:a16="http://schemas.microsoft.com/office/drawing/2014/main" id="{AAEC5957-9D71-4EC3-AB34-8738C951D34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38466" y="8086631"/>
            <a:ext cx="323332" cy="323332"/>
          </a:xfrm>
          <a:prstGeom prst="rect">
            <a:avLst/>
          </a:prstGeom>
        </p:spPr>
      </p:pic>
      <p:sp>
        <p:nvSpPr>
          <p:cNvPr id="96" name="Text 17">
            <a:extLst>
              <a:ext uri="{FF2B5EF4-FFF2-40B4-BE49-F238E27FC236}">
                <a16:creationId xmlns:a16="http://schemas.microsoft.com/office/drawing/2014/main" id="{048B6774-DD82-4535-944F-14ECD1C27C8B}"/>
              </a:ext>
            </a:extLst>
          </p:cNvPr>
          <p:cNvSpPr/>
          <p:nvPr/>
        </p:nvSpPr>
        <p:spPr>
          <a:xfrm>
            <a:off x="9308592" y="8678065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Sync</a:t>
            </a:r>
            <a:endParaRPr lang="en-US" sz="1150" dirty="0"/>
          </a:p>
        </p:txBody>
      </p:sp>
      <p:sp>
        <p:nvSpPr>
          <p:cNvPr id="97" name="Shape 18">
            <a:extLst>
              <a:ext uri="{FF2B5EF4-FFF2-40B4-BE49-F238E27FC236}">
                <a16:creationId xmlns:a16="http://schemas.microsoft.com/office/drawing/2014/main" id="{C8C4C6F3-AF7D-4E84-86DB-BCECDF55F1D9}"/>
              </a:ext>
            </a:extLst>
          </p:cNvPr>
          <p:cNvSpPr/>
          <p:nvPr/>
        </p:nvSpPr>
        <p:spPr>
          <a:xfrm>
            <a:off x="658368" y="9519313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5EAD4"/>
            </a:solidFill>
            <a:prstDash val="solid"/>
          </a:ln>
          <a:effectLst>
            <a:outerShdw blurRad="127000" dist="38100" dir="5400000" algn="bl" rotWithShape="0">
              <a:srgbClr val="1A472A">
                <a:alpha val="14000"/>
              </a:srgbClr>
            </a:outerShdw>
          </a:effectLst>
        </p:spPr>
      </p:sp>
      <p:pic>
        <p:nvPicPr>
          <p:cNvPr id="98" name="Image 5" descr="preencoded.png">
            <a:extLst>
              <a:ext uri="{FF2B5EF4-FFF2-40B4-BE49-F238E27FC236}">
                <a16:creationId xmlns:a16="http://schemas.microsoft.com/office/drawing/2014/main" id="{A40699C3-3D91-4CEE-8FCD-6155A91A257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9682" y="9887999"/>
            <a:ext cx="323332" cy="323332"/>
          </a:xfrm>
          <a:prstGeom prst="rect">
            <a:avLst/>
          </a:prstGeom>
        </p:spPr>
      </p:pic>
      <p:sp>
        <p:nvSpPr>
          <p:cNvPr id="99" name="Text 20">
            <a:extLst>
              <a:ext uri="{FF2B5EF4-FFF2-40B4-BE49-F238E27FC236}">
                <a16:creationId xmlns:a16="http://schemas.microsoft.com/office/drawing/2014/main" id="{29467A1F-CE93-4630-8AE0-5CA3FCD39B48}"/>
              </a:ext>
            </a:extLst>
          </p:cNvPr>
          <p:cNvSpPr/>
          <p:nvPr/>
        </p:nvSpPr>
        <p:spPr>
          <a:xfrm>
            <a:off x="749808" y="10479433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SMS Notifications</a:t>
            </a:r>
            <a:endParaRPr lang="en-US" sz="1150" dirty="0"/>
          </a:p>
        </p:txBody>
      </p:sp>
      <p:sp>
        <p:nvSpPr>
          <p:cNvPr id="100" name="Shape 21">
            <a:extLst>
              <a:ext uri="{FF2B5EF4-FFF2-40B4-BE49-F238E27FC236}">
                <a16:creationId xmlns:a16="http://schemas.microsoft.com/office/drawing/2014/main" id="{024AB283-84C1-4A86-A0A9-B3AE5464034F}"/>
              </a:ext>
            </a:extLst>
          </p:cNvPr>
          <p:cNvSpPr/>
          <p:nvPr/>
        </p:nvSpPr>
        <p:spPr>
          <a:xfrm>
            <a:off x="2798064" y="9519313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5EAD4"/>
            </a:solidFill>
            <a:prstDash val="solid"/>
          </a:ln>
          <a:effectLst>
            <a:outerShdw blurRad="127000" dist="38100" dir="5400000" algn="bl" rotWithShape="0">
              <a:srgbClr val="1A472A">
                <a:alpha val="14000"/>
              </a:srgbClr>
            </a:outerShdw>
          </a:effectLst>
        </p:spPr>
      </p:sp>
      <p:pic>
        <p:nvPicPr>
          <p:cNvPr id="101" name="Image 6" descr="preencoded.png">
            <a:extLst>
              <a:ext uri="{FF2B5EF4-FFF2-40B4-BE49-F238E27FC236}">
                <a16:creationId xmlns:a16="http://schemas.microsoft.com/office/drawing/2014/main" id="{E6383F37-665D-4C79-9008-C2A6438D17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19378" y="9887999"/>
            <a:ext cx="323332" cy="323332"/>
          </a:xfrm>
          <a:prstGeom prst="rect">
            <a:avLst/>
          </a:prstGeom>
        </p:spPr>
      </p:pic>
      <p:sp>
        <p:nvSpPr>
          <p:cNvPr id="102" name="Text 23">
            <a:extLst>
              <a:ext uri="{FF2B5EF4-FFF2-40B4-BE49-F238E27FC236}">
                <a16:creationId xmlns:a16="http://schemas.microsoft.com/office/drawing/2014/main" id="{1F26B72C-4A36-4634-9543-AFB962613C79}"/>
              </a:ext>
            </a:extLst>
          </p:cNvPr>
          <p:cNvSpPr/>
          <p:nvPr/>
        </p:nvSpPr>
        <p:spPr>
          <a:xfrm>
            <a:off x="2889504" y="10479433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Dark Mode</a:t>
            </a:r>
            <a:endParaRPr lang="en-US" sz="1150" dirty="0"/>
          </a:p>
        </p:txBody>
      </p:sp>
      <p:sp>
        <p:nvSpPr>
          <p:cNvPr id="103" name="Shape 24">
            <a:extLst>
              <a:ext uri="{FF2B5EF4-FFF2-40B4-BE49-F238E27FC236}">
                <a16:creationId xmlns:a16="http://schemas.microsoft.com/office/drawing/2014/main" id="{45198140-8352-4C73-90FB-9A34580319B9}"/>
              </a:ext>
            </a:extLst>
          </p:cNvPr>
          <p:cNvSpPr/>
          <p:nvPr/>
        </p:nvSpPr>
        <p:spPr>
          <a:xfrm>
            <a:off x="4937760" y="9519313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5EAD4"/>
            </a:solidFill>
            <a:prstDash val="solid"/>
          </a:ln>
          <a:effectLst>
            <a:outerShdw blurRad="127000" dist="38100" dir="5400000" algn="bl" rotWithShape="0">
              <a:srgbClr val="1A472A">
                <a:alpha val="14000"/>
              </a:srgbClr>
            </a:outerShdw>
          </a:effectLst>
        </p:spPr>
      </p:sp>
      <p:pic>
        <p:nvPicPr>
          <p:cNvPr id="104" name="Image 7" descr="preencoded.png">
            <a:extLst>
              <a:ext uri="{FF2B5EF4-FFF2-40B4-BE49-F238E27FC236}">
                <a16:creationId xmlns:a16="http://schemas.microsoft.com/office/drawing/2014/main" id="{6E30E178-8F4C-41E8-946F-D251D66BF93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59074" y="9887999"/>
            <a:ext cx="323332" cy="323332"/>
          </a:xfrm>
          <a:prstGeom prst="rect">
            <a:avLst/>
          </a:prstGeom>
        </p:spPr>
      </p:pic>
      <p:sp>
        <p:nvSpPr>
          <p:cNvPr id="105" name="Text 26">
            <a:extLst>
              <a:ext uri="{FF2B5EF4-FFF2-40B4-BE49-F238E27FC236}">
                <a16:creationId xmlns:a16="http://schemas.microsoft.com/office/drawing/2014/main" id="{70D91D79-57CC-461E-97B9-E731A052AE81}"/>
              </a:ext>
            </a:extLst>
          </p:cNvPr>
          <p:cNvSpPr/>
          <p:nvPr/>
        </p:nvSpPr>
        <p:spPr>
          <a:xfrm>
            <a:off x="5029200" y="10479433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Analytics</a:t>
            </a:r>
            <a:endParaRPr lang="en-US" sz="1150" dirty="0"/>
          </a:p>
        </p:txBody>
      </p:sp>
      <p:sp>
        <p:nvSpPr>
          <p:cNvPr id="106" name="Shape 27">
            <a:extLst>
              <a:ext uri="{FF2B5EF4-FFF2-40B4-BE49-F238E27FC236}">
                <a16:creationId xmlns:a16="http://schemas.microsoft.com/office/drawing/2014/main" id="{8C383B16-48E4-42D7-AFD0-21EC832B5AF2}"/>
              </a:ext>
            </a:extLst>
          </p:cNvPr>
          <p:cNvSpPr/>
          <p:nvPr/>
        </p:nvSpPr>
        <p:spPr>
          <a:xfrm>
            <a:off x="7077456" y="9519313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5EAD4"/>
            </a:solidFill>
            <a:prstDash val="solid"/>
          </a:ln>
          <a:effectLst>
            <a:outerShdw blurRad="127000" dist="38100" dir="5400000" algn="bl" rotWithShape="0">
              <a:srgbClr val="1A472A">
                <a:alpha val="14000"/>
              </a:srgbClr>
            </a:outerShdw>
          </a:effectLst>
        </p:spPr>
      </p:sp>
      <p:pic>
        <p:nvPicPr>
          <p:cNvPr id="107" name="Image 8" descr="preencoded.png">
            <a:extLst>
              <a:ext uri="{FF2B5EF4-FFF2-40B4-BE49-F238E27FC236}">
                <a16:creationId xmlns:a16="http://schemas.microsoft.com/office/drawing/2014/main" id="{B0810FC0-8321-4D01-BFF0-8B4B4AFCAF1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98770" y="9887999"/>
            <a:ext cx="323332" cy="323332"/>
          </a:xfrm>
          <a:prstGeom prst="rect">
            <a:avLst/>
          </a:prstGeom>
        </p:spPr>
      </p:pic>
      <p:sp>
        <p:nvSpPr>
          <p:cNvPr id="108" name="Text 29">
            <a:extLst>
              <a:ext uri="{FF2B5EF4-FFF2-40B4-BE49-F238E27FC236}">
                <a16:creationId xmlns:a16="http://schemas.microsoft.com/office/drawing/2014/main" id="{C7308F21-1C18-4A0E-8400-EB9BB3F668EE}"/>
              </a:ext>
            </a:extLst>
          </p:cNvPr>
          <p:cNvSpPr/>
          <p:nvPr/>
        </p:nvSpPr>
        <p:spPr>
          <a:xfrm>
            <a:off x="7168896" y="10479433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Prediction</a:t>
            </a:r>
            <a:endParaRPr lang="en-US" sz="1150" dirty="0"/>
          </a:p>
        </p:txBody>
      </p:sp>
      <p:sp>
        <p:nvSpPr>
          <p:cNvPr id="109" name="Shape 30">
            <a:extLst>
              <a:ext uri="{FF2B5EF4-FFF2-40B4-BE49-F238E27FC236}">
                <a16:creationId xmlns:a16="http://schemas.microsoft.com/office/drawing/2014/main" id="{ED936851-E9D4-46A1-B150-2949FD6C02BE}"/>
              </a:ext>
            </a:extLst>
          </p:cNvPr>
          <p:cNvSpPr/>
          <p:nvPr/>
        </p:nvSpPr>
        <p:spPr>
          <a:xfrm>
            <a:off x="9217152" y="9519313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5EAD4"/>
            </a:solidFill>
            <a:prstDash val="solid"/>
          </a:ln>
          <a:effectLst>
            <a:outerShdw blurRad="127000" dist="38100" dir="5400000" algn="bl" rotWithShape="0">
              <a:srgbClr val="1A472A">
                <a:alpha val="14000"/>
              </a:srgbClr>
            </a:outerShdw>
          </a:effectLst>
        </p:spPr>
      </p:sp>
      <p:pic>
        <p:nvPicPr>
          <p:cNvPr id="110" name="Image 9" descr="preencoded.png">
            <a:extLst>
              <a:ext uri="{FF2B5EF4-FFF2-40B4-BE49-F238E27FC236}">
                <a16:creationId xmlns:a16="http://schemas.microsoft.com/office/drawing/2014/main" id="{63B87B96-6265-4916-9E6A-09BAC0AB8DA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38466" y="9887999"/>
            <a:ext cx="323332" cy="323332"/>
          </a:xfrm>
          <a:prstGeom prst="rect">
            <a:avLst/>
          </a:prstGeom>
        </p:spPr>
      </p:pic>
      <p:sp>
        <p:nvSpPr>
          <p:cNvPr id="111" name="Text 32">
            <a:extLst>
              <a:ext uri="{FF2B5EF4-FFF2-40B4-BE49-F238E27FC236}">
                <a16:creationId xmlns:a16="http://schemas.microsoft.com/office/drawing/2014/main" id="{CA155F77-059B-4005-9658-DBD0A03744FB}"/>
              </a:ext>
            </a:extLst>
          </p:cNvPr>
          <p:cNvSpPr/>
          <p:nvPr/>
        </p:nvSpPr>
        <p:spPr>
          <a:xfrm>
            <a:off x="9308592" y="10479433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Multi-Employee Roles</a:t>
            </a:r>
            <a:endParaRPr lang="en-US" sz="1150" dirty="0"/>
          </a:p>
        </p:txBody>
      </p:sp>
      <p:sp>
        <p:nvSpPr>
          <p:cNvPr id="112" name="Shape 33">
            <a:extLst>
              <a:ext uri="{FF2B5EF4-FFF2-40B4-BE49-F238E27FC236}">
                <a16:creationId xmlns:a16="http://schemas.microsoft.com/office/drawing/2014/main" id="{02D30912-0725-407B-B796-0991E6AF37AE}"/>
              </a:ext>
            </a:extLst>
          </p:cNvPr>
          <p:cNvSpPr/>
          <p:nvPr/>
        </p:nvSpPr>
        <p:spPr>
          <a:xfrm>
            <a:off x="4967140" y="7725415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5EAD4"/>
            </a:solidFill>
            <a:prstDash val="solid"/>
          </a:ln>
          <a:effectLst>
            <a:outerShdw blurRad="127000" dist="38100" dir="5400000" algn="bl" rotWithShape="0">
              <a:srgbClr val="1A472A">
                <a:alpha val="14000"/>
              </a:srgbClr>
            </a:outerShdw>
          </a:effectLst>
        </p:spPr>
      </p:sp>
      <p:pic>
        <p:nvPicPr>
          <p:cNvPr id="113" name="Image 10" descr="preencoded.png">
            <a:extLst>
              <a:ext uri="{FF2B5EF4-FFF2-40B4-BE49-F238E27FC236}">
                <a16:creationId xmlns:a16="http://schemas.microsoft.com/office/drawing/2014/main" id="{90BB0AE7-878B-4C62-B8EA-6FA1D0C8341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88454" y="8094101"/>
            <a:ext cx="323332" cy="323332"/>
          </a:xfrm>
          <a:prstGeom prst="rect">
            <a:avLst/>
          </a:prstGeom>
        </p:spPr>
      </p:pic>
      <p:sp>
        <p:nvSpPr>
          <p:cNvPr id="114" name="Text 35">
            <a:extLst>
              <a:ext uri="{FF2B5EF4-FFF2-40B4-BE49-F238E27FC236}">
                <a16:creationId xmlns:a16="http://schemas.microsoft.com/office/drawing/2014/main" id="{33E0C772-55FE-4002-8BD8-4974F6325462}"/>
              </a:ext>
            </a:extLst>
          </p:cNvPr>
          <p:cNvSpPr/>
          <p:nvPr/>
        </p:nvSpPr>
        <p:spPr>
          <a:xfrm>
            <a:off x="5058580" y="8685535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Multi-Language UI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255466585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10000"/>
                <a:lumOff val="90000"/>
              </a:schemeClr>
            </a:gs>
            <a:gs pos="100000">
              <a:schemeClr val="accent5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58368" y="656151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472A"/>
                </a:solidFill>
                <a:latin typeface="Montserrat" panose="00000500000000000000" pitchFamily="2" charset="0"/>
                <a:ea typeface="Segoe UI" pitchFamily="34" charset="-122"/>
                <a:cs typeface="Segoe UI" pitchFamily="34" charset="-120"/>
              </a:rPr>
              <a:t>Future Improvements</a:t>
            </a:r>
            <a:endParaRPr lang="en-US" sz="4000" dirty="0">
              <a:latin typeface="Montserrat" panose="00000500000000000000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58368" y="1353312"/>
            <a:ext cx="502920" cy="4114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702722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5EAD4"/>
            </a:solidFill>
            <a:prstDash val="solid"/>
          </a:ln>
          <a:effectLst>
            <a:outerShdw blurRad="127000" dist="38100" dir="5400000" algn="bl" rotWithShape="0">
              <a:srgbClr val="1A472A">
                <a:alpha val="14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682" y="2071408"/>
            <a:ext cx="323332" cy="3233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66284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 Support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798064" y="1702722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5EAD4"/>
            </a:solidFill>
            <a:prstDash val="solid"/>
          </a:ln>
          <a:effectLst>
            <a:outerShdw blurRad="127000" dist="38100" dir="5400000" algn="bl" rotWithShape="0">
              <a:srgbClr val="1A472A">
                <a:alpha val="14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378" y="2071408"/>
            <a:ext cx="323332" cy="3233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89504" y="266284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Android App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5029200" y="266284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077456" y="1702722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5EAD4"/>
            </a:solidFill>
            <a:prstDash val="solid"/>
          </a:ln>
          <a:effectLst>
            <a:outerShdw blurRad="127000" dist="38100" dir="5400000" algn="bl" rotWithShape="0">
              <a:srgbClr val="1A472A">
                <a:alpha val="14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8770" y="2071408"/>
            <a:ext cx="323332" cy="3233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68896" y="266284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Barcode / QR Scan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9217152" y="1702722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5EAD4"/>
            </a:solidFill>
            <a:prstDash val="solid"/>
          </a:ln>
          <a:effectLst>
            <a:outerShdw blurRad="127000" dist="38100" dir="5400000" algn="bl" rotWithShape="0">
              <a:srgbClr val="1A472A">
                <a:alpha val="14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8466" y="2071408"/>
            <a:ext cx="323332" cy="3233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308592" y="266284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Sync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658368" y="3504090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5EAD4"/>
            </a:solidFill>
            <a:prstDash val="solid"/>
          </a:ln>
          <a:effectLst>
            <a:outerShdw blurRad="127000" dist="38100" dir="5400000" algn="bl" rotWithShape="0">
              <a:srgbClr val="1A472A">
                <a:alpha val="14000"/>
              </a:srgbClr>
            </a:outerShdw>
          </a:effectLst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9682" y="3872776"/>
            <a:ext cx="323332" cy="3233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49808" y="446421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SMS Notifications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2798064" y="3504090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5EAD4"/>
            </a:solidFill>
            <a:prstDash val="solid"/>
          </a:ln>
          <a:effectLst>
            <a:outerShdw blurRad="127000" dist="38100" dir="5400000" algn="bl" rotWithShape="0">
              <a:srgbClr val="1A472A">
                <a:alpha val="14000"/>
              </a:srgbClr>
            </a:outerShdw>
          </a:effectLst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9378" y="3872776"/>
            <a:ext cx="323332" cy="32333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2889504" y="446421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Dark Mode</a:t>
            </a:r>
            <a:endParaRPr lang="en-US" sz="1150" dirty="0"/>
          </a:p>
        </p:txBody>
      </p:sp>
      <p:sp>
        <p:nvSpPr>
          <p:cNvPr id="33" name="Shape 24"/>
          <p:cNvSpPr/>
          <p:nvPr/>
        </p:nvSpPr>
        <p:spPr>
          <a:xfrm>
            <a:off x="4937760" y="3504090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5EAD4"/>
            </a:solidFill>
            <a:prstDash val="solid"/>
          </a:ln>
          <a:effectLst>
            <a:outerShdw blurRad="127000" dist="38100" dir="5400000" algn="bl" rotWithShape="0">
              <a:srgbClr val="1A472A">
                <a:alpha val="14000"/>
              </a:srgbClr>
            </a:outerShdw>
          </a:effectLst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59074" y="3872776"/>
            <a:ext cx="323332" cy="32333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029200" y="446421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Analytics</a:t>
            </a:r>
            <a:endParaRPr lang="en-US" sz="1150" dirty="0"/>
          </a:p>
        </p:txBody>
      </p:sp>
      <p:sp>
        <p:nvSpPr>
          <p:cNvPr id="37" name="Shape 27"/>
          <p:cNvSpPr/>
          <p:nvPr/>
        </p:nvSpPr>
        <p:spPr>
          <a:xfrm>
            <a:off x="7077456" y="3504090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5EAD4"/>
            </a:solidFill>
            <a:prstDash val="solid"/>
          </a:ln>
          <a:effectLst>
            <a:outerShdw blurRad="127000" dist="38100" dir="5400000" algn="bl" rotWithShape="0">
              <a:srgbClr val="1A472A">
                <a:alpha val="14000"/>
              </a:srgbClr>
            </a:outerShdw>
          </a:effectLst>
        </p:spPr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98770" y="3872776"/>
            <a:ext cx="323332" cy="323332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7168896" y="446421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Prediction</a:t>
            </a:r>
            <a:endParaRPr lang="en-US" sz="1150" dirty="0"/>
          </a:p>
        </p:txBody>
      </p:sp>
      <p:sp>
        <p:nvSpPr>
          <p:cNvPr id="41" name="Shape 30"/>
          <p:cNvSpPr/>
          <p:nvPr/>
        </p:nvSpPr>
        <p:spPr>
          <a:xfrm>
            <a:off x="9217152" y="3504090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5EAD4"/>
            </a:solidFill>
            <a:prstDash val="solid"/>
          </a:ln>
          <a:effectLst>
            <a:outerShdw blurRad="127000" dist="38100" dir="5400000" algn="bl" rotWithShape="0">
              <a:srgbClr val="1A472A">
                <a:alpha val="14000"/>
              </a:srgbClr>
            </a:outerShdw>
          </a:effectLst>
        </p:spPr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38466" y="3872776"/>
            <a:ext cx="323332" cy="323332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9308592" y="446421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Multi-Employee Roles</a:t>
            </a:r>
            <a:endParaRPr lang="en-US" sz="1150" dirty="0"/>
          </a:p>
        </p:txBody>
      </p:sp>
      <p:sp>
        <p:nvSpPr>
          <p:cNvPr id="45" name="Shape 33"/>
          <p:cNvSpPr/>
          <p:nvPr/>
        </p:nvSpPr>
        <p:spPr>
          <a:xfrm>
            <a:off x="4967140" y="1710192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5EAD4"/>
            </a:solidFill>
            <a:prstDash val="solid"/>
          </a:ln>
          <a:effectLst>
            <a:outerShdw blurRad="127000" dist="38100" dir="5400000" algn="bl" rotWithShape="0">
              <a:srgbClr val="1A472A">
                <a:alpha val="14000"/>
              </a:srgbClr>
            </a:outerShdw>
          </a:effectLst>
        </p:spPr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88454" y="2078878"/>
            <a:ext cx="323332" cy="323332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5058580" y="267031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Multi-Language UI</a:t>
            </a:r>
            <a:endParaRPr lang="en-US" sz="1150" dirty="0"/>
          </a:p>
        </p:txBody>
      </p:sp>
      <p:sp>
        <p:nvSpPr>
          <p:cNvPr id="49" name="Text 36"/>
          <p:cNvSpPr/>
          <p:nvPr/>
        </p:nvSpPr>
        <p:spPr>
          <a:xfrm>
            <a:off x="11313317" y="63694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000" dirty="0"/>
          </a:p>
        </p:txBody>
      </p:sp>
      <p:sp>
        <p:nvSpPr>
          <p:cNvPr id="51" name="Text 1">
            <a:extLst>
              <a:ext uri="{FF2B5EF4-FFF2-40B4-BE49-F238E27FC236}">
                <a16:creationId xmlns:a16="http://schemas.microsoft.com/office/drawing/2014/main" id="{929AF817-7EA1-4616-9444-3E2802A91390}"/>
              </a:ext>
            </a:extLst>
          </p:cNvPr>
          <p:cNvSpPr/>
          <p:nvPr/>
        </p:nvSpPr>
        <p:spPr>
          <a:xfrm>
            <a:off x="-3342470" y="81076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Montserrat" panose="00000500000000000000" pitchFamily="2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40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2" name="Shape 2">
            <a:extLst>
              <a:ext uri="{FF2B5EF4-FFF2-40B4-BE49-F238E27FC236}">
                <a16:creationId xmlns:a16="http://schemas.microsoft.com/office/drawing/2014/main" id="{BBD5ECDD-B00C-46BB-B2C1-789C327DAA0C}"/>
              </a:ext>
            </a:extLst>
          </p:cNvPr>
          <p:cNvSpPr/>
          <p:nvPr/>
        </p:nvSpPr>
        <p:spPr>
          <a:xfrm>
            <a:off x="-3324182" y="1505712"/>
            <a:ext cx="502920" cy="41148"/>
          </a:xfrm>
          <a:prstGeom prst="rect">
            <a:avLst/>
          </a:prstGeom>
          <a:solidFill>
            <a:srgbClr val="E9C46A"/>
          </a:solidFill>
          <a:ln/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75000"/>
                <a:lumOff val="25000"/>
              </a:schemeClr>
            </a:gs>
            <a:gs pos="100000">
              <a:schemeClr val="accent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Montserrat" panose="00000500000000000000" pitchFamily="2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40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58368" y="1353312"/>
            <a:ext cx="502920" cy="4114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69164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5EAD4"/>
            </a:solidFill>
            <a:prstDash val="solid"/>
          </a:ln>
          <a:effectLst>
            <a:outerShdw blurRad="127000" dist="38100" dir="5400000" algn="bl" rotWithShape="0">
              <a:srgbClr val="1A472A">
                <a:alpha val="14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8393" y="2187245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29260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Objectives</a:t>
            </a:r>
            <a:endParaRPr lang="en-US" sz="17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747" y="3750680"/>
            <a:ext cx="123627" cy="12362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52728" y="3465576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Digitize the paper halkhata workflow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747" y="4591929"/>
            <a:ext cx="123627" cy="12362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52728" y="4306824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 balances &amp; credit tracking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747" y="5433177"/>
            <a:ext cx="123627" cy="12362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52728" y="514807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 reporting without manual work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407408" y="169164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5EAD4"/>
            </a:solidFill>
            <a:prstDash val="solid"/>
          </a:ln>
          <a:effectLst>
            <a:outerShdw blurRad="127000" dist="38100" dir="5400000" algn="bl" rotWithShape="0">
              <a:srgbClr val="1A472A">
                <a:alpha val="14000"/>
              </a:srgbClr>
            </a:outerShdw>
          </a:effectLst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7433" y="2187245"/>
            <a:ext cx="380390" cy="38039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407408" y="29260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Achievements</a:t>
            </a:r>
            <a:endParaRPr lang="en-US" sz="17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787" y="3743755"/>
            <a:ext cx="123627" cy="123627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001768" y="3465576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sales, credit &amp; repayment engine</a:t>
            </a:r>
            <a:endParaRPr lang="en-US" sz="12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787" y="4571149"/>
            <a:ext cx="123627" cy="123627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001768" y="4306824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 inventory with FIFO logic</a:t>
            </a:r>
            <a:endParaRPr lang="en-US" sz="12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787" y="5419322"/>
            <a:ext cx="123627" cy="123627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001768" y="514807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Multi-user, multi-branch architecture</a:t>
            </a:r>
            <a:endParaRPr lang="en-US" sz="1200" dirty="0"/>
          </a:p>
        </p:txBody>
      </p:sp>
      <p:sp>
        <p:nvSpPr>
          <p:cNvPr id="31" name="Shape 21"/>
          <p:cNvSpPr/>
          <p:nvPr/>
        </p:nvSpPr>
        <p:spPr>
          <a:xfrm>
            <a:off x="8156448" y="169164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5EAD4"/>
            </a:solidFill>
            <a:prstDash val="solid"/>
          </a:ln>
          <a:effectLst>
            <a:outerShdw blurRad="127000" dist="38100" dir="5400000" algn="bl" rotWithShape="0">
              <a:srgbClr val="1A472A">
                <a:alpha val="14000"/>
              </a:srgbClr>
            </a:outerShdw>
          </a:effectLst>
        </p:spPr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6473" y="2187245"/>
            <a:ext cx="380390" cy="38039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8156448" y="29260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Future Scope</a:t>
            </a:r>
            <a:endParaRPr lang="en-US" sz="170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7827" y="3760378"/>
            <a:ext cx="123627" cy="123627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8750808" y="3465576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Offline-first mobile experience</a:t>
            </a:r>
            <a:endParaRPr lang="en-US" sz="1200" dirty="0"/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7827" y="4585003"/>
            <a:ext cx="123627" cy="123627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8750808" y="4306824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Android &amp; iOS apps</a:t>
            </a:r>
            <a:endParaRPr lang="en-US" sz="1200" dirty="0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7827" y="5426252"/>
            <a:ext cx="123627" cy="123627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8750808" y="514807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AI-driven credit risk prediction</a:t>
            </a:r>
            <a:endParaRPr lang="en-US" sz="1200" dirty="0"/>
          </a:p>
        </p:txBody>
      </p:sp>
      <p:sp>
        <p:nvSpPr>
          <p:cNvPr id="44" name="Text 3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2749287-63FD-4862-BACE-9C6915CA838A}"/>
              </a:ext>
            </a:extLst>
          </p:cNvPr>
          <p:cNvGrpSpPr/>
          <p:nvPr/>
        </p:nvGrpSpPr>
        <p:grpSpPr>
          <a:xfrm rot="17988862">
            <a:off x="4668817" y="-6121887"/>
            <a:ext cx="8919298" cy="4865072"/>
            <a:chOff x="1712540" y="577828"/>
            <a:chExt cx="8919298" cy="4865072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08592FEF-AA58-454E-A563-7019178A93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6917" y="656380"/>
              <a:ext cx="8710544" cy="4751206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3709A2BA-6238-4D7C-B078-4601980BE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2540" y="577828"/>
              <a:ext cx="8919298" cy="4865072"/>
            </a:xfrm>
            <a:prstGeom prst="rect">
              <a:avLst/>
            </a:prstGeom>
          </p:spPr>
        </p:pic>
      </p:grpSp>
      <p:sp>
        <p:nvSpPr>
          <p:cNvPr id="46" name="Shape 0">
            <a:extLst>
              <a:ext uri="{FF2B5EF4-FFF2-40B4-BE49-F238E27FC236}">
                <a16:creationId xmlns:a16="http://schemas.microsoft.com/office/drawing/2014/main" id="{EFD2FE2F-57CF-483D-9514-93436F86EEE4}"/>
              </a:ext>
            </a:extLst>
          </p:cNvPr>
          <p:cNvSpPr/>
          <p:nvPr/>
        </p:nvSpPr>
        <p:spPr>
          <a:xfrm>
            <a:off x="12037110" y="-3967324"/>
            <a:ext cx="5486400" cy="5486400"/>
          </a:xfrm>
          <a:prstGeom prst="ellipse">
            <a:avLst/>
          </a:prstGeom>
          <a:solidFill>
            <a:schemeClr val="bg2">
              <a:lumMod val="90000"/>
              <a:alpha val="44706"/>
            </a:scheme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7" name="Shape 0">
            <a:extLst>
              <a:ext uri="{FF2B5EF4-FFF2-40B4-BE49-F238E27FC236}">
                <a16:creationId xmlns:a16="http://schemas.microsoft.com/office/drawing/2014/main" id="{090E3223-02C1-4C46-BC14-AE24F32C36FF}"/>
              </a:ext>
            </a:extLst>
          </p:cNvPr>
          <p:cNvSpPr/>
          <p:nvPr/>
        </p:nvSpPr>
        <p:spPr>
          <a:xfrm>
            <a:off x="-5486400" y="5611668"/>
            <a:ext cx="5486400" cy="5486400"/>
          </a:xfrm>
          <a:prstGeom prst="ellipse">
            <a:avLst/>
          </a:prstGeom>
          <a:solidFill>
            <a:srgbClr val="FDF6E3">
              <a:alpha val="45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75000"/>
                <a:lumOff val="25000"/>
              </a:schemeClr>
            </a:gs>
            <a:gs pos="100000">
              <a:schemeClr val="accent2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26D430-9636-476F-6D05-EFD7445CA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825F2F3-2537-4EC2-A5BD-2E1F91FF08E8}"/>
              </a:ext>
            </a:extLst>
          </p:cNvPr>
          <p:cNvGrpSpPr/>
          <p:nvPr/>
        </p:nvGrpSpPr>
        <p:grpSpPr>
          <a:xfrm>
            <a:off x="838200" y="403225"/>
            <a:ext cx="10358120" cy="6051550"/>
            <a:chOff x="1712540" y="577828"/>
            <a:chExt cx="8919298" cy="4865072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7CFD7BAF-A8FD-241D-0234-FDFF528D8C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6917" y="656380"/>
              <a:ext cx="8710544" cy="4751206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9B930A4-2B53-16B4-9A26-23BF1FE3BE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2540" y="577828"/>
              <a:ext cx="8919298" cy="4865072"/>
            </a:xfrm>
            <a:prstGeom prst="rect">
              <a:avLst/>
            </a:prstGeom>
          </p:spPr>
        </p:pic>
      </p:grpSp>
      <p:sp>
        <p:nvSpPr>
          <p:cNvPr id="7" name="Shape 0">
            <a:extLst>
              <a:ext uri="{FF2B5EF4-FFF2-40B4-BE49-F238E27FC236}">
                <a16:creationId xmlns:a16="http://schemas.microsoft.com/office/drawing/2014/main" id="{F95DE29D-4B7C-C873-B244-67D041942969}"/>
              </a:ext>
            </a:extLst>
          </p:cNvPr>
          <p:cNvSpPr/>
          <p:nvPr/>
        </p:nvSpPr>
        <p:spPr>
          <a:xfrm>
            <a:off x="-3893997" y="4616778"/>
            <a:ext cx="5486400" cy="5486400"/>
          </a:xfrm>
          <a:prstGeom prst="ellipse">
            <a:avLst/>
          </a:prstGeom>
          <a:solidFill>
            <a:schemeClr val="bg2">
              <a:lumMod val="90000"/>
              <a:alpha val="44706"/>
            </a:scheme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C98E29EB-4618-E4D0-26D8-66008BD6B936}"/>
              </a:ext>
            </a:extLst>
          </p:cNvPr>
          <p:cNvSpPr/>
          <p:nvPr/>
        </p:nvSpPr>
        <p:spPr>
          <a:xfrm>
            <a:off x="10599597" y="-3216800"/>
            <a:ext cx="5486400" cy="5486400"/>
          </a:xfrm>
          <a:prstGeom prst="ellipse">
            <a:avLst/>
          </a:prstGeom>
          <a:solidFill>
            <a:srgbClr val="FDF6E3">
              <a:alpha val="45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34C00A8-75AA-E81C-7C30-33167CC1F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0D61D-D7D6-4098-A7BD-47CDD72B6EB8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201DD3-62CF-4A08-BE2D-4F02239EAE04}"/>
              </a:ext>
            </a:extLst>
          </p:cNvPr>
          <p:cNvSpPr txBox="1"/>
          <p:nvPr/>
        </p:nvSpPr>
        <p:spPr>
          <a:xfrm rot="21358524">
            <a:off x="3766820" y="2648914"/>
            <a:ext cx="45008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Comic Sans MS" panose="030F0702030302020204" pitchFamily="66" charset="0"/>
                <a:cs typeface="Mongolian Baiti" panose="03000500000000000000" pitchFamily="66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1301107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</TotalTime>
  <Words>785</Words>
  <Application>Microsoft Office PowerPoint</Application>
  <PresentationFormat>Widescreen</PresentationFormat>
  <Paragraphs>217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Aptos</vt:lpstr>
      <vt:lpstr>Aptos Display</vt:lpstr>
      <vt:lpstr>Arial</vt:lpstr>
      <vt:lpstr>Comic Sans MS</vt:lpstr>
      <vt:lpstr>Montserrat</vt:lpstr>
      <vt:lpstr>Nirmala UI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Atik Jawad</dc:creator>
  <cp:lastModifiedBy>Atik Jawad</cp:lastModifiedBy>
  <cp:revision>127</cp:revision>
  <dcterms:created xsi:type="dcterms:W3CDTF">2026-07-04T04:12:00Z</dcterms:created>
  <dcterms:modified xsi:type="dcterms:W3CDTF">2026-07-05T19:50:36Z</dcterms:modified>
</cp:coreProperties>
</file>